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28"/>
  </p:notesMasterIdLst>
  <p:sldIdLst>
    <p:sldId id="256" r:id="rId2"/>
    <p:sldId id="257" r:id="rId3"/>
    <p:sldId id="258" r:id="rId4"/>
    <p:sldId id="259" r:id="rId5"/>
    <p:sldId id="261" r:id="rId6"/>
    <p:sldId id="262" r:id="rId7"/>
    <p:sldId id="264" r:id="rId8"/>
    <p:sldId id="265" r:id="rId9"/>
    <p:sldId id="266" r:id="rId10"/>
    <p:sldId id="267" r:id="rId11"/>
    <p:sldId id="268" r:id="rId12"/>
    <p:sldId id="269" r:id="rId13"/>
    <p:sldId id="271" r:id="rId14"/>
    <p:sldId id="270" r:id="rId15"/>
    <p:sldId id="272" r:id="rId16"/>
    <p:sldId id="273" r:id="rId17"/>
    <p:sldId id="274" r:id="rId18"/>
    <p:sldId id="275" r:id="rId19"/>
    <p:sldId id="277" r:id="rId20"/>
    <p:sldId id="278" r:id="rId21"/>
    <p:sldId id="279" r:id="rId22"/>
    <p:sldId id="280" r:id="rId23"/>
    <p:sldId id="281" r:id="rId24"/>
    <p:sldId id="282" r:id="rId25"/>
    <p:sldId id="283" r:id="rId26"/>
    <p:sldId id="28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94660"/>
  </p:normalViewPr>
  <p:slideViewPr>
    <p:cSldViewPr snapToGrid="0">
      <p:cViewPr>
        <p:scale>
          <a:sx n="73" d="100"/>
          <a:sy n="73" d="100"/>
        </p:scale>
        <p:origin x="1286" y="149"/>
      </p:cViewPr>
      <p:guideLst>
        <p:guide orient="horz" pos="2160"/>
        <p:guide pos="3840"/>
      </p:guideLst>
    </p:cSldViewPr>
  </p:slideViewPr>
  <p:notesTextViewPr>
    <p:cViewPr>
      <p:scale>
        <a:sx n="1" d="1"/>
        <a:sy n="1" d="1"/>
      </p:scale>
      <p:origin x="0" y="0"/>
    </p:cViewPr>
  </p:notesTextViewPr>
  <p:sorterViewPr>
    <p:cViewPr>
      <p:scale>
        <a:sx n="100" d="100"/>
        <a:sy n="100" d="100"/>
      </p:scale>
      <p:origin x="0" y="-574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SS ENTREPRISES" userId="40fc7363ff47fe79" providerId="LiveId" clId="{07343F4F-06C3-4E6F-B031-76897FC0F131}"/>
    <pc:docChg chg="custSel modSld">
      <pc:chgData name="BASS ENTREPRISES" userId="40fc7363ff47fe79" providerId="LiveId" clId="{07343F4F-06C3-4E6F-B031-76897FC0F131}" dt="2026-02-28T10:35:38.793" v="102" actId="20577"/>
      <pc:docMkLst>
        <pc:docMk/>
      </pc:docMkLst>
      <pc:sldChg chg="addSp delSp modSp mod">
        <pc:chgData name="BASS ENTREPRISES" userId="40fc7363ff47fe79" providerId="LiveId" clId="{07343F4F-06C3-4E6F-B031-76897FC0F131}" dt="2026-02-28T08:13:12.330" v="49" actId="1076"/>
        <pc:sldMkLst>
          <pc:docMk/>
          <pc:sldMk cId="1081433751" sldId="256"/>
        </pc:sldMkLst>
        <pc:spChg chg="mod">
          <ac:chgData name="BASS ENTREPRISES" userId="40fc7363ff47fe79" providerId="LiveId" clId="{07343F4F-06C3-4E6F-B031-76897FC0F131}" dt="2026-02-28T08:13:12.330" v="49" actId="1076"/>
          <ac:spMkLst>
            <pc:docMk/>
            <pc:sldMk cId="1081433751" sldId="256"/>
            <ac:spMk id="2" creationId="{00000000-0000-0000-0000-000000000000}"/>
          </ac:spMkLst>
        </pc:spChg>
        <pc:spChg chg="del mod">
          <ac:chgData name="BASS ENTREPRISES" userId="40fc7363ff47fe79" providerId="LiveId" clId="{07343F4F-06C3-4E6F-B031-76897FC0F131}" dt="2026-02-28T08:13:03.696" v="47" actId="478"/>
          <ac:spMkLst>
            <pc:docMk/>
            <pc:sldMk cId="1081433751" sldId="256"/>
            <ac:spMk id="3" creationId="{00000000-0000-0000-0000-000000000000}"/>
          </ac:spMkLst>
        </pc:spChg>
        <pc:spChg chg="add del mod">
          <ac:chgData name="BASS ENTREPRISES" userId="40fc7363ff47fe79" providerId="LiveId" clId="{07343F4F-06C3-4E6F-B031-76897FC0F131}" dt="2026-02-28T08:13:06.509" v="48" actId="478"/>
          <ac:spMkLst>
            <pc:docMk/>
            <pc:sldMk cId="1081433751" sldId="256"/>
            <ac:spMk id="5" creationId="{D66C0651-96A7-C375-F12B-FEFB6B1AE2CA}"/>
          </ac:spMkLst>
        </pc:spChg>
      </pc:sldChg>
      <pc:sldChg chg="modSp mod">
        <pc:chgData name="BASS ENTREPRISES" userId="40fc7363ff47fe79" providerId="LiveId" clId="{07343F4F-06C3-4E6F-B031-76897FC0F131}" dt="2026-02-28T08:56:17.250" v="57" actId="14100"/>
        <pc:sldMkLst>
          <pc:docMk/>
          <pc:sldMk cId="1223904665" sldId="264"/>
        </pc:sldMkLst>
        <pc:spChg chg="mod">
          <ac:chgData name="BASS ENTREPRISES" userId="40fc7363ff47fe79" providerId="LiveId" clId="{07343F4F-06C3-4E6F-B031-76897FC0F131}" dt="2026-02-28T08:56:17.250" v="57" actId="14100"/>
          <ac:spMkLst>
            <pc:docMk/>
            <pc:sldMk cId="1223904665" sldId="264"/>
            <ac:spMk id="3" creationId="{00000000-0000-0000-0000-000000000000}"/>
          </ac:spMkLst>
        </pc:spChg>
      </pc:sldChg>
      <pc:sldChg chg="modSp mod">
        <pc:chgData name="BASS ENTREPRISES" userId="40fc7363ff47fe79" providerId="LiveId" clId="{07343F4F-06C3-4E6F-B031-76897FC0F131}" dt="2026-02-28T09:05:28.555" v="59" actId="27636"/>
        <pc:sldMkLst>
          <pc:docMk/>
          <pc:sldMk cId="1228566884" sldId="268"/>
        </pc:sldMkLst>
        <pc:spChg chg="mod">
          <ac:chgData name="BASS ENTREPRISES" userId="40fc7363ff47fe79" providerId="LiveId" clId="{07343F4F-06C3-4E6F-B031-76897FC0F131}" dt="2026-02-28T09:05:28.555" v="59" actId="27636"/>
          <ac:spMkLst>
            <pc:docMk/>
            <pc:sldMk cId="1228566884" sldId="268"/>
            <ac:spMk id="3" creationId="{00000000-0000-0000-0000-000000000000}"/>
          </ac:spMkLst>
        </pc:spChg>
      </pc:sldChg>
      <pc:sldChg chg="modSp mod">
        <pc:chgData name="BASS ENTREPRISES" userId="40fc7363ff47fe79" providerId="LiveId" clId="{07343F4F-06C3-4E6F-B031-76897FC0F131}" dt="2026-02-28T09:07:46.977" v="68" actId="113"/>
        <pc:sldMkLst>
          <pc:docMk/>
          <pc:sldMk cId="3392526371" sldId="269"/>
        </pc:sldMkLst>
        <pc:spChg chg="mod">
          <ac:chgData name="BASS ENTREPRISES" userId="40fc7363ff47fe79" providerId="LiveId" clId="{07343F4F-06C3-4E6F-B031-76897FC0F131}" dt="2026-02-28T09:07:46.977" v="68" actId="113"/>
          <ac:spMkLst>
            <pc:docMk/>
            <pc:sldMk cId="3392526371" sldId="269"/>
            <ac:spMk id="3" creationId="{00000000-0000-0000-0000-000000000000}"/>
          </ac:spMkLst>
        </pc:spChg>
      </pc:sldChg>
      <pc:sldChg chg="modSp mod">
        <pc:chgData name="BASS ENTREPRISES" userId="40fc7363ff47fe79" providerId="LiveId" clId="{07343F4F-06C3-4E6F-B031-76897FC0F131}" dt="2026-02-28T09:19:06.927" v="86" actId="403"/>
        <pc:sldMkLst>
          <pc:docMk/>
          <pc:sldMk cId="1914960702" sldId="270"/>
        </pc:sldMkLst>
        <pc:spChg chg="mod">
          <ac:chgData name="BASS ENTREPRISES" userId="40fc7363ff47fe79" providerId="LiveId" clId="{07343F4F-06C3-4E6F-B031-76897FC0F131}" dt="2026-02-28T09:19:06.927" v="86" actId="403"/>
          <ac:spMkLst>
            <pc:docMk/>
            <pc:sldMk cId="1914960702" sldId="270"/>
            <ac:spMk id="3" creationId="{00000000-0000-0000-0000-000000000000}"/>
          </ac:spMkLst>
        </pc:spChg>
      </pc:sldChg>
      <pc:sldChg chg="modSp mod">
        <pc:chgData name="BASS ENTREPRISES" userId="40fc7363ff47fe79" providerId="LiveId" clId="{07343F4F-06C3-4E6F-B031-76897FC0F131}" dt="2026-02-28T09:08:27.184" v="82" actId="20577"/>
        <pc:sldMkLst>
          <pc:docMk/>
          <pc:sldMk cId="2814043890" sldId="271"/>
        </pc:sldMkLst>
        <pc:spChg chg="mod">
          <ac:chgData name="BASS ENTREPRISES" userId="40fc7363ff47fe79" providerId="LiveId" clId="{07343F4F-06C3-4E6F-B031-76897FC0F131}" dt="2026-02-28T09:08:27.184" v="82" actId="20577"/>
          <ac:spMkLst>
            <pc:docMk/>
            <pc:sldMk cId="2814043890" sldId="271"/>
            <ac:spMk id="3" creationId="{00000000-0000-0000-0000-000000000000}"/>
          </ac:spMkLst>
        </pc:spChg>
      </pc:sldChg>
      <pc:sldChg chg="modSp mod">
        <pc:chgData name="BASS ENTREPRISES" userId="40fc7363ff47fe79" providerId="LiveId" clId="{07343F4F-06C3-4E6F-B031-76897FC0F131}" dt="2026-02-28T09:28:47.123" v="94" actId="113"/>
        <pc:sldMkLst>
          <pc:docMk/>
          <pc:sldMk cId="808759735" sldId="272"/>
        </pc:sldMkLst>
        <pc:spChg chg="mod">
          <ac:chgData name="BASS ENTREPRISES" userId="40fc7363ff47fe79" providerId="LiveId" clId="{07343F4F-06C3-4E6F-B031-76897FC0F131}" dt="2026-02-28T09:28:47.123" v="94" actId="113"/>
          <ac:spMkLst>
            <pc:docMk/>
            <pc:sldMk cId="808759735" sldId="272"/>
            <ac:spMk id="3" creationId="{00000000-0000-0000-0000-000000000000}"/>
          </ac:spMkLst>
        </pc:spChg>
      </pc:sldChg>
      <pc:sldChg chg="modSp mod">
        <pc:chgData name="BASS ENTREPRISES" userId="40fc7363ff47fe79" providerId="LiveId" clId="{07343F4F-06C3-4E6F-B031-76897FC0F131}" dt="2026-02-28T09:31:22.094" v="99" actId="403"/>
        <pc:sldMkLst>
          <pc:docMk/>
          <pc:sldMk cId="4036967400" sldId="274"/>
        </pc:sldMkLst>
        <pc:spChg chg="mod">
          <ac:chgData name="BASS ENTREPRISES" userId="40fc7363ff47fe79" providerId="LiveId" clId="{07343F4F-06C3-4E6F-B031-76897FC0F131}" dt="2026-02-28T09:31:22.094" v="99" actId="403"/>
          <ac:spMkLst>
            <pc:docMk/>
            <pc:sldMk cId="4036967400" sldId="274"/>
            <ac:spMk id="3" creationId="{00000000-0000-0000-0000-000000000000}"/>
          </ac:spMkLst>
        </pc:spChg>
      </pc:sldChg>
      <pc:sldChg chg="modSp mod">
        <pc:chgData name="BASS ENTREPRISES" userId="40fc7363ff47fe79" providerId="LiveId" clId="{07343F4F-06C3-4E6F-B031-76897FC0F131}" dt="2026-02-28T09:42:06.751" v="101" actId="20577"/>
        <pc:sldMkLst>
          <pc:docMk/>
          <pc:sldMk cId="2067119044" sldId="275"/>
        </pc:sldMkLst>
        <pc:spChg chg="mod">
          <ac:chgData name="BASS ENTREPRISES" userId="40fc7363ff47fe79" providerId="LiveId" clId="{07343F4F-06C3-4E6F-B031-76897FC0F131}" dt="2026-02-28T09:42:06.751" v="101" actId="20577"/>
          <ac:spMkLst>
            <pc:docMk/>
            <pc:sldMk cId="2067119044" sldId="275"/>
            <ac:spMk id="2" creationId="{00000000-0000-0000-0000-000000000000}"/>
          </ac:spMkLst>
        </pc:spChg>
      </pc:sldChg>
      <pc:sldChg chg="modSp mod">
        <pc:chgData name="BASS ENTREPRISES" userId="40fc7363ff47fe79" providerId="LiveId" clId="{07343F4F-06C3-4E6F-B031-76897FC0F131}" dt="2026-02-28T10:35:38.793" v="102" actId="20577"/>
        <pc:sldMkLst>
          <pc:docMk/>
          <pc:sldMk cId="582484956" sldId="280"/>
        </pc:sldMkLst>
        <pc:spChg chg="mod">
          <ac:chgData name="BASS ENTREPRISES" userId="40fc7363ff47fe79" providerId="LiveId" clId="{07343F4F-06C3-4E6F-B031-76897FC0F131}" dt="2026-02-28T10:35:38.793" v="102" actId="20577"/>
          <ac:spMkLst>
            <pc:docMk/>
            <pc:sldMk cId="582484956" sldId="280"/>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96E6C6-9DC3-4815-8762-69981DBFDA39}"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US"/>
        </a:p>
      </dgm:t>
    </dgm:pt>
    <dgm:pt modelId="{B594B3B6-CE36-4C2F-B99D-8F2068385FC4}">
      <dgm:prSet phldrT="[Text]" custT="1"/>
      <dgm:spPr/>
      <dgm:t>
        <a:bodyPr/>
        <a:lstStyle/>
        <a:p>
          <a:r>
            <a:rPr lang="en-US" sz="1800" dirty="0"/>
            <a:t>Document pour discussions 2012</a:t>
          </a:r>
        </a:p>
      </dgm:t>
    </dgm:pt>
    <dgm:pt modelId="{1F6BBCF3-294D-42CD-AEB4-1E7C05D64F17}" type="parTrans" cxnId="{B82D05E1-5E01-419B-8825-8CE36DB53FFA}">
      <dgm:prSet/>
      <dgm:spPr/>
      <dgm:t>
        <a:bodyPr/>
        <a:lstStyle/>
        <a:p>
          <a:endParaRPr lang="en-US"/>
        </a:p>
      </dgm:t>
    </dgm:pt>
    <dgm:pt modelId="{93D1DF94-79F9-4388-82CC-FB9F68FBA2BB}" type="sibTrans" cxnId="{B82D05E1-5E01-419B-8825-8CE36DB53FFA}">
      <dgm:prSet/>
      <dgm:spPr/>
      <dgm:t>
        <a:bodyPr/>
        <a:lstStyle/>
        <a:p>
          <a:endParaRPr lang="en-US"/>
        </a:p>
      </dgm:t>
    </dgm:pt>
    <dgm:pt modelId="{0D4E6380-19E0-4C80-866B-1C9A8A5DF03E}">
      <dgm:prSet phldrT="[Text]"/>
      <dgm:spPr/>
      <dgm:t>
        <a:bodyPr/>
        <a:lstStyle/>
        <a:p>
          <a:r>
            <a:rPr lang="en-US" dirty="0" err="1">
              <a:solidFill>
                <a:srgbClr val="000000"/>
              </a:solidFill>
            </a:rPr>
            <a:t>S’assurer</a:t>
          </a:r>
          <a:r>
            <a:rPr lang="en-US" dirty="0">
              <a:solidFill>
                <a:srgbClr val="000000"/>
              </a:solidFill>
            </a:rPr>
            <a:t> que </a:t>
          </a:r>
          <a:r>
            <a:rPr lang="en-US" dirty="0" err="1">
              <a:solidFill>
                <a:srgbClr val="000000"/>
              </a:solidFill>
            </a:rPr>
            <a:t>l’approche</a:t>
          </a:r>
          <a:r>
            <a:rPr lang="en-US" dirty="0">
              <a:solidFill>
                <a:srgbClr val="000000"/>
              </a:solidFill>
            </a:rPr>
            <a:t> de la </a:t>
          </a:r>
          <a:r>
            <a:rPr lang="en-US" dirty="0" err="1">
              <a:solidFill>
                <a:srgbClr val="000000"/>
              </a:solidFill>
            </a:rPr>
            <a:t>Banque</a:t>
          </a:r>
          <a:r>
            <a:rPr lang="en-US" dirty="0">
              <a:solidFill>
                <a:srgbClr val="000000"/>
              </a:solidFill>
            </a:rPr>
            <a:t> </a:t>
          </a:r>
          <a:r>
            <a:rPr lang="en-US" dirty="0" err="1">
              <a:solidFill>
                <a:srgbClr val="000000"/>
              </a:solidFill>
            </a:rPr>
            <a:t>est</a:t>
          </a:r>
          <a:r>
            <a:rPr lang="en-US" dirty="0">
              <a:solidFill>
                <a:srgbClr val="000000"/>
              </a:solidFill>
            </a:rPr>
            <a:t> </a:t>
          </a:r>
          <a:r>
            <a:rPr lang="en-US" dirty="0" err="1">
              <a:solidFill>
                <a:srgbClr val="000000"/>
              </a:solidFill>
            </a:rPr>
            <a:t>conforme</a:t>
          </a:r>
          <a:r>
            <a:rPr lang="en-US" dirty="0">
              <a:solidFill>
                <a:srgbClr val="000000"/>
              </a:solidFill>
            </a:rPr>
            <a:t> aux </a:t>
          </a:r>
          <a:r>
            <a:rPr lang="en-US" dirty="0" err="1">
              <a:solidFill>
                <a:srgbClr val="000000"/>
              </a:solidFill>
            </a:rPr>
            <a:t>attentes</a:t>
          </a:r>
          <a:endParaRPr lang="en-US" dirty="0">
            <a:solidFill>
              <a:srgbClr val="000000"/>
            </a:solidFill>
          </a:endParaRPr>
        </a:p>
      </dgm:t>
    </dgm:pt>
    <dgm:pt modelId="{BFDFDF13-0CE3-4CD2-8423-BE5223874C98}" type="parTrans" cxnId="{3C34DA45-4278-4345-B435-E804955C8B29}">
      <dgm:prSet/>
      <dgm:spPr/>
      <dgm:t>
        <a:bodyPr/>
        <a:lstStyle/>
        <a:p>
          <a:endParaRPr lang="en-US"/>
        </a:p>
      </dgm:t>
    </dgm:pt>
    <dgm:pt modelId="{89ACD992-8041-42FC-A5BC-F688DDAFB344}" type="sibTrans" cxnId="{3C34DA45-4278-4345-B435-E804955C8B29}">
      <dgm:prSet/>
      <dgm:spPr/>
      <dgm:t>
        <a:bodyPr/>
        <a:lstStyle/>
        <a:p>
          <a:endParaRPr lang="en-US"/>
        </a:p>
      </dgm:t>
    </dgm:pt>
    <dgm:pt modelId="{3BBADAAF-E497-44B1-B575-65610890A566}">
      <dgm:prSet phldrT="[Text]"/>
      <dgm:spPr/>
      <dgm:t>
        <a:bodyPr/>
        <a:lstStyle/>
        <a:p>
          <a:r>
            <a:rPr lang="en-US" dirty="0">
              <a:solidFill>
                <a:srgbClr val="000000"/>
              </a:solidFill>
            </a:rPr>
            <a:t>1ère Consultations </a:t>
          </a:r>
          <a:r>
            <a:rPr lang="en-US" dirty="0" err="1">
              <a:solidFill>
                <a:srgbClr val="000000"/>
              </a:solidFill>
            </a:rPr>
            <a:t>Globales</a:t>
          </a:r>
          <a:r>
            <a:rPr lang="en-US" dirty="0">
              <a:solidFill>
                <a:srgbClr val="000000"/>
              </a:solidFill>
            </a:rPr>
            <a:t> </a:t>
          </a:r>
        </a:p>
      </dgm:t>
    </dgm:pt>
    <dgm:pt modelId="{78656B41-B058-49FC-9F81-9ECD62C53483}" type="parTrans" cxnId="{F1A54C9D-4BA5-45F2-B78D-9DD107C02A0F}">
      <dgm:prSet/>
      <dgm:spPr/>
      <dgm:t>
        <a:bodyPr/>
        <a:lstStyle/>
        <a:p>
          <a:endParaRPr lang="en-US"/>
        </a:p>
      </dgm:t>
    </dgm:pt>
    <dgm:pt modelId="{5F33BA8A-C456-4726-BD90-C3544B195E02}" type="sibTrans" cxnId="{F1A54C9D-4BA5-45F2-B78D-9DD107C02A0F}">
      <dgm:prSet/>
      <dgm:spPr/>
      <dgm:t>
        <a:bodyPr/>
        <a:lstStyle/>
        <a:p>
          <a:endParaRPr lang="en-US"/>
        </a:p>
      </dgm:t>
    </dgm:pt>
    <dgm:pt modelId="{222870DB-DFBF-46F0-8BDD-4B02310BAFE0}">
      <dgm:prSet phldrT="[Text]" custT="1"/>
      <dgm:spPr/>
      <dgm:t>
        <a:bodyPr/>
        <a:lstStyle/>
        <a:p>
          <a:r>
            <a:rPr lang="en-US" sz="1800" dirty="0"/>
            <a:t>Proposition Nouveau Cadre 2013</a:t>
          </a:r>
        </a:p>
      </dgm:t>
    </dgm:pt>
    <dgm:pt modelId="{9243EABA-4638-4752-AA1B-CEAD33A89DDD}" type="parTrans" cxnId="{97412756-F9D5-47F3-932F-BFB58C2EE783}">
      <dgm:prSet/>
      <dgm:spPr/>
      <dgm:t>
        <a:bodyPr/>
        <a:lstStyle/>
        <a:p>
          <a:endParaRPr lang="en-US"/>
        </a:p>
      </dgm:t>
    </dgm:pt>
    <dgm:pt modelId="{EE310B49-F799-4CDD-B50B-58AFD54C5329}" type="sibTrans" cxnId="{97412756-F9D5-47F3-932F-BFB58C2EE783}">
      <dgm:prSet/>
      <dgm:spPr/>
      <dgm:t>
        <a:bodyPr/>
        <a:lstStyle/>
        <a:p>
          <a:endParaRPr lang="en-US"/>
        </a:p>
      </dgm:t>
    </dgm:pt>
    <dgm:pt modelId="{2A435389-C12F-4FE2-8381-404A4C00165E}">
      <dgm:prSet phldrT="[Text]"/>
      <dgm:spPr/>
      <dgm:t>
        <a:bodyPr/>
        <a:lstStyle/>
        <a:p>
          <a:r>
            <a:rPr lang="en-US" dirty="0" err="1">
              <a:solidFill>
                <a:srgbClr val="000000"/>
              </a:solidFill>
            </a:rPr>
            <a:t>Prise</a:t>
          </a:r>
          <a:r>
            <a:rPr lang="en-US" dirty="0">
              <a:solidFill>
                <a:srgbClr val="000000"/>
              </a:solidFill>
            </a:rPr>
            <a:t> </a:t>
          </a:r>
          <a:r>
            <a:rPr lang="en-US" dirty="0" err="1">
              <a:solidFill>
                <a:srgbClr val="000000"/>
              </a:solidFill>
            </a:rPr>
            <a:t>en</a:t>
          </a:r>
          <a:r>
            <a:rPr lang="en-US" dirty="0">
              <a:solidFill>
                <a:srgbClr val="000000"/>
              </a:solidFill>
            </a:rPr>
            <a:t> </a:t>
          </a:r>
          <a:r>
            <a:rPr lang="en-US" dirty="0" err="1">
              <a:solidFill>
                <a:srgbClr val="000000"/>
              </a:solidFill>
            </a:rPr>
            <a:t>Compte</a:t>
          </a:r>
          <a:r>
            <a:rPr lang="en-US" dirty="0">
              <a:solidFill>
                <a:srgbClr val="000000"/>
              </a:solidFill>
            </a:rPr>
            <a:t> Consultations</a:t>
          </a:r>
        </a:p>
      </dgm:t>
    </dgm:pt>
    <dgm:pt modelId="{369F0D27-261D-4890-8626-1618EBA94210}" type="parTrans" cxnId="{0EA60947-4CA7-4672-87B4-084F9D30BE47}">
      <dgm:prSet/>
      <dgm:spPr/>
      <dgm:t>
        <a:bodyPr/>
        <a:lstStyle/>
        <a:p>
          <a:endParaRPr lang="en-US"/>
        </a:p>
      </dgm:t>
    </dgm:pt>
    <dgm:pt modelId="{073D6FCF-86D4-4607-896C-6B801F861C63}" type="sibTrans" cxnId="{0EA60947-4CA7-4672-87B4-084F9D30BE47}">
      <dgm:prSet/>
      <dgm:spPr/>
      <dgm:t>
        <a:bodyPr/>
        <a:lstStyle/>
        <a:p>
          <a:endParaRPr lang="en-US"/>
        </a:p>
      </dgm:t>
    </dgm:pt>
    <dgm:pt modelId="{BA973868-DFED-4D9D-9788-08979EFEE8E3}">
      <dgm:prSet phldrT="[Text]"/>
      <dgm:spPr/>
      <dgm:t>
        <a:bodyPr/>
        <a:lstStyle/>
        <a:p>
          <a:r>
            <a:rPr lang="en-US" dirty="0" err="1">
              <a:solidFill>
                <a:srgbClr val="000000"/>
              </a:solidFill>
            </a:rPr>
            <a:t>Conseil</a:t>
          </a:r>
          <a:r>
            <a:rPr lang="en-US" dirty="0">
              <a:solidFill>
                <a:srgbClr val="000000"/>
              </a:solidFill>
            </a:rPr>
            <a:t> </a:t>
          </a:r>
          <a:r>
            <a:rPr lang="en-US" dirty="0" err="1">
              <a:solidFill>
                <a:srgbClr val="000000"/>
              </a:solidFill>
            </a:rPr>
            <a:t>d’administration</a:t>
          </a:r>
          <a:r>
            <a:rPr lang="en-US" dirty="0">
              <a:solidFill>
                <a:srgbClr val="000000"/>
              </a:solidFill>
            </a:rPr>
            <a:t> </a:t>
          </a:r>
          <a:r>
            <a:rPr lang="en-US" dirty="0" err="1">
              <a:solidFill>
                <a:srgbClr val="000000"/>
              </a:solidFill>
            </a:rPr>
            <a:t>approuve</a:t>
          </a:r>
          <a:r>
            <a:rPr lang="en-US" dirty="0">
              <a:solidFill>
                <a:srgbClr val="000000"/>
              </a:solidFill>
            </a:rPr>
            <a:t> </a:t>
          </a:r>
          <a:r>
            <a:rPr lang="en-US" dirty="0" err="1">
              <a:solidFill>
                <a:srgbClr val="000000"/>
              </a:solidFill>
            </a:rPr>
            <a:t>lignes</a:t>
          </a:r>
          <a:r>
            <a:rPr lang="en-US" dirty="0">
              <a:solidFill>
                <a:srgbClr val="000000"/>
              </a:solidFill>
            </a:rPr>
            <a:t> du nouveau Cadre</a:t>
          </a:r>
        </a:p>
      </dgm:t>
    </dgm:pt>
    <dgm:pt modelId="{3B939479-F7B0-4324-938D-99A3C7892106}" type="parTrans" cxnId="{D43A73BD-5AC1-45CB-87EE-9AC2C0236B40}">
      <dgm:prSet/>
      <dgm:spPr/>
      <dgm:t>
        <a:bodyPr/>
        <a:lstStyle/>
        <a:p>
          <a:endParaRPr lang="en-US"/>
        </a:p>
      </dgm:t>
    </dgm:pt>
    <dgm:pt modelId="{944C57D5-5FF0-426D-90F4-3BA0CE861188}" type="sibTrans" cxnId="{D43A73BD-5AC1-45CB-87EE-9AC2C0236B40}">
      <dgm:prSet/>
      <dgm:spPr/>
      <dgm:t>
        <a:bodyPr/>
        <a:lstStyle/>
        <a:p>
          <a:endParaRPr lang="en-US"/>
        </a:p>
      </dgm:t>
    </dgm:pt>
    <dgm:pt modelId="{A2282E71-3EAD-4854-BF02-D6A07CE1B050}">
      <dgm:prSet phldrT="[Text]" custT="1"/>
      <dgm:spPr/>
      <dgm:t>
        <a:bodyPr/>
        <a:lstStyle/>
        <a:p>
          <a:r>
            <a:rPr lang="en-US" sz="1800" dirty="0" err="1"/>
            <a:t>Développement</a:t>
          </a:r>
          <a:r>
            <a:rPr lang="en-US" sz="1800" dirty="0"/>
            <a:t> du Nouveau Cadre 2014</a:t>
          </a:r>
        </a:p>
      </dgm:t>
    </dgm:pt>
    <dgm:pt modelId="{068D2D46-B760-4411-BCD8-068209FE602B}" type="parTrans" cxnId="{12116F45-949E-4278-85BF-B1BFC50D55E1}">
      <dgm:prSet/>
      <dgm:spPr/>
      <dgm:t>
        <a:bodyPr/>
        <a:lstStyle/>
        <a:p>
          <a:endParaRPr lang="en-US"/>
        </a:p>
      </dgm:t>
    </dgm:pt>
    <dgm:pt modelId="{B2E91FE0-640E-4601-8AAA-C2A5DD11845B}" type="sibTrans" cxnId="{12116F45-949E-4278-85BF-B1BFC50D55E1}">
      <dgm:prSet/>
      <dgm:spPr/>
      <dgm:t>
        <a:bodyPr/>
        <a:lstStyle/>
        <a:p>
          <a:endParaRPr lang="en-US"/>
        </a:p>
      </dgm:t>
    </dgm:pt>
    <dgm:pt modelId="{1C18D89B-3A91-4D63-8B30-D540FE1107CE}">
      <dgm:prSet phldrT="[Text]"/>
      <dgm:spPr/>
      <dgm:t>
        <a:bodyPr/>
        <a:lstStyle/>
        <a:p>
          <a:r>
            <a:rPr lang="en-US" dirty="0" err="1">
              <a:solidFill>
                <a:srgbClr val="000000"/>
              </a:solidFill>
            </a:rPr>
            <a:t>Concrétisation</a:t>
          </a:r>
          <a:r>
            <a:rPr lang="en-US" dirty="0">
              <a:solidFill>
                <a:srgbClr val="000000"/>
              </a:solidFill>
            </a:rPr>
            <a:t> des axes et des </a:t>
          </a:r>
          <a:r>
            <a:rPr lang="en-US" dirty="0" err="1">
              <a:solidFill>
                <a:srgbClr val="000000"/>
              </a:solidFill>
            </a:rPr>
            <a:t>principes</a:t>
          </a:r>
          <a:r>
            <a:rPr lang="en-US" dirty="0">
              <a:solidFill>
                <a:srgbClr val="000000"/>
              </a:solidFill>
            </a:rPr>
            <a:t> </a:t>
          </a:r>
        </a:p>
      </dgm:t>
    </dgm:pt>
    <dgm:pt modelId="{9A987DEE-83A0-4870-9480-EBF96ECD2CA0}" type="parTrans" cxnId="{13F75888-9219-46F8-9453-D90ACF00C8AF}">
      <dgm:prSet/>
      <dgm:spPr/>
      <dgm:t>
        <a:bodyPr/>
        <a:lstStyle/>
        <a:p>
          <a:endParaRPr lang="en-US"/>
        </a:p>
      </dgm:t>
    </dgm:pt>
    <dgm:pt modelId="{87109B54-0D82-4379-A869-285F30E53EE1}" type="sibTrans" cxnId="{13F75888-9219-46F8-9453-D90ACF00C8AF}">
      <dgm:prSet/>
      <dgm:spPr/>
      <dgm:t>
        <a:bodyPr/>
        <a:lstStyle/>
        <a:p>
          <a:endParaRPr lang="en-US"/>
        </a:p>
      </dgm:t>
    </dgm:pt>
    <dgm:pt modelId="{CD030B37-73C1-44D2-AAA9-FF845159B223}">
      <dgm:prSet phldrT="[Text]"/>
      <dgm:spPr/>
      <dgm:t>
        <a:bodyPr/>
        <a:lstStyle/>
        <a:p>
          <a:r>
            <a:rPr lang="en-US" dirty="0">
              <a:solidFill>
                <a:srgbClr val="000000"/>
              </a:solidFill>
            </a:rPr>
            <a:t>2ème Consultations </a:t>
          </a:r>
          <a:r>
            <a:rPr lang="en-US" dirty="0" err="1">
              <a:solidFill>
                <a:srgbClr val="000000"/>
              </a:solidFill>
            </a:rPr>
            <a:t>Globales</a:t>
          </a:r>
          <a:endParaRPr lang="en-US" dirty="0">
            <a:solidFill>
              <a:srgbClr val="000000"/>
            </a:solidFill>
          </a:endParaRPr>
        </a:p>
      </dgm:t>
    </dgm:pt>
    <dgm:pt modelId="{9485B602-2A86-422A-B95A-2AE4CA592BA1}" type="parTrans" cxnId="{2B468217-19AF-4FB9-AD16-F785FEB79415}">
      <dgm:prSet/>
      <dgm:spPr/>
      <dgm:t>
        <a:bodyPr/>
        <a:lstStyle/>
        <a:p>
          <a:endParaRPr lang="en-US"/>
        </a:p>
      </dgm:t>
    </dgm:pt>
    <dgm:pt modelId="{C76D6EDD-A0E6-430C-A655-49EAB1A961C4}" type="sibTrans" cxnId="{2B468217-19AF-4FB9-AD16-F785FEB79415}">
      <dgm:prSet/>
      <dgm:spPr/>
      <dgm:t>
        <a:bodyPr/>
        <a:lstStyle/>
        <a:p>
          <a:endParaRPr lang="en-US"/>
        </a:p>
      </dgm:t>
    </dgm:pt>
    <dgm:pt modelId="{250EFFDA-CABB-4C0A-B347-5B49A3A46E1B}">
      <dgm:prSet phldrT="[Text]" custT="1"/>
      <dgm:spPr/>
      <dgm:t>
        <a:bodyPr/>
        <a:lstStyle/>
        <a:p>
          <a:r>
            <a:rPr lang="en-US" sz="1800" dirty="0" err="1"/>
            <a:t>Finalisation</a:t>
          </a:r>
          <a:r>
            <a:rPr lang="en-US" sz="1800" dirty="0"/>
            <a:t> du Nouveau Cadre 2015</a:t>
          </a:r>
        </a:p>
      </dgm:t>
    </dgm:pt>
    <dgm:pt modelId="{3C89C14A-278E-43DA-8E53-DE2F2C858C9F}" type="parTrans" cxnId="{CD5092BB-D9B0-44B4-B5DE-A4C40BB5793D}">
      <dgm:prSet/>
      <dgm:spPr/>
      <dgm:t>
        <a:bodyPr/>
        <a:lstStyle/>
        <a:p>
          <a:endParaRPr lang="en-US"/>
        </a:p>
      </dgm:t>
    </dgm:pt>
    <dgm:pt modelId="{80151F60-B428-4BB5-B0F9-C637DF81C175}" type="sibTrans" cxnId="{CD5092BB-D9B0-44B4-B5DE-A4C40BB5793D}">
      <dgm:prSet/>
      <dgm:spPr/>
      <dgm:t>
        <a:bodyPr/>
        <a:lstStyle/>
        <a:p>
          <a:endParaRPr lang="en-US"/>
        </a:p>
      </dgm:t>
    </dgm:pt>
    <dgm:pt modelId="{7586C2EA-6B84-4584-AD88-32A400EE5643}">
      <dgm:prSet phldrT="[Text]"/>
      <dgm:spPr/>
      <dgm:t>
        <a:bodyPr/>
        <a:lstStyle/>
        <a:p>
          <a:r>
            <a:rPr lang="en-US" dirty="0" err="1">
              <a:solidFill>
                <a:srgbClr val="000000"/>
              </a:solidFill>
            </a:rPr>
            <a:t>Finalisation</a:t>
          </a:r>
          <a:r>
            <a:rPr lang="en-US" dirty="0">
              <a:solidFill>
                <a:srgbClr val="000000"/>
              </a:solidFill>
            </a:rPr>
            <a:t> des documents de </a:t>
          </a:r>
          <a:r>
            <a:rPr lang="en-US" dirty="0" err="1">
              <a:solidFill>
                <a:srgbClr val="000000"/>
              </a:solidFill>
            </a:rPr>
            <a:t>référence</a:t>
          </a:r>
          <a:endParaRPr lang="en-US" dirty="0">
            <a:solidFill>
              <a:srgbClr val="000000"/>
            </a:solidFill>
          </a:endParaRPr>
        </a:p>
      </dgm:t>
    </dgm:pt>
    <dgm:pt modelId="{81CCB693-8D7F-4813-B819-FDCCA5C3871D}" type="parTrans" cxnId="{677B2391-0BBD-45B7-82D6-CC78F4F1D9A1}">
      <dgm:prSet/>
      <dgm:spPr/>
      <dgm:t>
        <a:bodyPr/>
        <a:lstStyle/>
        <a:p>
          <a:endParaRPr lang="en-US"/>
        </a:p>
      </dgm:t>
    </dgm:pt>
    <dgm:pt modelId="{55765C78-CE86-4C0E-B783-22E50E99BA3A}" type="sibTrans" cxnId="{677B2391-0BBD-45B7-82D6-CC78F4F1D9A1}">
      <dgm:prSet/>
      <dgm:spPr/>
      <dgm:t>
        <a:bodyPr/>
        <a:lstStyle/>
        <a:p>
          <a:endParaRPr lang="en-US"/>
        </a:p>
      </dgm:t>
    </dgm:pt>
    <dgm:pt modelId="{D5DD7377-C401-4D9D-B056-67CDF4CB90D4}">
      <dgm:prSet phldrT="[Text]"/>
      <dgm:spPr/>
      <dgm:t>
        <a:bodyPr/>
        <a:lstStyle/>
        <a:p>
          <a:r>
            <a:rPr lang="en-US" dirty="0">
              <a:solidFill>
                <a:srgbClr val="000000"/>
              </a:solidFill>
            </a:rPr>
            <a:t>Adoption par le </a:t>
          </a:r>
          <a:r>
            <a:rPr lang="en-US" dirty="0" err="1">
              <a:solidFill>
                <a:srgbClr val="000000"/>
              </a:solidFill>
            </a:rPr>
            <a:t>Conseil</a:t>
          </a:r>
          <a:r>
            <a:rPr lang="en-US" dirty="0">
              <a:solidFill>
                <a:srgbClr val="000000"/>
              </a:solidFill>
            </a:rPr>
            <a:t> pour </a:t>
          </a:r>
          <a:r>
            <a:rPr lang="en-US" dirty="0" err="1">
              <a:solidFill>
                <a:srgbClr val="000000"/>
              </a:solidFill>
            </a:rPr>
            <a:t>mise</a:t>
          </a:r>
          <a:r>
            <a:rPr lang="en-US" dirty="0">
              <a:solidFill>
                <a:srgbClr val="000000"/>
              </a:solidFill>
            </a:rPr>
            <a:t> </a:t>
          </a:r>
          <a:r>
            <a:rPr lang="en-US" dirty="0" err="1">
              <a:solidFill>
                <a:srgbClr val="000000"/>
              </a:solidFill>
            </a:rPr>
            <a:t>en</a:t>
          </a:r>
          <a:r>
            <a:rPr lang="en-US" dirty="0">
              <a:solidFill>
                <a:srgbClr val="000000"/>
              </a:solidFill>
            </a:rPr>
            <a:t> oeuvre </a:t>
          </a:r>
          <a:r>
            <a:rPr lang="en-US" dirty="0" err="1">
              <a:solidFill>
                <a:srgbClr val="000000"/>
              </a:solidFill>
            </a:rPr>
            <a:t>en</a:t>
          </a:r>
          <a:r>
            <a:rPr lang="en-US" dirty="0">
              <a:solidFill>
                <a:srgbClr val="000000"/>
              </a:solidFill>
            </a:rPr>
            <a:t> 2016</a:t>
          </a:r>
        </a:p>
      </dgm:t>
    </dgm:pt>
    <dgm:pt modelId="{CC77E5D7-9FCF-40DE-854D-6DA6F2A3FB13}" type="parTrans" cxnId="{FDC10DD3-18EF-4C6E-A951-142C36E2859C}">
      <dgm:prSet/>
      <dgm:spPr/>
      <dgm:t>
        <a:bodyPr/>
        <a:lstStyle/>
        <a:p>
          <a:endParaRPr lang="en-US"/>
        </a:p>
      </dgm:t>
    </dgm:pt>
    <dgm:pt modelId="{3C8C9323-600A-49DA-96A9-489D999A0DB1}" type="sibTrans" cxnId="{FDC10DD3-18EF-4C6E-A951-142C36E2859C}">
      <dgm:prSet/>
      <dgm:spPr/>
      <dgm:t>
        <a:bodyPr/>
        <a:lstStyle/>
        <a:p>
          <a:endParaRPr lang="en-US"/>
        </a:p>
      </dgm:t>
    </dgm:pt>
    <dgm:pt modelId="{A300D1BC-58ED-4F31-8477-9ED32E4F19BD}" type="pres">
      <dgm:prSet presAssocID="{0B96E6C6-9DC3-4815-8762-69981DBFDA39}" presName="Name0" presStyleCnt="0">
        <dgm:presLayoutVars>
          <dgm:chPref val="3"/>
          <dgm:dir/>
          <dgm:animLvl val="lvl"/>
          <dgm:resizeHandles/>
        </dgm:presLayoutVars>
      </dgm:prSet>
      <dgm:spPr/>
    </dgm:pt>
    <dgm:pt modelId="{24A0C348-D4BF-4B02-B2A1-9682793DD903}" type="pres">
      <dgm:prSet presAssocID="{B594B3B6-CE36-4C2F-B99D-8F2068385FC4}" presName="horFlow" presStyleCnt="0"/>
      <dgm:spPr/>
    </dgm:pt>
    <dgm:pt modelId="{55880801-AB5C-4025-B411-E14950765396}" type="pres">
      <dgm:prSet presAssocID="{B594B3B6-CE36-4C2F-B99D-8F2068385FC4}" presName="bigChev" presStyleLbl="node1" presStyleIdx="0" presStyleCnt="4" custLinFactNeighborX="-2913" custLinFactNeighborY="1894"/>
      <dgm:spPr/>
    </dgm:pt>
    <dgm:pt modelId="{EF8C4B89-9829-42C8-92E8-F1274B7EBD6C}" type="pres">
      <dgm:prSet presAssocID="{BFDFDF13-0CE3-4CD2-8423-BE5223874C98}" presName="parTrans" presStyleCnt="0"/>
      <dgm:spPr/>
    </dgm:pt>
    <dgm:pt modelId="{8D1D73D6-C793-4557-929F-0CFE2F880D6F}" type="pres">
      <dgm:prSet presAssocID="{0D4E6380-19E0-4C80-866B-1C9A8A5DF03E}" presName="node" presStyleLbl="alignAccFollowNode1" presStyleIdx="0" presStyleCnt="8" custScaleX="98143">
        <dgm:presLayoutVars>
          <dgm:bulletEnabled val="1"/>
        </dgm:presLayoutVars>
      </dgm:prSet>
      <dgm:spPr/>
    </dgm:pt>
    <dgm:pt modelId="{664B3576-6AFB-4A28-8AB3-F146C3A2431A}" type="pres">
      <dgm:prSet presAssocID="{89ACD992-8041-42FC-A5BC-F688DDAFB344}" presName="sibTrans" presStyleCnt="0"/>
      <dgm:spPr/>
    </dgm:pt>
    <dgm:pt modelId="{724B635D-F220-47F2-9C34-0C4CB4AFC896}" type="pres">
      <dgm:prSet presAssocID="{3BBADAAF-E497-44B1-B575-65610890A566}" presName="node" presStyleLbl="alignAccFollowNode1" presStyleIdx="1" presStyleCnt="8">
        <dgm:presLayoutVars>
          <dgm:bulletEnabled val="1"/>
        </dgm:presLayoutVars>
      </dgm:prSet>
      <dgm:spPr/>
    </dgm:pt>
    <dgm:pt modelId="{5E7BFE49-76FB-4D9A-BEE3-6E5D72874745}" type="pres">
      <dgm:prSet presAssocID="{B594B3B6-CE36-4C2F-B99D-8F2068385FC4}" presName="vSp" presStyleCnt="0"/>
      <dgm:spPr/>
    </dgm:pt>
    <dgm:pt modelId="{564FED8F-6AED-41A9-B86F-312DACA60DCF}" type="pres">
      <dgm:prSet presAssocID="{222870DB-DFBF-46F0-8BDD-4B02310BAFE0}" presName="horFlow" presStyleCnt="0"/>
      <dgm:spPr/>
    </dgm:pt>
    <dgm:pt modelId="{F0F0A4E5-B7F6-4989-A6E6-242EC01FE4F7}" type="pres">
      <dgm:prSet presAssocID="{222870DB-DFBF-46F0-8BDD-4B02310BAFE0}" presName="bigChev" presStyleLbl="node1" presStyleIdx="1" presStyleCnt="4"/>
      <dgm:spPr/>
    </dgm:pt>
    <dgm:pt modelId="{2F083F5E-C7D2-40D6-87DB-4FB365A61FCF}" type="pres">
      <dgm:prSet presAssocID="{369F0D27-261D-4890-8626-1618EBA94210}" presName="parTrans" presStyleCnt="0"/>
      <dgm:spPr/>
    </dgm:pt>
    <dgm:pt modelId="{AEFC7442-968A-4554-B9DB-7495E2B1D656}" type="pres">
      <dgm:prSet presAssocID="{2A435389-C12F-4FE2-8381-404A4C00165E}" presName="node" presStyleLbl="alignAccFollowNode1" presStyleIdx="2" presStyleCnt="8">
        <dgm:presLayoutVars>
          <dgm:bulletEnabled val="1"/>
        </dgm:presLayoutVars>
      </dgm:prSet>
      <dgm:spPr/>
    </dgm:pt>
    <dgm:pt modelId="{D944AD43-4CF5-4BD8-A23B-C770F83AD3C6}" type="pres">
      <dgm:prSet presAssocID="{073D6FCF-86D4-4607-896C-6B801F861C63}" presName="sibTrans" presStyleCnt="0"/>
      <dgm:spPr/>
    </dgm:pt>
    <dgm:pt modelId="{FB566491-D89C-4B75-BC6F-FA616CD525FF}" type="pres">
      <dgm:prSet presAssocID="{BA973868-DFED-4D9D-9788-08979EFEE8E3}" presName="node" presStyleLbl="alignAccFollowNode1" presStyleIdx="3" presStyleCnt="8">
        <dgm:presLayoutVars>
          <dgm:bulletEnabled val="1"/>
        </dgm:presLayoutVars>
      </dgm:prSet>
      <dgm:spPr/>
    </dgm:pt>
    <dgm:pt modelId="{F4B67643-F4E6-424A-8A55-D0E9B9F518F7}" type="pres">
      <dgm:prSet presAssocID="{222870DB-DFBF-46F0-8BDD-4B02310BAFE0}" presName="vSp" presStyleCnt="0"/>
      <dgm:spPr/>
    </dgm:pt>
    <dgm:pt modelId="{6A09687E-0BA8-4CB2-8E71-2901EEB08EF2}" type="pres">
      <dgm:prSet presAssocID="{A2282E71-3EAD-4854-BF02-D6A07CE1B050}" presName="horFlow" presStyleCnt="0"/>
      <dgm:spPr/>
    </dgm:pt>
    <dgm:pt modelId="{AF194330-6800-4DEE-9615-A25336499296}" type="pres">
      <dgm:prSet presAssocID="{A2282E71-3EAD-4854-BF02-D6A07CE1B050}" presName="bigChev" presStyleLbl="node1" presStyleIdx="2" presStyleCnt="4"/>
      <dgm:spPr/>
    </dgm:pt>
    <dgm:pt modelId="{56565A73-E1E3-4059-8C3D-72117C21E0F4}" type="pres">
      <dgm:prSet presAssocID="{9A987DEE-83A0-4870-9480-EBF96ECD2CA0}" presName="parTrans" presStyleCnt="0"/>
      <dgm:spPr/>
    </dgm:pt>
    <dgm:pt modelId="{00EC4490-8D18-46B9-BB31-64976B908FA4}" type="pres">
      <dgm:prSet presAssocID="{1C18D89B-3A91-4D63-8B30-D540FE1107CE}" presName="node" presStyleLbl="alignAccFollowNode1" presStyleIdx="4" presStyleCnt="8">
        <dgm:presLayoutVars>
          <dgm:bulletEnabled val="1"/>
        </dgm:presLayoutVars>
      </dgm:prSet>
      <dgm:spPr/>
    </dgm:pt>
    <dgm:pt modelId="{CA6EEA6F-DE40-4D4E-8211-C0CCD89F2397}" type="pres">
      <dgm:prSet presAssocID="{87109B54-0D82-4379-A869-285F30E53EE1}" presName="sibTrans" presStyleCnt="0"/>
      <dgm:spPr/>
    </dgm:pt>
    <dgm:pt modelId="{DF238E4E-14F1-4B72-9D2A-788E0F6CF632}" type="pres">
      <dgm:prSet presAssocID="{CD030B37-73C1-44D2-AAA9-FF845159B223}" presName="node" presStyleLbl="alignAccFollowNode1" presStyleIdx="5" presStyleCnt="8">
        <dgm:presLayoutVars>
          <dgm:bulletEnabled val="1"/>
        </dgm:presLayoutVars>
      </dgm:prSet>
      <dgm:spPr/>
    </dgm:pt>
    <dgm:pt modelId="{AB719900-70F5-461D-A11E-CCF3D4079B50}" type="pres">
      <dgm:prSet presAssocID="{A2282E71-3EAD-4854-BF02-D6A07CE1B050}" presName="vSp" presStyleCnt="0"/>
      <dgm:spPr/>
    </dgm:pt>
    <dgm:pt modelId="{359718B0-4036-46CA-BEDF-1953337BF522}" type="pres">
      <dgm:prSet presAssocID="{250EFFDA-CABB-4C0A-B347-5B49A3A46E1B}" presName="horFlow" presStyleCnt="0"/>
      <dgm:spPr/>
    </dgm:pt>
    <dgm:pt modelId="{360CCB4E-69BA-4B3A-8A57-242428044785}" type="pres">
      <dgm:prSet presAssocID="{250EFFDA-CABB-4C0A-B347-5B49A3A46E1B}" presName="bigChev" presStyleLbl="node1" presStyleIdx="3" presStyleCnt="4"/>
      <dgm:spPr/>
    </dgm:pt>
    <dgm:pt modelId="{AAA8D3B8-35F7-45D0-BD2A-E19B8177074B}" type="pres">
      <dgm:prSet presAssocID="{81CCB693-8D7F-4813-B819-FDCCA5C3871D}" presName="parTrans" presStyleCnt="0"/>
      <dgm:spPr/>
    </dgm:pt>
    <dgm:pt modelId="{5D8CBC1C-2AA1-40E8-A911-65DFF140D272}" type="pres">
      <dgm:prSet presAssocID="{7586C2EA-6B84-4584-AD88-32A400EE5643}" presName="node" presStyleLbl="alignAccFollowNode1" presStyleIdx="6" presStyleCnt="8">
        <dgm:presLayoutVars>
          <dgm:bulletEnabled val="1"/>
        </dgm:presLayoutVars>
      </dgm:prSet>
      <dgm:spPr/>
    </dgm:pt>
    <dgm:pt modelId="{12682933-EF42-46EE-A9CE-CBAC02CB0092}" type="pres">
      <dgm:prSet presAssocID="{55765C78-CE86-4C0E-B783-22E50E99BA3A}" presName="sibTrans" presStyleCnt="0"/>
      <dgm:spPr/>
    </dgm:pt>
    <dgm:pt modelId="{A1C75A05-0122-414E-A745-06B2A2D724A1}" type="pres">
      <dgm:prSet presAssocID="{D5DD7377-C401-4D9D-B056-67CDF4CB90D4}" presName="node" presStyleLbl="alignAccFollowNode1" presStyleIdx="7" presStyleCnt="8">
        <dgm:presLayoutVars>
          <dgm:bulletEnabled val="1"/>
        </dgm:presLayoutVars>
      </dgm:prSet>
      <dgm:spPr/>
    </dgm:pt>
  </dgm:ptLst>
  <dgm:cxnLst>
    <dgm:cxn modelId="{0E8C7702-4CEC-4D6F-B848-FBB40C3D9494}" type="presOf" srcId="{2A435389-C12F-4FE2-8381-404A4C00165E}" destId="{AEFC7442-968A-4554-B9DB-7495E2B1D656}" srcOrd="0" destOrd="0" presId="urn:microsoft.com/office/officeart/2005/8/layout/lProcess3"/>
    <dgm:cxn modelId="{2B468217-19AF-4FB9-AD16-F785FEB79415}" srcId="{A2282E71-3EAD-4854-BF02-D6A07CE1B050}" destId="{CD030B37-73C1-44D2-AAA9-FF845159B223}" srcOrd="1" destOrd="0" parTransId="{9485B602-2A86-422A-B95A-2AE4CA592BA1}" sibTransId="{C76D6EDD-A0E6-430C-A655-49EAB1A961C4}"/>
    <dgm:cxn modelId="{7398B131-7477-4451-B776-B9EBA9BAC12E}" type="presOf" srcId="{222870DB-DFBF-46F0-8BDD-4B02310BAFE0}" destId="{F0F0A4E5-B7F6-4989-A6E6-242EC01FE4F7}" srcOrd="0" destOrd="0" presId="urn:microsoft.com/office/officeart/2005/8/layout/lProcess3"/>
    <dgm:cxn modelId="{7B5B783B-BB3A-4686-965F-1011222F29AE}" type="presOf" srcId="{250EFFDA-CABB-4C0A-B347-5B49A3A46E1B}" destId="{360CCB4E-69BA-4B3A-8A57-242428044785}" srcOrd="0" destOrd="0" presId="urn:microsoft.com/office/officeart/2005/8/layout/lProcess3"/>
    <dgm:cxn modelId="{12116F45-949E-4278-85BF-B1BFC50D55E1}" srcId="{0B96E6C6-9DC3-4815-8762-69981DBFDA39}" destId="{A2282E71-3EAD-4854-BF02-D6A07CE1B050}" srcOrd="2" destOrd="0" parTransId="{068D2D46-B760-4411-BCD8-068209FE602B}" sibTransId="{B2E91FE0-640E-4601-8AAA-C2A5DD11845B}"/>
    <dgm:cxn modelId="{3C34DA45-4278-4345-B435-E804955C8B29}" srcId="{B594B3B6-CE36-4C2F-B99D-8F2068385FC4}" destId="{0D4E6380-19E0-4C80-866B-1C9A8A5DF03E}" srcOrd="0" destOrd="0" parTransId="{BFDFDF13-0CE3-4CD2-8423-BE5223874C98}" sibTransId="{89ACD992-8041-42FC-A5BC-F688DDAFB344}"/>
    <dgm:cxn modelId="{0EA60947-4CA7-4672-87B4-084F9D30BE47}" srcId="{222870DB-DFBF-46F0-8BDD-4B02310BAFE0}" destId="{2A435389-C12F-4FE2-8381-404A4C00165E}" srcOrd="0" destOrd="0" parTransId="{369F0D27-261D-4890-8626-1618EBA94210}" sibTransId="{073D6FCF-86D4-4607-896C-6B801F861C63}"/>
    <dgm:cxn modelId="{D86F8F6B-6E4B-4D2C-89E3-473A5531E157}" type="presOf" srcId="{0D4E6380-19E0-4C80-866B-1C9A8A5DF03E}" destId="{8D1D73D6-C793-4557-929F-0CFE2F880D6F}" srcOrd="0" destOrd="0" presId="urn:microsoft.com/office/officeart/2005/8/layout/lProcess3"/>
    <dgm:cxn modelId="{D3A22771-8A63-416D-96B4-AF43454BC9AD}" type="presOf" srcId="{A2282E71-3EAD-4854-BF02-D6A07CE1B050}" destId="{AF194330-6800-4DEE-9615-A25336499296}" srcOrd="0" destOrd="0" presId="urn:microsoft.com/office/officeart/2005/8/layout/lProcess3"/>
    <dgm:cxn modelId="{97412756-F9D5-47F3-932F-BFB58C2EE783}" srcId="{0B96E6C6-9DC3-4815-8762-69981DBFDA39}" destId="{222870DB-DFBF-46F0-8BDD-4B02310BAFE0}" srcOrd="1" destOrd="0" parTransId="{9243EABA-4638-4752-AA1B-CEAD33A89DDD}" sibTransId="{EE310B49-F799-4CDD-B50B-58AFD54C5329}"/>
    <dgm:cxn modelId="{26C27678-8668-4657-976E-BF141382E0C2}" type="presOf" srcId="{7586C2EA-6B84-4584-AD88-32A400EE5643}" destId="{5D8CBC1C-2AA1-40E8-A911-65DFF140D272}" srcOrd="0" destOrd="0" presId="urn:microsoft.com/office/officeart/2005/8/layout/lProcess3"/>
    <dgm:cxn modelId="{13F75888-9219-46F8-9453-D90ACF00C8AF}" srcId="{A2282E71-3EAD-4854-BF02-D6A07CE1B050}" destId="{1C18D89B-3A91-4D63-8B30-D540FE1107CE}" srcOrd="0" destOrd="0" parTransId="{9A987DEE-83A0-4870-9480-EBF96ECD2CA0}" sibTransId="{87109B54-0D82-4379-A869-285F30E53EE1}"/>
    <dgm:cxn modelId="{215D1890-310B-4CE1-92FB-83994C0F20FA}" type="presOf" srcId="{BA973868-DFED-4D9D-9788-08979EFEE8E3}" destId="{FB566491-D89C-4B75-BC6F-FA616CD525FF}" srcOrd="0" destOrd="0" presId="urn:microsoft.com/office/officeart/2005/8/layout/lProcess3"/>
    <dgm:cxn modelId="{677B2391-0BBD-45B7-82D6-CC78F4F1D9A1}" srcId="{250EFFDA-CABB-4C0A-B347-5B49A3A46E1B}" destId="{7586C2EA-6B84-4584-AD88-32A400EE5643}" srcOrd="0" destOrd="0" parTransId="{81CCB693-8D7F-4813-B819-FDCCA5C3871D}" sibTransId="{55765C78-CE86-4C0E-B783-22E50E99BA3A}"/>
    <dgm:cxn modelId="{F1A54C9D-4BA5-45F2-B78D-9DD107C02A0F}" srcId="{B594B3B6-CE36-4C2F-B99D-8F2068385FC4}" destId="{3BBADAAF-E497-44B1-B575-65610890A566}" srcOrd="1" destOrd="0" parTransId="{78656B41-B058-49FC-9F81-9ECD62C53483}" sibTransId="{5F33BA8A-C456-4726-BD90-C3544B195E02}"/>
    <dgm:cxn modelId="{82595C9F-C50B-44B9-B66E-68113EC0194C}" type="presOf" srcId="{0B96E6C6-9DC3-4815-8762-69981DBFDA39}" destId="{A300D1BC-58ED-4F31-8477-9ED32E4F19BD}" srcOrd="0" destOrd="0" presId="urn:microsoft.com/office/officeart/2005/8/layout/lProcess3"/>
    <dgm:cxn modelId="{FA9395A0-3A91-4536-BF41-9981B7D4997C}" type="presOf" srcId="{D5DD7377-C401-4D9D-B056-67CDF4CB90D4}" destId="{A1C75A05-0122-414E-A745-06B2A2D724A1}" srcOrd="0" destOrd="0" presId="urn:microsoft.com/office/officeart/2005/8/layout/lProcess3"/>
    <dgm:cxn modelId="{9DF065A8-5DF7-4BA2-9C98-2B0480B6CFDD}" type="presOf" srcId="{1C18D89B-3A91-4D63-8B30-D540FE1107CE}" destId="{00EC4490-8D18-46B9-BB31-64976B908FA4}" srcOrd="0" destOrd="0" presId="urn:microsoft.com/office/officeart/2005/8/layout/lProcess3"/>
    <dgm:cxn modelId="{01B72CAA-31CA-4E35-8B9F-ABB63CB6749E}" type="presOf" srcId="{CD030B37-73C1-44D2-AAA9-FF845159B223}" destId="{DF238E4E-14F1-4B72-9D2A-788E0F6CF632}" srcOrd="0" destOrd="0" presId="urn:microsoft.com/office/officeart/2005/8/layout/lProcess3"/>
    <dgm:cxn modelId="{02E630AB-3CE1-4D88-9CE2-43DE6BC19651}" type="presOf" srcId="{B594B3B6-CE36-4C2F-B99D-8F2068385FC4}" destId="{55880801-AB5C-4025-B411-E14950765396}" srcOrd="0" destOrd="0" presId="urn:microsoft.com/office/officeart/2005/8/layout/lProcess3"/>
    <dgm:cxn modelId="{CD5092BB-D9B0-44B4-B5DE-A4C40BB5793D}" srcId="{0B96E6C6-9DC3-4815-8762-69981DBFDA39}" destId="{250EFFDA-CABB-4C0A-B347-5B49A3A46E1B}" srcOrd="3" destOrd="0" parTransId="{3C89C14A-278E-43DA-8E53-DE2F2C858C9F}" sibTransId="{80151F60-B428-4BB5-B0F9-C637DF81C175}"/>
    <dgm:cxn modelId="{D43A73BD-5AC1-45CB-87EE-9AC2C0236B40}" srcId="{222870DB-DFBF-46F0-8BDD-4B02310BAFE0}" destId="{BA973868-DFED-4D9D-9788-08979EFEE8E3}" srcOrd="1" destOrd="0" parTransId="{3B939479-F7B0-4324-938D-99A3C7892106}" sibTransId="{944C57D5-5FF0-426D-90F4-3BA0CE861188}"/>
    <dgm:cxn modelId="{77A484C6-D87F-4180-A7F0-F93E081F2D70}" type="presOf" srcId="{3BBADAAF-E497-44B1-B575-65610890A566}" destId="{724B635D-F220-47F2-9C34-0C4CB4AFC896}" srcOrd="0" destOrd="0" presId="urn:microsoft.com/office/officeart/2005/8/layout/lProcess3"/>
    <dgm:cxn modelId="{FDC10DD3-18EF-4C6E-A951-142C36E2859C}" srcId="{250EFFDA-CABB-4C0A-B347-5B49A3A46E1B}" destId="{D5DD7377-C401-4D9D-B056-67CDF4CB90D4}" srcOrd="1" destOrd="0" parTransId="{CC77E5D7-9FCF-40DE-854D-6DA6F2A3FB13}" sibTransId="{3C8C9323-600A-49DA-96A9-489D999A0DB1}"/>
    <dgm:cxn modelId="{B82D05E1-5E01-419B-8825-8CE36DB53FFA}" srcId="{0B96E6C6-9DC3-4815-8762-69981DBFDA39}" destId="{B594B3B6-CE36-4C2F-B99D-8F2068385FC4}" srcOrd="0" destOrd="0" parTransId="{1F6BBCF3-294D-42CD-AEB4-1E7C05D64F17}" sibTransId="{93D1DF94-79F9-4388-82CC-FB9F68FBA2BB}"/>
    <dgm:cxn modelId="{8C788C0E-C7AF-4302-9FB2-213D79D9FDD2}" type="presParOf" srcId="{A300D1BC-58ED-4F31-8477-9ED32E4F19BD}" destId="{24A0C348-D4BF-4B02-B2A1-9682793DD903}" srcOrd="0" destOrd="0" presId="urn:microsoft.com/office/officeart/2005/8/layout/lProcess3"/>
    <dgm:cxn modelId="{095D677B-6685-4518-B5D1-E24B4C20A7DF}" type="presParOf" srcId="{24A0C348-D4BF-4B02-B2A1-9682793DD903}" destId="{55880801-AB5C-4025-B411-E14950765396}" srcOrd="0" destOrd="0" presId="urn:microsoft.com/office/officeart/2005/8/layout/lProcess3"/>
    <dgm:cxn modelId="{F229B84F-B09C-421F-BBE7-B22C930A713C}" type="presParOf" srcId="{24A0C348-D4BF-4B02-B2A1-9682793DD903}" destId="{EF8C4B89-9829-42C8-92E8-F1274B7EBD6C}" srcOrd="1" destOrd="0" presId="urn:microsoft.com/office/officeart/2005/8/layout/lProcess3"/>
    <dgm:cxn modelId="{9A30FE72-EAE1-41D6-AD33-1F4377769CDB}" type="presParOf" srcId="{24A0C348-D4BF-4B02-B2A1-9682793DD903}" destId="{8D1D73D6-C793-4557-929F-0CFE2F880D6F}" srcOrd="2" destOrd="0" presId="urn:microsoft.com/office/officeart/2005/8/layout/lProcess3"/>
    <dgm:cxn modelId="{8AD30FC3-4BC2-4243-8958-42AC970D37CA}" type="presParOf" srcId="{24A0C348-D4BF-4B02-B2A1-9682793DD903}" destId="{664B3576-6AFB-4A28-8AB3-F146C3A2431A}" srcOrd="3" destOrd="0" presId="urn:microsoft.com/office/officeart/2005/8/layout/lProcess3"/>
    <dgm:cxn modelId="{24B3AB8C-D6CB-4ECB-A806-4B6D49058F08}" type="presParOf" srcId="{24A0C348-D4BF-4B02-B2A1-9682793DD903}" destId="{724B635D-F220-47F2-9C34-0C4CB4AFC896}" srcOrd="4" destOrd="0" presId="urn:microsoft.com/office/officeart/2005/8/layout/lProcess3"/>
    <dgm:cxn modelId="{D08C8413-517F-4C7D-B4EA-1160032A059A}" type="presParOf" srcId="{A300D1BC-58ED-4F31-8477-9ED32E4F19BD}" destId="{5E7BFE49-76FB-4D9A-BEE3-6E5D72874745}" srcOrd="1" destOrd="0" presId="urn:microsoft.com/office/officeart/2005/8/layout/lProcess3"/>
    <dgm:cxn modelId="{BEF4EAA5-95F3-4FAF-8B49-C1115FE8DFE4}" type="presParOf" srcId="{A300D1BC-58ED-4F31-8477-9ED32E4F19BD}" destId="{564FED8F-6AED-41A9-B86F-312DACA60DCF}" srcOrd="2" destOrd="0" presId="urn:microsoft.com/office/officeart/2005/8/layout/lProcess3"/>
    <dgm:cxn modelId="{8F6D57AF-A481-4F93-BD25-7B0C538C2B1C}" type="presParOf" srcId="{564FED8F-6AED-41A9-B86F-312DACA60DCF}" destId="{F0F0A4E5-B7F6-4989-A6E6-242EC01FE4F7}" srcOrd="0" destOrd="0" presId="urn:microsoft.com/office/officeart/2005/8/layout/lProcess3"/>
    <dgm:cxn modelId="{4FE2E8F4-FBF7-41E7-ACE0-09B0EA8668C3}" type="presParOf" srcId="{564FED8F-6AED-41A9-B86F-312DACA60DCF}" destId="{2F083F5E-C7D2-40D6-87DB-4FB365A61FCF}" srcOrd="1" destOrd="0" presId="urn:microsoft.com/office/officeart/2005/8/layout/lProcess3"/>
    <dgm:cxn modelId="{BB8186C7-C244-4BDC-B78B-DACE1D0669FD}" type="presParOf" srcId="{564FED8F-6AED-41A9-B86F-312DACA60DCF}" destId="{AEFC7442-968A-4554-B9DB-7495E2B1D656}" srcOrd="2" destOrd="0" presId="urn:microsoft.com/office/officeart/2005/8/layout/lProcess3"/>
    <dgm:cxn modelId="{80AD0EF7-A500-46C1-81CE-3211E2F8A3B0}" type="presParOf" srcId="{564FED8F-6AED-41A9-B86F-312DACA60DCF}" destId="{D944AD43-4CF5-4BD8-A23B-C770F83AD3C6}" srcOrd="3" destOrd="0" presId="urn:microsoft.com/office/officeart/2005/8/layout/lProcess3"/>
    <dgm:cxn modelId="{B1077C14-D099-40A1-9C56-7E6C2DA56091}" type="presParOf" srcId="{564FED8F-6AED-41A9-B86F-312DACA60DCF}" destId="{FB566491-D89C-4B75-BC6F-FA616CD525FF}" srcOrd="4" destOrd="0" presId="urn:microsoft.com/office/officeart/2005/8/layout/lProcess3"/>
    <dgm:cxn modelId="{D18DBC3F-07EE-4FB6-B2A6-5866ABA56AF8}" type="presParOf" srcId="{A300D1BC-58ED-4F31-8477-9ED32E4F19BD}" destId="{F4B67643-F4E6-424A-8A55-D0E9B9F518F7}" srcOrd="3" destOrd="0" presId="urn:microsoft.com/office/officeart/2005/8/layout/lProcess3"/>
    <dgm:cxn modelId="{59DF9E56-43A3-4DC9-B5D6-A407FDCD9923}" type="presParOf" srcId="{A300D1BC-58ED-4F31-8477-9ED32E4F19BD}" destId="{6A09687E-0BA8-4CB2-8E71-2901EEB08EF2}" srcOrd="4" destOrd="0" presId="urn:microsoft.com/office/officeart/2005/8/layout/lProcess3"/>
    <dgm:cxn modelId="{E51CD94A-F028-4A34-9618-AE2E669FD339}" type="presParOf" srcId="{6A09687E-0BA8-4CB2-8E71-2901EEB08EF2}" destId="{AF194330-6800-4DEE-9615-A25336499296}" srcOrd="0" destOrd="0" presId="urn:microsoft.com/office/officeart/2005/8/layout/lProcess3"/>
    <dgm:cxn modelId="{E5F0F386-BAA9-49A6-A850-EDD25FB4E5B1}" type="presParOf" srcId="{6A09687E-0BA8-4CB2-8E71-2901EEB08EF2}" destId="{56565A73-E1E3-4059-8C3D-72117C21E0F4}" srcOrd="1" destOrd="0" presId="urn:microsoft.com/office/officeart/2005/8/layout/lProcess3"/>
    <dgm:cxn modelId="{3EF519C4-18FE-4C04-9373-0E12B6A50543}" type="presParOf" srcId="{6A09687E-0BA8-4CB2-8E71-2901EEB08EF2}" destId="{00EC4490-8D18-46B9-BB31-64976B908FA4}" srcOrd="2" destOrd="0" presId="urn:microsoft.com/office/officeart/2005/8/layout/lProcess3"/>
    <dgm:cxn modelId="{EBB92DFF-9903-48F8-804B-48788C13A7E7}" type="presParOf" srcId="{6A09687E-0BA8-4CB2-8E71-2901EEB08EF2}" destId="{CA6EEA6F-DE40-4D4E-8211-C0CCD89F2397}" srcOrd="3" destOrd="0" presId="urn:microsoft.com/office/officeart/2005/8/layout/lProcess3"/>
    <dgm:cxn modelId="{85EE959E-79E6-466C-8AEC-92CDECA66E89}" type="presParOf" srcId="{6A09687E-0BA8-4CB2-8E71-2901EEB08EF2}" destId="{DF238E4E-14F1-4B72-9D2A-788E0F6CF632}" srcOrd="4" destOrd="0" presId="urn:microsoft.com/office/officeart/2005/8/layout/lProcess3"/>
    <dgm:cxn modelId="{13C4B4EC-7073-4A7A-A847-CF39FE44D606}" type="presParOf" srcId="{A300D1BC-58ED-4F31-8477-9ED32E4F19BD}" destId="{AB719900-70F5-461D-A11E-CCF3D4079B50}" srcOrd="5" destOrd="0" presId="urn:microsoft.com/office/officeart/2005/8/layout/lProcess3"/>
    <dgm:cxn modelId="{3D15CB07-B792-4D14-BF57-1CB518F52651}" type="presParOf" srcId="{A300D1BC-58ED-4F31-8477-9ED32E4F19BD}" destId="{359718B0-4036-46CA-BEDF-1953337BF522}" srcOrd="6" destOrd="0" presId="urn:microsoft.com/office/officeart/2005/8/layout/lProcess3"/>
    <dgm:cxn modelId="{B0B93D45-721F-4485-9A05-D027E6C86935}" type="presParOf" srcId="{359718B0-4036-46CA-BEDF-1953337BF522}" destId="{360CCB4E-69BA-4B3A-8A57-242428044785}" srcOrd="0" destOrd="0" presId="urn:microsoft.com/office/officeart/2005/8/layout/lProcess3"/>
    <dgm:cxn modelId="{E5721016-FF59-46DA-BDAB-AB1D1E69E569}" type="presParOf" srcId="{359718B0-4036-46CA-BEDF-1953337BF522}" destId="{AAA8D3B8-35F7-45D0-BD2A-E19B8177074B}" srcOrd="1" destOrd="0" presId="urn:microsoft.com/office/officeart/2005/8/layout/lProcess3"/>
    <dgm:cxn modelId="{039CB648-1E53-40A7-902A-63CEADB5B149}" type="presParOf" srcId="{359718B0-4036-46CA-BEDF-1953337BF522}" destId="{5D8CBC1C-2AA1-40E8-A911-65DFF140D272}" srcOrd="2" destOrd="0" presId="urn:microsoft.com/office/officeart/2005/8/layout/lProcess3"/>
    <dgm:cxn modelId="{537A734B-D8E3-4942-B8D2-BF2B582E1210}" type="presParOf" srcId="{359718B0-4036-46CA-BEDF-1953337BF522}" destId="{12682933-EF42-46EE-A9CE-CBAC02CB0092}" srcOrd="3" destOrd="0" presId="urn:microsoft.com/office/officeart/2005/8/layout/lProcess3"/>
    <dgm:cxn modelId="{89112DFA-317F-41E9-8ECC-FE766081B53E}" type="presParOf" srcId="{359718B0-4036-46CA-BEDF-1953337BF522}" destId="{A1C75A05-0122-414E-A745-06B2A2D724A1}" srcOrd="4"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880801-AB5C-4025-B411-E14950765396}">
      <dsp:nvSpPr>
        <dsp:cNvPr id="0" name=""/>
        <dsp:cNvSpPr/>
      </dsp:nvSpPr>
      <dsp:spPr>
        <a:xfrm>
          <a:off x="2647884" y="21784"/>
          <a:ext cx="2788272" cy="1115309"/>
        </a:xfrm>
        <a:prstGeom prst="chevr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Document pour discussions 2012</a:t>
          </a:r>
        </a:p>
      </dsp:txBody>
      <dsp:txXfrm>
        <a:off x="3205539" y="21784"/>
        <a:ext cx="1672963" cy="1115309"/>
      </dsp:txXfrm>
    </dsp:sp>
    <dsp:sp modelId="{8D1D73D6-C793-4557-929F-0CFE2F880D6F}">
      <dsp:nvSpPr>
        <dsp:cNvPr id="0" name=""/>
        <dsp:cNvSpPr/>
      </dsp:nvSpPr>
      <dsp:spPr>
        <a:xfrm>
          <a:off x="5084240" y="95461"/>
          <a:ext cx="2271290" cy="925706"/>
        </a:xfrm>
        <a:prstGeom prst="chevron">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solidFill>
                <a:srgbClr val="000000"/>
              </a:solidFill>
            </a:rPr>
            <a:t>S’assurer</a:t>
          </a:r>
          <a:r>
            <a:rPr lang="en-US" sz="1200" kern="1200" dirty="0">
              <a:solidFill>
                <a:srgbClr val="000000"/>
              </a:solidFill>
            </a:rPr>
            <a:t> que </a:t>
          </a:r>
          <a:r>
            <a:rPr lang="en-US" sz="1200" kern="1200" dirty="0" err="1">
              <a:solidFill>
                <a:srgbClr val="000000"/>
              </a:solidFill>
            </a:rPr>
            <a:t>l’approche</a:t>
          </a:r>
          <a:r>
            <a:rPr lang="en-US" sz="1200" kern="1200" dirty="0">
              <a:solidFill>
                <a:srgbClr val="000000"/>
              </a:solidFill>
            </a:rPr>
            <a:t> de la </a:t>
          </a:r>
          <a:r>
            <a:rPr lang="en-US" sz="1200" kern="1200" dirty="0" err="1">
              <a:solidFill>
                <a:srgbClr val="000000"/>
              </a:solidFill>
            </a:rPr>
            <a:t>Banque</a:t>
          </a:r>
          <a:r>
            <a:rPr lang="en-US" sz="1200" kern="1200" dirty="0">
              <a:solidFill>
                <a:srgbClr val="000000"/>
              </a:solidFill>
            </a:rPr>
            <a:t> </a:t>
          </a:r>
          <a:r>
            <a:rPr lang="en-US" sz="1200" kern="1200" dirty="0" err="1">
              <a:solidFill>
                <a:srgbClr val="000000"/>
              </a:solidFill>
            </a:rPr>
            <a:t>est</a:t>
          </a:r>
          <a:r>
            <a:rPr lang="en-US" sz="1200" kern="1200" dirty="0">
              <a:solidFill>
                <a:srgbClr val="000000"/>
              </a:solidFill>
            </a:rPr>
            <a:t> </a:t>
          </a:r>
          <a:r>
            <a:rPr lang="en-US" sz="1200" kern="1200" dirty="0" err="1">
              <a:solidFill>
                <a:srgbClr val="000000"/>
              </a:solidFill>
            </a:rPr>
            <a:t>conforme</a:t>
          </a:r>
          <a:r>
            <a:rPr lang="en-US" sz="1200" kern="1200" dirty="0">
              <a:solidFill>
                <a:srgbClr val="000000"/>
              </a:solidFill>
            </a:rPr>
            <a:t> aux </a:t>
          </a:r>
          <a:r>
            <a:rPr lang="en-US" sz="1200" kern="1200" dirty="0" err="1">
              <a:solidFill>
                <a:srgbClr val="000000"/>
              </a:solidFill>
            </a:rPr>
            <a:t>attentes</a:t>
          </a:r>
          <a:endParaRPr lang="en-US" sz="1200" kern="1200" dirty="0">
            <a:solidFill>
              <a:srgbClr val="000000"/>
            </a:solidFill>
          </a:endParaRPr>
        </a:p>
      </dsp:txBody>
      <dsp:txXfrm>
        <a:off x="5547093" y="95461"/>
        <a:ext cx="1345584" cy="925706"/>
      </dsp:txXfrm>
    </dsp:sp>
    <dsp:sp modelId="{724B635D-F220-47F2-9C34-0C4CB4AFC896}">
      <dsp:nvSpPr>
        <dsp:cNvPr id="0" name=""/>
        <dsp:cNvSpPr/>
      </dsp:nvSpPr>
      <dsp:spPr>
        <a:xfrm>
          <a:off x="7031534" y="95461"/>
          <a:ext cx="2314266" cy="925706"/>
        </a:xfrm>
        <a:prstGeom prst="chevron">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000000"/>
              </a:solidFill>
            </a:rPr>
            <a:t>1ère Consultations </a:t>
          </a:r>
          <a:r>
            <a:rPr lang="en-US" sz="1200" kern="1200" dirty="0" err="1">
              <a:solidFill>
                <a:srgbClr val="000000"/>
              </a:solidFill>
            </a:rPr>
            <a:t>Globales</a:t>
          </a:r>
          <a:r>
            <a:rPr lang="en-US" sz="1200" kern="1200" dirty="0">
              <a:solidFill>
                <a:srgbClr val="000000"/>
              </a:solidFill>
            </a:rPr>
            <a:t> </a:t>
          </a:r>
        </a:p>
      </dsp:txBody>
      <dsp:txXfrm>
        <a:off x="7494387" y="95461"/>
        <a:ext cx="1388560" cy="925706"/>
      </dsp:txXfrm>
    </dsp:sp>
    <dsp:sp modelId="{F0F0A4E5-B7F6-4989-A6E6-242EC01FE4F7}">
      <dsp:nvSpPr>
        <dsp:cNvPr id="0" name=""/>
        <dsp:cNvSpPr/>
      </dsp:nvSpPr>
      <dsp:spPr>
        <a:xfrm>
          <a:off x="2658443" y="1272112"/>
          <a:ext cx="2788272" cy="1115309"/>
        </a:xfrm>
        <a:prstGeom prst="chevr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Proposition Nouveau Cadre 2013</a:t>
          </a:r>
        </a:p>
      </dsp:txBody>
      <dsp:txXfrm>
        <a:off x="3216098" y="1272112"/>
        <a:ext cx="1672963" cy="1115309"/>
      </dsp:txXfrm>
    </dsp:sp>
    <dsp:sp modelId="{AEFC7442-968A-4554-B9DB-7495E2B1D656}">
      <dsp:nvSpPr>
        <dsp:cNvPr id="0" name=""/>
        <dsp:cNvSpPr/>
      </dsp:nvSpPr>
      <dsp:spPr>
        <a:xfrm>
          <a:off x="5084240" y="1366914"/>
          <a:ext cx="2314266" cy="925706"/>
        </a:xfrm>
        <a:prstGeom prst="chevron">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solidFill>
                <a:srgbClr val="000000"/>
              </a:solidFill>
            </a:rPr>
            <a:t>Prise</a:t>
          </a:r>
          <a:r>
            <a:rPr lang="en-US" sz="1200" kern="1200" dirty="0">
              <a:solidFill>
                <a:srgbClr val="000000"/>
              </a:solidFill>
            </a:rPr>
            <a:t> </a:t>
          </a:r>
          <a:r>
            <a:rPr lang="en-US" sz="1200" kern="1200" dirty="0" err="1">
              <a:solidFill>
                <a:srgbClr val="000000"/>
              </a:solidFill>
            </a:rPr>
            <a:t>en</a:t>
          </a:r>
          <a:r>
            <a:rPr lang="en-US" sz="1200" kern="1200" dirty="0">
              <a:solidFill>
                <a:srgbClr val="000000"/>
              </a:solidFill>
            </a:rPr>
            <a:t> </a:t>
          </a:r>
          <a:r>
            <a:rPr lang="en-US" sz="1200" kern="1200" dirty="0" err="1">
              <a:solidFill>
                <a:srgbClr val="000000"/>
              </a:solidFill>
            </a:rPr>
            <a:t>Compte</a:t>
          </a:r>
          <a:r>
            <a:rPr lang="en-US" sz="1200" kern="1200" dirty="0">
              <a:solidFill>
                <a:srgbClr val="000000"/>
              </a:solidFill>
            </a:rPr>
            <a:t> Consultations</a:t>
          </a:r>
        </a:p>
      </dsp:txBody>
      <dsp:txXfrm>
        <a:off x="5547093" y="1366914"/>
        <a:ext cx="1388560" cy="925706"/>
      </dsp:txXfrm>
    </dsp:sp>
    <dsp:sp modelId="{FB566491-D89C-4B75-BC6F-FA616CD525FF}">
      <dsp:nvSpPr>
        <dsp:cNvPr id="0" name=""/>
        <dsp:cNvSpPr/>
      </dsp:nvSpPr>
      <dsp:spPr>
        <a:xfrm>
          <a:off x="7074509" y="1366914"/>
          <a:ext cx="2314266" cy="925706"/>
        </a:xfrm>
        <a:prstGeom prst="chevron">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solidFill>
                <a:srgbClr val="000000"/>
              </a:solidFill>
            </a:rPr>
            <a:t>Conseil</a:t>
          </a:r>
          <a:r>
            <a:rPr lang="en-US" sz="1200" kern="1200" dirty="0">
              <a:solidFill>
                <a:srgbClr val="000000"/>
              </a:solidFill>
            </a:rPr>
            <a:t> </a:t>
          </a:r>
          <a:r>
            <a:rPr lang="en-US" sz="1200" kern="1200" dirty="0" err="1">
              <a:solidFill>
                <a:srgbClr val="000000"/>
              </a:solidFill>
            </a:rPr>
            <a:t>d’administration</a:t>
          </a:r>
          <a:r>
            <a:rPr lang="en-US" sz="1200" kern="1200" dirty="0">
              <a:solidFill>
                <a:srgbClr val="000000"/>
              </a:solidFill>
            </a:rPr>
            <a:t> </a:t>
          </a:r>
          <a:r>
            <a:rPr lang="en-US" sz="1200" kern="1200" dirty="0" err="1">
              <a:solidFill>
                <a:srgbClr val="000000"/>
              </a:solidFill>
            </a:rPr>
            <a:t>approuve</a:t>
          </a:r>
          <a:r>
            <a:rPr lang="en-US" sz="1200" kern="1200" dirty="0">
              <a:solidFill>
                <a:srgbClr val="000000"/>
              </a:solidFill>
            </a:rPr>
            <a:t> </a:t>
          </a:r>
          <a:r>
            <a:rPr lang="en-US" sz="1200" kern="1200" dirty="0" err="1">
              <a:solidFill>
                <a:srgbClr val="000000"/>
              </a:solidFill>
            </a:rPr>
            <a:t>lignes</a:t>
          </a:r>
          <a:r>
            <a:rPr lang="en-US" sz="1200" kern="1200" dirty="0">
              <a:solidFill>
                <a:srgbClr val="000000"/>
              </a:solidFill>
            </a:rPr>
            <a:t> du nouveau Cadre</a:t>
          </a:r>
        </a:p>
      </dsp:txBody>
      <dsp:txXfrm>
        <a:off x="7537362" y="1366914"/>
        <a:ext cx="1388560" cy="925706"/>
      </dsp:txXfrm>
    </dsp:sp>
    <dsp:sp modelId="{AF194330-6800-4DEE-9615-A25336499296}">
      <dsp:nvSpPr>
        <dsp:cNvPr id="0" name=""/>
        <dsp:cNvSpPr/>
      </dsp:nvSpPr>
      <dsp:spPr>
        <a:xfrm>
          <a:off x="2658443" y="2543565"/>
          <a:ext cx="2788272" cy="1115309"/>
        </a:xfrm>
        <a:prstGeom prst="chevr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t>Développement</a:t>
          </a:r>
          <a:r>
            <a:rPr lang="en-US" sz="1800" kern="1200" dirty="0"/>
            <a:t> du Nouveau Cadre 2014</a:t>
          </a:r>
        </a:p>
      </dsp:txBody>
      <dsp:txXfrm>
        <a:off x="3216098" y="2543565"/>
        <a:ext cx="1672963" cy="1115309"/>
      </dsp:txXfrm>
    </dsp:sp>
    <dsp:sp modelId="{00EC4490-8D18-46B9-BB31-64976B908FA4}">
      <dsp:nvSpPr>
        <dsp:cNvPr id="0" name=""/>
        <dsp:cNvSpPr/>
      </dsp:nvSpPr>
      <dsp:spPr>
        <a:xfrm>
          <a:off x="5084240" y="2638366"/>
          <a:ext cx="2314266" cy="925706"/>
        </a:xfrm>
        <a:prstGeom prst="chevron">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solidFill>
                <a:srgbClr val="000000"/>
              </a:solidFill>
            </a:rPr>
            <a:t>Concrétisation</a:t>
          </a:r>
          <a:r>
            <a:rPr lang="en-US" sz="1200" kern="1200" dirty="0">
              <a:solidFill>
                <a:srgbClr val="000000"/>
              </a:solidFill>
            </a:rPr>
            <a:t> des axes et des </a:t>
          </a:r>
          <a:r>
            <a:rPr lang="en-US" sz="1200" kern="1200" dirty="0" err="1">
              <a:solidFill>
                <a:srgbClr val="000000"/>
              </a:solidFill>
            </a:rPr>
            <a:t>principes</a:t>
          </a:r>
          <a:r>
            <a:rPr lang="en-US" sz="1200" kern="1200" dirty="0">
              <a:solidFill>
                <a:srgbClr val="000000"/>
              </a:solidFill>
            </a:rPr>
            <a:t> </a:t>
          </a:r>
        </a:p>
      </dsp:txBody>
      <dsp:txXfrm>
        <a:off x="5547093" y="2638366"/>
        <a:ext cx="1388560" cy="925706"/>
      </dsp:txXfrm>
    </dsp:sp>
    <dsp:sp modelId="{DF238E4E-14F1-4B72-9D2A-788E0F6CF632}">
      <dsp:nvSpPr>
        <dsp:cNvPr id="0" name=""/>
        <dsp:cNvSpPr/>
      </dsp:nvSpPr>
      <dsp:spPr>
        <a:xfrm>
          <a:off x="7074509" y="2638366"/>
          <a:ext cx="2314266" cy="925706"/>
        </a:xfrm>
        <a:prstGeom prst="chevron">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000000"/>
              </a:solidFill>
            </a:rPr>
            <a:t>2ème Consultations </a:t>
          </a:r>
          <a:r>
            <a:rPr lang="en-US" sz="1200" kern="1200" dirty="0" err="1">
              <a:solidFill>
                <a:srgbClr val="000000"/>
              </a:solidFill>
            </a:rPr>
            <a:t>Globales</a:t>
          </a:r>
          <a:endParaRPr lang="en-US" sz="1200" kern="1200" dirty="0">
            <a:solidFill>
              <a:srgbClr val="000000"/>
            </a:solidFill>
          </a:endParaRPr>
        </a:p>
      </dsp:txBody>
      <dsp:txXfrm>
        <a:off x="7537362" y="2638366"/>
        <a:ext cx="1388560" cy="925706"/>
      </dsp:txXfrm>
    </dsp:sp>
    <dsp:sp modelId="{360CCB4E-69BA-4B3A-8A57-242428044785}">
      <dsp:nvSpPr>
        <dsp:cNvPr id="0" name=""/>
        <dsp:cNvSpPr/>
      </dsp:nvSpPr>
      <dsp:spPr>
        <a:xfrm>
          <a:off x="2658443" y="3815017"/>
          <a:ext cx="2788272" cy="1115309"/>
        </a:xfrm>
        <a:prstGeom prst="chevr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t>Finalisation</a:t>
          </a:r>
          <a:r>
            <a:rPr lang="en-US" sz="1800" kern="1200" dirty="0"/>
            <a:t> du Nouveau Cadre 2015</a:t>
          </a:r>
        </a:p>
      </dsp:txBody>
      <dsp:txXfrm>
        <a:off x="3216098" y="3815017"/>
        <a:ext cx="1672963" cy="1115309"/>
      </dsp:txXfrm>
    </dsp:sp>
    <dsp:sp modelId="{5D8CBC1C-2AA1-40E8-A911-65DFF140D272}">
      <dsp:nvSpPr>
        <dsp:cNvPr id="0" name=""/>
        <dsp:cNvSpPr/>
      </dsp:nvSpPr>
      <dsp:spPr>
        <a:xfrm>
          <a:off x="5084240" y="3909818"/>
          <a:ext cx="2314266" cy="925706"/>
        </a:xfrm>
        <a:prstGeom prst="chevron">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solidFill>
                <a:srgbClr val="000000"/>
              </a:solidFill>
            </a:rPr>
            <a:t>Finalisation</a:t>
          </a:r>
          <a:r>
            <a:rPr lang="en-US" sz="1200" kern="1200" dirty="0">
              <a:solidFill>
                <a:srgbClr val="000000"/>
              </a:solidFill>
            </a:rPr>
            <a:t> des documents de </a:t>
          </a:r>
          <a:r>
            <a:rPr lang="en-US" sz="1200" kern="1200" dirty="0" err="1">
              <a:solidFill>
                <a:srgbClr val="000000"/>
              </a:solidFill>
            </a:rPr>
            <a:t>référence</a:t>
          </a:r>
          <a:endParaRPr lang="en-US" sz="1200" kern="1200" dirty="0">
            <a:solidFill>
              <a:srgbClr val="000000"/>
            </a:solidFill>
          </a:endParaRPr>
        </a:p>
      </dsp:txBody>
      <dsp:txXfrm>
        <a:off x="5547093" y="3909818"/>
        <a:ext cx="1388560" cy="925706"/>
      </dsp:txXfrm>
    </dsp:sp>
    <dsp:sp modelId="{A1C75A05-0122-414E-A745-06B2A2D724A1}">
      <dsp:nvSpPr>
        <dsp:cNvPr id="0" name=""/>
        <dsp:cNvSpPr/>
      </dsp:nvSpPr>
      <dsp:spPr>
        <a:xfrm>
          <a:off x="7074509" y="3909818"/>
          <a:ext cx="2314266" cy="925706"/>
        </a:xfrm>
        <a:prstGeom prst="chevron">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000000"/>
              </a:solidFill>
            </a:rPr>
            <a:t>Adoption par le </a:t>
          </a:r>
          <a:r>
            <a:rPr lang="en-US" sz="1200" kern="1200" dirty="0" err="1">
              <a:solidFill>
                <a:srgbClr val="000000"/>
              </a:solidFill>
            </a:rPr>
            <a:t>Conseil</a:t>
          </a:r>
          <a:r>
            <a:rPr lang="en-US" sz="1200" kern="1200" dirty="0">
              <a:solidFill>
                <a:srgbClr val="000000"/>
              </a:solidFill>
            </a:rPr>
            <a:t> pour </a:t>
          </a:r>
          <a:r>
            <a:rPr lang="en-US" sz="1200" kern="1200" dirty="0" err="1">
              <a:solidFill>
                <a:srgbClr val="000000"/>
              </a:solidFill>
            </a:rPr>
            <a:t>mise</a:t>
          </a:r>
          <a:r>
            <a:rPr lang="en-US" sz="1200" kern="1200" dirty="0">
              <a:solidFill>
                <a:srgbClr val="000000"/>
              </a:solidFill>
            </a:rPr>
            <a:t> </a:t>
          </a:r>
          <a:r>
            <a:rPr lang="en-US" sz="1200" kern="1200" dirty="0" err="1">
              <a:solidFill>
                <a:srgbClr val="000000"/>
              </a:solidFill>
            </a:rPr>
            <a:t>en</a:t>
          </a:r>
          <a:r>
            <a:rPr lang="en-US" sz="1200" kern="1200" dirty="0">
              <a:solidFill>
                <a:srgbClr val="000000"/>
              </a:solidFill>
            </a:rPr>
            <a:t> oeuvre </a:t>
          </a:r>
          <a:r>
            <a:rPr lang="en-US" sz="1200" kern="1200" dirty="0" err="1">
              <a:solidFill>
                <a:srgbClr val="000000"/>
              </a:solidFill>
            </a:rPr>
            <a:t>en</a:t>
          </a:r>
          <a:r>
            <a:rPr lang="en-US" sz="1200" kern="1200" dirty="0">
              <a:solidFill>
                <a:srgbClr val="000000"/>
              </a:solidFill>
            </a:rPr>
            <a:t> 2016</a:t>
          </a:r>
        </a:p>
      </dsp:txBody>
      <dsp:txXfrm>
        <a:off x="7537362" y="3909818"/>
        <a:ext cx="1388560" cy="925706"/>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28B341-D3F3-449F-8B66-E6CB3764B095}" type="datetimeFigureOut">
              <a:rPr lang="fr-FR" smtClean="0"/>
              <a:pPr/>
              <a:t>28/02/2026</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2EE75A5-C5B4-413D-AEE1-4C94AF379F9D}" type="slidenum">
              <a:rPr lang="fr-FR" smtClean="0"/>
              <a:pPr/>
              <a:t>‹N°›</a:t>
            </a:fld>
            <a:endParaRPr lang="fr-FR"/>
          </a:p>
        </p:txBody>
      </p:sp>
    </p:spTree>
    <p:extLst>
      <p:ext uri="{BB962C8B-B14F-4D97-AF65-F5344CB8AC3E}">
        <p14:creationId xmlns:p14="http://schemas.microsoft.com/office/powerpoint/2010/main" val="3005676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466A97B-D3E4-4F77-BFB3-AE0F9BD7CB0C}"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4529540"/>
            <a:ext cx="779767" cy="365125"/>
          </a:xfrm>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1461552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466A97B-D3E4-4F77-BFB3-AE0F9BD7CB0C}"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4222085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C466A97B-D3E4-4F77-BFB3-AE0F9BD7CB0C}"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88788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466A97B-D3E4-4F77-BFB3-AE0F9BD7CB0C}"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173578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466A97B-D3E4-4F77-BFB3-AE0F9BD7CB0C}" type="datetimeFigureOut">
              <a:rPr lang="en-US" smtClean="0"/>
              <a:pPr/>
              <a:t>2/28/2026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3410491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466A97B-D3E4-4F77-BFB3-AE0F9BD7CB0C}" type="datetimeFigureOut">
              <a:rPr lang="en-US" smtClean="0"/>
              <a:pPr/>
              <a:t>2/28/2026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810247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6A97B-D3E4-4F77-BFB3-AE0F9BD7CB0C}" type="datetimeFigureOut">
              <a:rPr lang="en-US" smtClean="0"/>
              <a:pPr/>
              <a:t>2/28/2026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3502396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C466A97B-D3E4-4F77-BFB3-AE0F9BD7CB0C}"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2540879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C466A97B-D3E4-4F77-BFB3-AE0F9BD7CB0C}"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4155733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C466A97B-D3E4-4F77-BFB3-AE0F9BD7CB0C}"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1239578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C466A97B-D3E4-4F77-BFB3-AE0F9BD7CB0C}"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6CFBCD4-DAE5-4742-A625-61B90A9EC6C2}" type="slidenum">
              <a:rPr lang="en-US" smtClean="0"/>
              <a:pPr/>
              <a:t>‹N°›</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017429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C466A97B-D3E4-4F77-BFB3-AE0F9BD7CB0C}"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3938759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C466A97B-D3E4-4F77-BFB3-AE0F9BD7CB0C}"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6CFBCD4-DAE5-4742-A625-61B90A9EC6C2}" type="slidenum">
              <a:rPr lang="en-US" smtClean="0"/>
              <a:pPr/>
              <a:t>‹N°›</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97907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C466A97B-D3E4-4F77-BFB3-AE0F9BD7CB0C}"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20741299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466A97B-D3E4-4F77-BFB3-AE0F9BD7CB0C}"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3215824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466A97B-D3E4-4F77-BFB3-AE0F9BD7CB0C}"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6CFBCD4-DAE5-4742-A625-61B90A9EC6C2}" type="slidenum">
              <a:rPr lang="en-US" smtClean="0"/>
              <a:pPr/>
              <a:t>‹N°›</a:t>
            </a:fld>
            <a:endParaRPr lang="en-US"/>
          </a:p>
        </p:txBody>
      </p:sp>
    </p:spTree>
    <p:extLst>
      <p:ext uri="{BB962C8B-B14F-4D97-AF65-F5344CB8AC3E}">
        <p14:creationId xmlns:p14="http://schemas.microsoft.com/office/powerpoint/2010/main" val="430596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fr-FR"/>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fr-FR"/>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fr-FR"/>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fr-FR"/>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fr-FR"/>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fr-FR"/>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fr-FR"/>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fr-FR"/>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fr-FR"/>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fr-FR"/>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fr-FR"/>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fr-FR"/>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fr-FR"/>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fr-FR"/>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fr-FR"/>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fr-FR"/>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fr-FR"/>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fr-FR"/>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fr-FR"/>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fr-FR"/>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fr-FR"/>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fr-FR"/>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fr-FR"/>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fr-FR"/>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466A97B-D3E4-4F77-BFB3-AE0F9BD7CB0C}" type="datetimeFigureOut">
              <a:rPr lang="en-US" smtClean="0"/>
              <a:pPr/>
              <a:t>2/28/2026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6CFBCD4-DAE5-4742-A625-61B90A9EC6C2}" type="slidenum">
              <a:rPr lang="en-US" smtClean="0"/>
              <a:pPr/>
              <a:t>‹N°›</a:t>
            </a:fld>
            <a:endParaRPr lang="en-US"/>
          </a:p>
        </p:txBody>
      </p:sp>
    </p:spTree>
    <p:extLst>
      <p:ext uri="{BB962C8B-B14F-4D97-AF65-F5344CB8AC3E}">
        <p14:creationId xmlns:p14="http://schemas.microsoft.com/office/powerpoint/2010/main" val="378080805"/>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www.worldbank.org/procurement" TargetMode="External"/><Relationship Id="rId2" Type="http://schemas.openxmlformats.org/officeDocument/2006/relationships/hyperlink" Target="mailto:operationshelpdesk@worldbank.org"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0923" y="617917"/>
            <a:ext cx="10064701" cy="3353801"/>
          </a:xfrm>
        </p:spPr>
        <p:txBody>
          <a:bodyPr>
            <a:noAutofit/>
          </a:bodyPr>
          <a:lstStyle/>
          <a:p>
            <a:r>
              <a:rPr lang="en-US" sz="5400" b="1" cap="none" dirty="0">
                <a:ln w="17780" cmpd="sng">
                  <a:solidFill>
                    <a:srgbClr val="FFFFFF"/>
                  </a:solidFill>
                  <a:prstDash val="solid"/>
                  <a:miter lim="800000"/>
                </a:ln>
                <a:solidFill>
                  <a:schemeClr val="tx1"/>
                </a:solidFill>
                <a:latin typeface="+mj-lt"/>
              </a:rPr>
              <a:t>QU’EST CE QUI A CHANGE AVEC LA BANQUE MONDIALE AU NIVEAU DE LA PASSATION DES MARCHÉS  </a:t>
            </a:r>
          </a:p>
        </p:txBody>
      </p:sp>
      <p:grpSp>
        <p:nvGrpSpPr>
          <p:cNvPr id="1026" name="Group 2"/>
          <p:cNvGrpSpPr>
            <a:grpSpLocks/>
          </p:cNvGrpSpPr>
          <p:nvPr/>
        </p:nvGrpSpPr>
        <p:grpSpPr bwMode="auto">
          <a:xfrm>
            <a:off x="7791450" y="4962525"/>
            <a:ext cx="4040798" cy="1113546"/>
            <a:chOff x="2085" y="4500"/>
            <a:chExt cx="9021" cy="2340"/>
          </a:xfrm>
        </p:grpSpPr>
        <p:pic>
          <p:nvPicPr>
            <p:cNvPr id="1027" name="Image 4" descr="C:\Users\tmp_abassabi\Desktop\Akibou BASSABI MOUSSE A\BASS ENTREPRISES\02. BASS COMMUNICATION\07. Samou ADAMBI\la-banque-mondiale-logo.png"/>
            <p:cNvPicPr>
              <a:picLocks noChangeAspect="1" noChangeArrowheads="1"/>
            </p:cNvPicPr>
            <p:nvPr/>
          </p:nvPicPr>
          <p:blipFill>
            <a:blip r:embed="rId2"/>
            <a:srcRect r="50000"/>
            <a:stretch>
              <a:fillRect/>
            </a:stretch>
          </p:blipFill>
          <p:spPr bwMode="auto">
            <a:xfrm>
              <a:off x="2085" y="4500"/>
              <a:ext cx="2340" cy="2340"/>
            </a:xfrm>
            <a:prstGeom prst="rect">
              <a:avLst/>
            </a:prstGeom>
            <a:noFill/>
            <a:ln w="9525">
              <a:noFill/>
              <a:miter lim="800000"/>
              <a:headEnd/>
              <a:tailEnd/>
            </a:ln>
          </p:spPr>
        </p:pic>
        <p:pic>
          <p:nvPicPr>
            <p:cNvPr id="1028" name="Image 3" descr="bm"/>
            <p:cNvPicPr>
              <a:picLocks noChangeAspect="1" noChangeArrowheads="1"/>
            </p:cNvPicPr>
            <p:nvPr/>
          </p:nvPicPr>
          <p:blipFill>
            <a:blip r:embed="rId3"/>
            <a:srcRect l="20850" t="16724" b="15787"/>
            <a:stretch>
              <a:fillRect/>
            </a:stretch>
          </p:blipFill>
          <p:spPr bwMode="auto">
            <a:xfrm>
              <a:off x="4596" y="5010"/>
              <a:ext cx="6510" cy="1110"/>
            </a:xfrm>
            <a:prstGeom prst="rect">
              <a:avLst/>
            </a:prstGeom>
            <a:noFill/>
            <a:ln w="9525">
              <a:noFill/>
              <a:miter lim="800000"/>
              <a:headEnd/>
              <a:tailEnd/>
            </a:ln>
          </p:spPr>
        </p:pic>
      </p:grpSp>
    </p:spTree>
    <p:extLst>
      <p:ext uri="{BB962C8B-B14F-4D97-AF65-F5344CB8AC3E}">
        <p14:creationId xmlns:p14="http://schemas.microsoft.com/office/powerpoint/2010/main" val="1081433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55180" y="257931"/>
            <a:ext cx="4866542" cy="1325563"/>
          </a:xfrm>
        </p:spPr>
        <p:txBody>
          <a:bodyPr>
            <a:noAutofit/>
          </a:bodyPr>
          <a:lstStyle/>
          <a:p>
            <a:r>
              <a:rPr lang="en-US" sz="4400" b="1" dirty="0">
                <a:solidFill>
                  <a:schemeClr val="tx1"/>
                </a:solidFill>
              </a:rPr>
              <a:t>INTRODUCTION</a:t>
            </a:r>
          </a:p>
        </p:txBody>
      </p:sp>
      <p:sp>
        <p:nvSpPr>
          <p:cNvPr id="3" name="Content Placeholder 2"/>
          <p:cNvSpPr>
            <a:spLocks noGrp="1"/>
          </p:cNvSpPr>
          <p:nvPr>
            <p:ph idx="1"/>
          </p:nvPr>
        </p:nvSpPr>
        <p:spPr>
          <a:xfrm>
            <a:off x="511712" y="1583494"/>
            <a:ext cx="11510010" cy="4754880"/>
          </a:xfrm>
        </p:spPr>
        <p:txBody>
          <a:bodyPr>
            <a:normAutofit/>
          </a:bodyPr>
          <a:lstStyle/>
          <a:p>
            <a:pPr marL="514350" indent="-514350">
              <a:buFont typeface="+mj-lt"/>
              <a:buAutoNum type="arabicPeriod"/>
            </a:pPr>
            <a:r>
              <a:rPr lang="en-US" dirty="0" err="1"/>
              <a:t>Pourquoi</a:t>
            </a:r>
            <a:r>
              <a:rPr lang="en-US" dirty="0"/>
              <a:t> un nouveau cadre de </a:t>
            </a:r>
            <a:r>
              <a:rPr lang="en-US" dirty="0" err="1"/>
              <a:t>passation</a:t>
            </a:r>
            <a:r>
              <a:rPr lang="en-US" dirty="0"/>
              <a:t> ?</a:t>
            </a:r>
          </a:p>
          <a:p>
            <a:pPr marL="514350" indent="-514350">
              <a:buFont typeface="+mj-lt"/>
              <a:buAutoNum type="arabicPeriod"/>
            </a:pPr>
            <a:r>
              <a:rPr lang="en-US" dirty="0" err="1"/>
              <a:t>Quel</a:t>
            </a:r>
            <a:r>
              <a:rPr lang="en-US" dirty="0"/>
              <a:t> a </a:t>
            </a:r>
            <a:r>
              <a:rPr lang="en-US" dirty="0" err="1"/>
              <a:t>été</a:t>
            </a:r>
            <a:r>
              <a:rPr lang="en-US" dirty="0"/>
              <a:t> le </a:t>
            </a:r>
            <a:r>
              <a:rPr lang="en-US" dirty="0" err="1"/>
              <a:t>processus</a:t>
            </a:r>
            <a:r>
              <a:rPr lang="en-US" dirty="0"/>
              <a:t> </a:t>
            </a:r>
            <a:r>
              <a:rPr lang="en-US" dirty="0" err="1"/>
              <a:t>d’adoption</a:t>
            </a:r>
            <a:r>
              <a:rPr lang="en-US" dirty="0"/>
              <a:t> du nouveau cadre (2012-2016)</a:t>
            </a:r>
          </a:p>
          <a:p>
            <a:pPr marL="514350" indent="-514350">
              <a:buFont typeface="+mj-lt"/>
              <a:buAutoNum type="arabicPeriod"/>
            </a:pPr>
            <a:r>
              <a:rPr lang="en-US" dirty="0" err="1"/>
              <a:t>Quand</a:t>
            </a:r>
            <a:r>
              <a:rPr lang="en-US" dirty="0"/>
              <a:t> entre-t-</a:t>
            </a:r>
            <a:r>
              <a:rPr lang="en-US" dirty="0" err="1"/>
              <a:t>il</a:t>
            </a:r>
            <a:r>
              <a:rPr lang="en-US" dirty="0"/>
              <a:t> </a:t>
            </a:r>
            <a:r>
              <a:rPr lang="en-US" dirty="0" err="1"/>
              <a:t>en</a:t>
            </a:r>
            <a:r>
              <a:rPr lang="en-US" dirty="0"/>
              <a:t> </a:t>
            </a:r>
            <a:r>
              <a:rPr lang="en-US" dirty="0" err="1"/>
              <a:t>vigueur</a:t>
            </a:r>
            <a:r>
              <a:rPr lang="en-US" dirty="0"/>
              <a:t> ?</a:t>
            </a:r>
          </a:p>
          <a:p>
            <a:pPr marL="514350" indent="-514350">
              <a:buFont typeface="+mj-lt"/>
              <a:buAutoNum type="arabicPeriod"/>
            </a:pPr>
            <a:r>
              <a:rPr lang="en-US" dirty="0" err="1"/>
              <a:t>Quel</a:t>
            </a:r>
            <a:r>
              <a:rPr lang="en-US" dirty="0"/>
              <a:t> </a:t>
            </a:r>
            <a:r>
              <a:rPr lang="en-US" dirty="0" err="1"/>
              <a:t>est</a:t>
            </a:r>
            <a:r>
              <a:rPr lang="en-US" dirty="0"/>
              <a:t> le champ </a:t>
            </a:r>
            <a:r>
              <a:rPr lang="en-US" dirty="0" err="1"/>
              <a:t>d’application</a:t>
            </a:r>
            <a:r>
              <a:rPr lang="en-US" dirty="0"/>
              <a:t> ?</a:t>
            </a:r>
          </a:p>
          <a:p>
            <a:pPr marL="514350" indent="-514350">
              <a:buFont typeface="+mj-lt"/>
              <a:buAutoNum type="arabicPeriod"/>
            </a:pPr>
            <a:r>
              <a:rPr lang="en-US" dirty="0"/>
              <a:t>La structure de </a:t>
            </a:r>
            <a:r>
              <a:rPr lang="en-US" dirty="0" err="1"/>
              <a:t>décision</a:t>
            </a:r>
            <a:r>
              <a:rPr lang="en-US" dirty="0"/>
              <a:t> et de modification du cadre</a:t>
            </a:r>
          </a:p>
          <a:p>
            <a:pPr marL="514350" indent="-514350">
              <a:buFont typeface="+mj-lt"/>
              <a:buAutoNum type="arabicPeriod"/>
            </a:pPr>
            <a:r>
              <a:rPr lang="en-US" dirty="0"/>
              <a:t>Le </a:t>
            </a:r>
            <a:r>
              <a:rPr lang="en-US" dirty="0" err="1"/>
              <a:t>rôle</a:t>
            </a:r>
            <a:r>
              <a:rPr lang="en-US" dirty="0"/>
              <a:t> des </a:t>
            </a:r>
            <a:r>
              <a:rPr lang="en-US" dirty="0" err="1"/>
              <a:t>Emprunteurs</a:t>
            </a:r>
            <a:endParaRPr lang="en-US" dirty="0"/>
          </a:p>
          <a:p>
            <a:pPr marL="514350" indent="-514350">
              <a:buFont typeface="+mj-lt"/>
              <a:buAutoNum type="arabicPeriod"/>
            </a:pPr>
            <a:r>
              <a:rPr lang="en-US" dirty="0"/>
              <a:t>Le </a:t>
            </a:r>
            <a:r>
              <a:rPr lang="en-US" dirty="0" err="1"/>
              <a:t>rôle</a:t>
            </a:r>
            <a:r>
              <a:rPr lang="en-US" dirty="0"/>
              <a:t> de la </a:t>
            </a:r>
            <a:r>
              <a:rPr lang="en-US" dirty="0" err="1"/>
              <a:t>Banque</a:t>
            </a:r>
            <a:endParaRPr lang="en-US" dirty="0"/>
          </a:p>
        </p:txBody>
      </p:sp>
    </p:spTree>
    <p:extLst>
      <p:ext uri="{BB962C8B-B14F-4D97-AF65-F5344CB8AC3E}">
        <p14:creationId xmlns:p14="http://schemas.microsoft.com/office/powerpoint/2010/main" val="2480878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84209" y="262891"/>
            <a:ext cx="8227682" cy="1004888"/>
          </a:xfrm>
        </p:spPr>
        <p:txBody>
          <a:bodyPr>
            <a:noAutofit/>
          </a:bodyPr>
          <a:lstStyle/>
          <a:p>
            <a:r>
              <a:rPr lang="en-US" sz="4000" b="1" dirty="0">
                <a:solidFill>
                  <a:schemeClr val="tx1"/>
                </a:solidFill>
              </a:rPr>
              <a:t>CARACTÉRISTIQUES PRINCIPALES</a:t>
            </a:r>
          </a:p>
        </p:txBody>
      </p:sp>
      <p:sp>
        <p:nvSpPr>
          <p:cNvPr id="3" name="Content Placeholder 2"/>
          <p:cNvSpPr>
            <a:spLocks noGrp="1"/>
          </p:cNvSpPr>
          <p:nvPr>
            <p:ph idx="1"/>
          </p:nvPr>
        </p:nvSpPr>
        <p:spPr>
          <a:xfrm>
            <a:off x="594360" y="1485900"/>
            <a:ext cx="11417531" cy="4960620"/>
          </a:xfrm>
        </p:spPr>
        <p:txBody>
          <a:bodyPr>
            <a:normAutofit fontScale="62500" lnSpcReduction="20000"/>
          </a:bodyPr>
          <a:lstStyle/>
          <a:p>
            <a:pPr marL="514350" indent="-514350">
              <a:buFont typeface="+mj-lt"/>
              <a:buAutoNum type="arabicPeriod"/>
            </a:pPr>
            <a:r>
              <a:rPr lang="en-US" sz="4200" dirty="0"/>
              <a:t>La vision et le concept de base du nouveau cadre</a:t>
            </a:r>
          </a:p>
          <a:p>
            <a:pPr marL="514350" indent="-514350">
              <a:buFont typeface="+mj-lt"/>
              <a:buAutoNum type="arabicPeriod"/>
            </a:pPr>
            <a:r>
              <a:rPr lang="en-US" sz="4200" dirty="0"/>
              <a:t>Les </a:t>
            </a:r>
            <a:r>
              <a:rPr lang="en-US" sz="4200" dirty="0" err="1"/>
              <a:t>principes</a:t>
            </a:r>
            <a:r>
              <a:rPr lang="en-US" sz="4200" dirty="0"/>
              <a:t> </a:t>
            </a:r>
            <a:r>
              <a:rPr lang="en-US" sz="4200" dirty="0" err="1"/>
              <a:t>applicables</a:t>
            </a:r>
            <a:endParaRPr lang="en-US" sz="4200" dirty="0"/>
          </a:p>
          <a:p>
            <a:pPr marL="514350" indent="-514350">
              <a:buFont typeface="+mj-lt"/>
              <a:buAutoNum type="arabicPeriod"/>
            </a:pPr>
            <a:r>
              <a:rPr lang="en-US" sz="4200" dirty="0" err="1"/>
              <a:t>Stratégie</a:t>
            </a:r>
            <a:r>
              <a:rPr lang="en-US" sz="4200" dirty="0"/>
              <a:t> de </a:t>
            </a:r>
            <a:r>
              <a:rPr lang="en-US" sz="4200" dirty="0" err="1"/>
              <a:t>passation</a:t>
            </a:r>
            <a:r>
              <a:rPr lang="en-US" sz="4200" dirty="0"/>
              <a:t> des </a:t>
            </a:r>
            <a:r>
              <a:rPr lang="en-US" sz="4200" dirty="0" err="1"/>
              <a:t>marchés</a:t>
            </a:r>
            <a:r>
              <a:rPr lang="en-US" sz="4200" dirty="0"/>
              <a:t> du </a:t>
            </a:r>
            <a:r>
              <a:rPr lang="en-US" sz="4200" dirty="0" err="1"/>
              <a:t>projet</a:t>
            </a:r>
            <a:r>
              <a:rPr lang="en-US" sz="4200" dirty="0"/>
              <a:t> (</a:t>
            </a:r>
            <a:r>
              <a:rPr lang="en-US" sz="4200" dirty="0" err="1"/>
              <a:t>PPSD</a:t>
            </a:r>
            <a:r>
              <a:rPr lang="en-US" sz="4200" dirty="0"/>
              <a:t>)</a:t>
            </a:r>
          </a:p>
          <a:p>
            <a:pPr marL="514350" indent="-514350">
              <a:buFont typeface="+mj-lt"/>
              <a:buAutoNum type="arabicPeriod"/>
            </a:pPr>
            <a:r>
              <a:rPr lang="en-US" sz="4200" dirty="0" err="1"/>
              <a:t>Suivi</a:t>
            </a:r>
            <a:r>
              <a:rPr lang="en-US" sz="4200" dirty="0"/>
              <a:t> </a:t>
            </a:r>
            <a:r>
              <a:rPr lang="en-US" sz="4200" dirty="0" err="1"/>
              <a:t>systématique</a:t>
            </a:r>
            <a:r>
              <a:rPr lang="en-US" sz="4200" dirty="0"/>
              <a:t> des transactions de </a:t>
            </a:r>
            <a:r>
              <a:rPr lang="en-US" sz="4200" dirty="0" err="1"/>
              <a:t>marchés</a:t>
            </a:r>
            <a:r>
              <a:rPr lang="en-US" sz="4200" dirty="0"/>
              <a:t> publics (STEP)</a:t>
            </a:r>
          </a:p>
          <a:p>
            <a:pPr marL="514350" indent="-514350">
              <a:buFont typeface="+mj-lt"/>
              <a:buAutoNum type="arabicPeriod"/>
            </a:pPr>
            <a:r>
              <a:rPr lang="en-US" sz="4200" dirty="0"/>
              <a:t>Arrangements </a:t>
            </a:r>
            <a:r>
              <a:rPr lang="en-US" sz="4200" dirty="0" err="1"/>
              <a:t>Alternatifs</a:t>
            </a:r>
            <a:r>
              <a:rPr lang="en-US" sz="4200" dirty="0"/>
              <a:t> de </a:t>
            </a:r>
            <a:r>
              <a:rPr lang="en-US" sz="4200" dirty="0" err="1"/>
              <a:t>passation</a:t>
            </a:r>
            <a:r>
              <a:rPr lang="en-US" sz="4200" dirty="0"/>
              <a:t> des </a:t>
            </a:r>
            <a:r>
              <a:rPr lang="en-US" sz="4200" dirty="0" err="1"/>
              <a:t>marchés</a:t>
            </a:r>
            <a:r>
              <a:rPr lang="en-US" sz="4200" dirty="0"/>
              <a:t> (</a:t>
            </a:r>
            <a:r>
              <a:rPr lang="en-US" sz="4200" dirty="0" err="1"/>
              <a:t>APAs</a:t>
            </a:r>
            <a:r>
              <a:rPr lang="en-US" sz="4200" dirty="0"/>
              <a:t>)</a:t>
            </a:r>
          </a:p>
          <a:p>
            <a:pPr marL="514350" indent="-514350">
              <a:buFont typeface="+mj-lt"/>
              <a:buAutoNum type="arabicPeriod"/>
            </a:pPr>
            <a:r>
              <a:rPr lang="en-US" sz="4200" dirty="0"/>
              <a:t>Introduction de </a:t>
            </a:r>
            <a:r>
              <a:rPr lang="en-US" sz="4200" dirty="0" err="1"/>
              <a:t>critères</a:t>
            </a:r>
            <a:r>
              <a:rPr lang="en-US" sz="4200" dirty="0"/>
              <a:t> </a:t>
            </a:r>
            <a:r>
              <a:rPr lang="en-US" sz="4200" dirty="0" err="1"/>
              <a:t>qualitatifs</a:t>
            </a:r>
            <a:r>
              <a:rPr lang="en-US" sz="4200" dirty="0"/>
              <a:t> (y </a:t>
            </a:r>
            <a:r>
              <a:rPr lang="en-US" sz="4200" dirty="0" err="1"/>
              <a:t>compris</a:t>
            </a:r>
            <a:r>
              <a:rPr lang="en-US" sz="4200" dirty="0"/>
              <a:t> socio-</a:t>
            </a:r>
            <a:r>
              <a:rPr lang="en-US" sz="4200" dirty="0" err="1"/>
              <a:t>environnementaux</a:t>
            </a:r>
            <a:r>
              <a:rPr lang="en-US" sz="4200" dirty="0"/>
              <a:t>) </a:t>
            </a:r>
            <a:r>
              <a:rPr lang="en-US" sz="4200" dirty="0" err="1"/>
              <a:t>dans</a:t>
            </a:r>
            <a:r>
              <a:rPr lang="en-US" sz="4200" dirty="0"/>
              <a:t> les </a:t>
            </a:r>
            <a:r>
              <a:rPr lang="en-US" sz="4200" dirty="0" err="1"/>
              <a:t>procédures</a:t>
            </a:r>
            <a:r>
              <a:rPr lang="en-US" sz="4200" dirty="0"/>
              <a:t> </a:t>
            </a:r>
            <a:r>
              <a:rPr lang="en-US" sz="4200" dirty="0" err="1"/>
              <a:t>d’évaluation</a:t>
            </a:r>
            <a:endParaRPr lang="en-US" sz="4200" dirty="0"/>
          </a:p>
          <a:p>
            <a:pPr marL="514350" indent="-514350">
              <a:buFont typeface="+mj-lt"/>
              <a:buAutoNum type="arabicPeriod"/>
            </a:pPr>
            <a:r>
              <a:rPr lang="en-US" sz="4200" dirty="0"/>
              <a:t>Assistance </a:t>
            </a:r>
            <a:r>
              <a:rPr lang="en-US" sz="4200" dirty="0" err="1"/>
              <a:t>Directe</a:t>
            </a:r>
            <a:r>
              <a:rPr lang="en-US" sz="4200" dirty="0"/>
              <a:t> à la </a:t>
            </a:r>
            <a:r>
              <a:rPr lang="en-US" sz="4200" dirty="0" err="1"/>
              <a:t>Mise</a:t>
            </a:r>
            <a:r>
              <a:rPr lang="en-US" sz="4200" dirty="0"/>
              <a:t> </a:t>
            </a:r>
            <a:r>
              <a:rPr lang="en-US" sz="4200" dirty="0" err="1"/>
              <a:t>en</a:t>
            </a:r>
            <a:r>
              <a:rPr lang="en-US" sz="4200" dirty="0"/>
              <a:t> oeuvre (</a:t>
            </a:r>
            <a:r>
              <a:rPr lang="en-US" sz="4200" dirty="0" err="1"/>
              <a:t>HEIS</a:t>
            </a:r>
            <a:r>
              <a:rPr lang="en-US" sz="4200" dirty="0"/>
              <a:t>)</a:t>
            </a:r>
          </a:p>
          <a:p>
            <a:pPr marL="514350" indent="-514350">
              <a:buFont typeface="+mj-lt"/>
              <a:buAutoNum type="arabicPeriod"/>
            </a:pPr>
            <a:r>
              <a:rPr lang="en-US" sz="4200" dirty="0" err="1"/>
              <a:t>Plaintes</a:t>
            </a:r>
            <a:r>
              <a:rPr lang="en-US" sz="4200" dirty="0"/>
              <a:t> et </a:t>
            </a:r>
            <a:r>
              <a:rPr lang="en-US" sz="4200" dirty="0" err="1"/>
              <a:t>demandes</a:t>
            </a:r>
            <a:r>
              <a:rPr lang="en-US" sz="4200" dirty="0"/>
              <a:t> de </a:t>
            </a:r>
            <a:r>
              <a:rPr lang="en-US" sz="4200" dirty="0" err="1"/>
              <a:t>débriefings</a:t>
            </a:r>
            <a:r>
              <a:rPr lang="en-US" sz="4200" dirty="0"/>
              <a:t> </a:t>
            </a:r>
          </a:p>
          <a:p>
            <a:pPr marL="514350" indent="-514350">
              <a:buFont typeface="+mj-lt"/>
              <a:buAutoNum type="arabicPeriod"/>
            </a:pPr>
            <a:r>
              <a:rPr lang="en-US" sz="4200" dirty="0" err="1"/>
              <a:t>Cas</a:t>
            </a:r>
            <a:r>
              <a:rPr lang="en-US" sz="4200" dirty="0"/>
              <a:t> du non-respect du cadre par les </a:t>
            </a:r>
            <a:r>
              <a:rPr lang="en-US" sz="4200" dirty="0" err="1"/>
              <a:t>Emprunteurs</a:t>
            </a:r>
            <a:endParaRPr lang="en-US" sz="4200" dirty="0"/>
          </a:p>
          <a:p>
            <a:endParaRPr lang="en-US" dirty="0"/>
          </a:p>
          <a:p>
            <a:endParaRPr lang="en-US" dirty="0"/>
          </a:p>
        </p:txBody>
      </p:sp>
    </p:spTree>
    <p:extLst>
      <p:ext uri="{BB962C8B-B14F-4D97-AF65-F5344CB8AC3E}">
        <p14:creationId xmlns:p14="http://schemas.microsoft.com/office/powerpoint/2010/main" val="812463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2368" y="418374"/>
            <a:ext cx="10911707" cy="1325563"/>
          </a:xfrm>
        </p:spPr>
        <p:txBody>
          <a:bodyPr>
            <a:normAutofit/>
          </a:bodyPr>
          <a:lstStyle/>
          <a:p>
            <a:r>
              <a:rPr lang="en-US" sz="4000" dirty="0">
                <a:solidFill>
                  <a:schemeClr val="tx1"/>
                </a:solidFill>
              </a:rPr>
              <a:t>1</a:t>
            </a:r>
            <a:r>
              <a:rPr lang="en-US" dirty="0">
                <a:solidFill>
                  <a:schemeClr val="tx1"/>
                </a:solidFill>
              </a:rPr>
              <a:t>. NOUVEAU CADRE DE PASSATION: POURQUOI ?</a:t>
            </a:r>
          </a:p>
        </p:txBody>
      </p:sp>
      <p:sp>
        <p:nvSpPr>
          <p:cNvPr id="3" name="Content Placeholder 2"/>
          <p:cNvSpPr>
            <a:spLocks noGrp="1"/>
          </p:cNvSpPr>
          <p:nvPr>
            <p:ph idx="1"/>
          </p:nvPr>
        </p:nvSpPr>
        <p:spPr>
          <a:xfrm>
            <a:off x="588658" y="1673599"/>
            <a:ext cx="10515600" cy="4523220"/>
          </a:xfrm>
        </p:spPr>
        <p:txBody>
          <a:bodyPr>
            <a:normAutofit/>
          </a:bodyPr>
          <a:lstStyle/>
          <a:p>
            <a:r>
              <a:rPr lang="fr-FR" dirty="0"/>
              <a:t>Des principes et des normes de passation des marchés publics établis depuis plus de 50 ans;</a:t>
            </a:r>
          </a:p>
          <a:p>
            <a:r>
              <a:rPr lang="fr-FR" dirty="0"/>
              <a:t>Normes de passation applicables à des pays avec des niveaux variables de développement (pays OCDE, à revenus intermédiaires, en voie de développement)</a:t>
            </a:r>
          </a:p>
          <a:p>
            <a:r>
              <a:rPr lang="fr-FR" dirty="0"/>
              <a:t>Globalisation de l’offre et de la demande en matière de marchés publics;</a:t>
            </a:r>
          </a:p>
          <a:p>
            <a:r>
              <a:rPr lang="fr-FR" dirty="0"/>
              <a:t>Financement d’opérations de plus en plus complexes et variées;  </a:t>
            </a:r>
          </a:p>
          <a:p>
            <a:r>
              <a:rPr lang="fr-FR" dirty="0"/>
              <a:t>Augmentation d’opérations </a:t>
            </a:r>
            <a:r>
              <a:rPr lang="fr-FR" dirty="0" err="1"/>
              <a:t>co-financées</a:t>
            </a:r>
            <a:r>
              <a:rPr lang="fr-FR" dirty="0"/>
              <a:t> ou multi-financées;</a:t>
            </a:r>
          </a:p>
          <a:p>
            <a:r>
              <a:rPr lang="fr-FR" dirty="0"/>
              <a:t>Besoin d’innovation et de prise en compte des spécificités des opérations;</a:t>
            </a:r>
          </a:p>
          <a:p>
            <a:r>
              <a:rPr lang="fr-FR" dirty="0"/>
              <a:t>Développement de systèmes nationaux de passation en conformité avec les bonnes  pratiques internationales.</a:t>
            </a:r>
          </a:p>
        </p:txBody>
      </p:sp>
    </p:spTree>
    <p:extLst>
      <p:ext uri="{BB962C8B-B14F-4D97-AF65-F5344CB8AC3E}">
        <p14:creationId xmlns:p14="http://schemas.microsoft.com/office/powerpoint/2010/main" val="419417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9150" y="235240"/>
            <a:ext cx="11910646" cy="965950"/>
          </a:xfrm>
        </p:spPr>
        <p:txBody>
          <a:bodyPr>
            <a:noAutofit/>
          </a:bodyPr>
          <a:lstStyle/>
          <a:p>
            <a:pPr algn="r"/>
            <a:r>
              <a:rPr lang="en-US" dirty="0">
                <a:solidFill>
                  <a:schemeClr val="tx1"/>
                </a:solidFill>
              </a:rPr>
              <a:t>2. ADOPTION DU NOUVEAU CADRE DE PASSATION</a:t>
            </a:r>
          </a:p>
        </p:txBody>
      </p:sp>
      <p:graphicFrame>
        <p:nvGraphicFramePr>
          <p:cNvPr id="5" name="Diagram 4"/>
          <p:cNvGraphicFramePr/>
          <p:nvPr>
            <p:extLst>
              <p:ext uri="{D42A27DB-BD31-4B8C-83A1-F6EECF244321}">
                <p14:modId xmlns:p14="http://schemas.microsoft.com/office/powerpoint/2010/main" val="2607295698"/>
              </p:ext>
            </p:extLst>
          </p:nvPr>
        </p:nvGraphicFramePr>
        <p:xfrm>
          <a:off x="0" y="1675553"/>
          <a:ext cx="12047220" cy="49309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6830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14868" y="217096"/>
            <a:ext cx="5552342" cy="933738"/>
          </a:xfrm>
        </p:spPr>
        <p:txBody>
          <a:bodyPr>
            <a:normAutofit fontScale="90000"/>
          </a:bodyPr>
          <a:lstStyle/>
          <a:p>
            <a:r>
              <a:rPr lang="en-US" sz="4000" dirty="0">
                <a:solidFill>
                  <a:schemeClr val="tx1"/>
                </a:solidFill>
              </a:rPr>
              <a:t>3. ENTRÉE EN VIGUEUR  </a:t>
            </a:r>
          </a:p>
        </p:txBody>
      </p:sp>
      <p:sp>
        <p:nvSpPr>
          <p:cNvPr id="3" name="Content Placeholder 2"/>
          <p:cNvSpPr>
            <a:spLocks noGrp="1"/>
          </p:cNvSpPr>
          <p:nvPr>
            <p:ph idx="1"/>
          </p:nvPr>
        </p:nvSpPr>
        <p:spPr>
          <a:xfrm>
            <a:off x="320040" y="1319646"/>
            <a:ext cx="10940242" cy="5195454"/>
          </a:xfrm>
        </p:spPr>
        <p:txBody>
          <a:bodyPr>
            <a:normAutofit fontScale="92500" lnSpcReduction="10000"/>
          </a:bodyPr>
          <a:lstStyle/>
          <a:p>
            <a:pPr marL="0" indent="0">
              <a:buNone/>
            </a:pPr>
            <a:r>
              <a:rPr lang="en-US" sz="3500" dirty="0"/>
              <a:t>1er </a:t>
            </a:r>
            <a:r>
              <a:rPr lang="en-US" sz="3500" dirty="0" err="1"/>
              <a:t>Juillet</a:t>
            </a:r>
            <a:r>
              <a:rPr lang="en-US" sz="3500" dirty="0"/>
              <a:t> 2016</a:t>
            </a:r>
          </a:p>
          <a:p>
            <a:r>
              <a:rPr lang="en-US" dirty="0"/>
              <a:t>Tout nouveau </a:t>
            </a:r>
            <a:r>
              <a:rPr lang="en-US" dirty="0" err="1"/>
              <a:t>projet</a:t>
            </a:r>
            <a:r>
              <a:rPr lang="en-US" dirty="0"/>
              <a:t> </a:t>
            </a:r>
            <a:r>
              <a:rPr lang="en-US" dirty="0" err="1"/>
              <a:t>d’investissement</a:t>
            </a:r>
            <a:r>
              <a:rPr lang="en-US" dirty="0"/>
              <a:t> </a:t>
            </a:r>
            <a:r>
              <a:rPr lang="en-US" dirty="0" err="1"/>
              <a:t>dont</a:t>
            </a:r>
            <a:r>
              <a:rPr lang="en-US" dirty="0"/>
              <a:t> la note de conception </a:t>
            </a:r>
            <a:r>
              <a:rPr lang="en-US" dirty="0" err="1"/>
              <a:t>intervient</a:t>
            </a:r>
            <a:r>
              <a:rPr lang="en-US" dirty="0"/>
              <a:t> </a:t>
            </a:r>
            <a:r>
              <a:rPr lang="en-US" b="1" u="sng" dirty="0"/>
              <a:t>à </a:t>
            </a:r>
            <a:r>
              <a:rPr lang="en-US" b="1" u="sng" dirty="0" err="1"/>
              <a:t>partir</a:t>
            </a:r>
            <a:r>
              <a:rPr lang="en-US" b="1" u="sng" dirty="0"/>
              <a:t> du 1er </a:t>
            </a:r>
            <a:r>
              <a:rPr lang="en-US" b="1" u="sng" dirty="0" err="1"/>
              <a:t>juillet</a:t>
            </a:r>
            <a:r>
              <a:rPr lang="en-US" b="1" u="sng" dirty="0"/>
              <a:t> 2016 </a:t>
            </a:r>
            <a:r>
              <a:rPr lang="en-US" dirty="0" err="1"/>
              <a:t>est</a:t>
            </a:r>
            <a:r>
              <a:rPr lang="en-US" dirty="0"/>
              <a:t> </a:t>
            </a:r>
            <a:r>
              <a:rPr lang="en-US" dirty="0" err="1"/>
              <a:t>soumis</a:t>
            </a:r>
            <a:r>
              <a:rPr lang="en-US" dirty="0"/>
              <a:t> au nouveau cadre des </a:t>
            </a:r>
            <a:r>
              <a:rPr lang="en-US" dirty="0" err="1"/>
              <a:t>marchés</a:t>
            </a:r>
            <a:r>
              <a:rPr lang="en-US" dirty="0"/>
              <a:t> publics;</a:t>
            </a:r>
          </a:p>
          <a:p>
            <a:r>
              <a:rPr lang="en-US" dirty="0" err="1"/>
              <a:t>Financements</a:t>
            </a:r>
            <a:r>
              <a:rPr lang="en-US" dirty="0"/>
              <a:t> </a:t>
            </a:r>
            <a:r>
              <a:rPr lang="en-US" dirty="0" err="1"/>
              <a:t>Additionnels</a:t>
            </a:r>
            <a:r>
              <a:rPr lang="en-US" dirty="0"/>
              <a:t> </a:t>
            </a:r>
            <a:r>
              <a:rPr lang="en-US" dirty="0" err="1"/>
              <a:t>dont</a:t>
            </a:r>
            <a:r>
              <a:rPr lang="en-US" dirty="0"/>
              <a:t> la note de conception </a:t>
            </a:r>
            <a:r>
              <a:rPr lang="en-US" dirty="0" err="1"/>
              <a:t>intervient</a:t>
            </a:r>
            <a:r>
              <a:rPr lang="en-US" dirty="0"/>
              <a:t> à partir de </a:t>
            </a:r>
            <a:r>
              <a:rPr lang="en-US" dirty="0" err="1"/>
              <a:t>cette</a:t>
            </a:r>
            <a:r>
              <a:rPr lang="en-US" dirty="0"/>
              <a:t> date </a:t>
            </a:r>
            <a:r>
              <a:rPr lang="en-US" dirty="0" err="1"/>
              <a:t>sont</a:t>
            </a:r>
            <a:r>
              <a:rPr lang="en-US" dirty="0"/>
              <a:t> </a:t>
            </a:r>
            <a:r>
              <a:rPr lang="en-US" dirty="0" err="1"/>
              <a:t>également</a:t>
            </a:r>
            <a:r>
              <a:rPr lang="en-US" dirty="0"/>
              <a:t> </a:t>
            </a:r>
            <a:r>
              <a:rPr lang="en-US" dirty="0" err="1"/>
              <a:t>soumis</a:t>
            </a:r>
            <a:r>
              <a:rPr lang="en-US" dirty="0"/>
              <a:t> au nouveau cadre. </a:t>
            </a:r>
          </a:p>
          <a:p>
            <a:pPr marL="457200" lvl="1" indent="0">
              <a:buNone/>
            </a:pPr>
            <a:r>
              <a:rPr lang="en-US" dirty="0"/>
              <a:t>(</a:t>
            </a:r>
            <a:r>
              <a:rPr lang="en-US" dirty="0" err="1"/>
              <a:t>sauf</a:t>
            </a:r>
            <a:r>
              <a:rPr lang="en-US" dirty="0"/>
              <a:t> </a:t>
            </a:r>
            <a:r>
              <a:rPr lang="en-US" dirty="0" err="1"/>
              <a:t>cas</a:t>
            </a:r>
            <a:r>
              <a:rPr lang="en-US" dirty="0"/>
              <a:t> </a:t>
            </a:r>
            <a:r>
              <a:rPr lang="en-US" dirty="0" err="1"/>
              <a:t>exceptionnels</a:t>
            </a:r>
            <a:r>
              <a:rPr lang="en-US" dirty="0"/>
              <a:t>)</a:t>
            </a:r>
          </a:p>
          <a:p>
            <a:pPr lvl="1"/>
            <a:endParaRPr lang="en-US" dirty="0"/>
          </a:p>
          <a:p>
            <a:r>
              <a:rPr lang="en-US" dirty="0"/>
              <a:t>Exceptions:</a:t>
            </a:r>
          </a:p>
          <a:p>
            <a:pPr lvl="1">
              <a:lnSpc>
                <a:spcPct val="120000"/>
              </a:lnSpc>
            </a:pPr>
            <a:r>
              <a:rPr lang="en-US" sz="2600" dirty="0" err="1"/>
              <a:t>Projets</a:t>
            </a:r>
            <a:r>
              <a:rPr lang="en-US" sz="2600" dirty="0"/>
              <a:t> </a:t>
            </a:r>
            <a:r>
              <a:rPr lang="en-US" sz="2600" dirty="0" err="1"/>
              <a:t>en</a:t>
            </a:r>
            <a:r>
              <a:rPr lang="en-US" sz="2600" dirty="0"/>
              <a:t> </a:t>
            </a:r>
            <a:r>
              <a:rPr lang="en-US" sz="2600" dirty="0" err="1"/>
              <a:t>préparation</a:t>
            </a:r>
            <a:r>
              <a:rPr lang="en-US" sz="2600" dirty="0"/>
              <a:t> </a:t>
            </a:r>
            <a:r>
              <a:rPr lang="en-US" sz="2600" dirty="0" err="1"/>
              <a:t>avant</a:t>
            </a:r>
            <a:r>
              <a:rPr lang="en-US" sz="2600" dirty="0"/>
              <a:t> </a:t>
            </a:r>
            <a:r>
              <a:rPr lang="en-US" sz="2600" dirty="0" err="1"/>
              <a:t>cette</a:t>
            </a:r>
            <a:r>
              <a:rPr lang="en-US" sz="2600" dirty="0"/>
              <a:t> date qui </a:t>
            </a:r>
            <a:r>
              <a:rPr lang="en-US" sz="2600" dirty="0" err="1"/>
              <a:t>pourraient</a:t>
            </a:r>
            <a:r>
              <a:rPr lang="en-US" sz="2600" dirty="0"/>
              <a:t> </a:t>
            </a:r>
            <a:r>
              <a:rPr lang="en-US" sz="2600" dirty="0" err="1"/>
              <a:t>grandement</a:t>
            </a:r>
            <a:r>
              <a:rPr lang="en-US" sz="2600" dirty="0"/>
              <a:t> </a:t>
            </a:r>
            <a:r>
              <a:rPr lang="en-US" sz="2600" dirty="0" err="1"/>
              <a:t>bénéficier</a:t>
            </a:r>
            <a:r>
              <a:rPr lang="en-US" sz="2600" dirty="0"/>
              <a:t> des </a:t>
            </a:r>
            <a:r>
              <a:rPr lang="en-US" sz="2600" dirty="0" err="1"/>
              <a:t>nouvelles</a:t>
            </a:r>
            <a:r>
              <a:rPr lang="en-US" sz="2600" dirty="0"/>
              <a:t> </a:t>
            </a:r>
            <a:r>
              <a:rPr lang="en-US" sz="2600" dirty="0" err="1"/>
              <a:t>caractéristiques</a:t>
            </a:r>
            <a:r>
              <a:rPr lang="en-US" sz="2600" dirty="0"/>
              <a:t> du cadre: “</a:t>
            </a:r>
            <a:r>
              <a:rPr lang="en-US" sz="2600" dirty="0" err="1"/>
              <a:t>ADOPTEURS</a:t>
            </a:r>
            <a:r>
              <a:rPr lang="en-US" sz="2600" dirty="0"/>
              <a:t> PAR ANTICIPATION”</a:t>
            </a:r>
          </a:p>
          <a:p>
            <a:pPr lvl="1">
              <a:lnSpc>
                <a:spcPct val="120000"/>
              </a:lnSpc>
            </a:pPr>
            <a:r>
              <a:rPr lang="en-US" sz="2600" dirty="0"/>
              <a:t>Les </a:t>
            </a:r>
            <a:r>
              <a:rPr lang="en-US" sz="2600" dirty="0" err="1"/>
              <a:t>nouvelles</a:t>
            </a:r>
            <a:r>
              <a:rPr lang="en-US" sz="2600" dirty="0"/>
              <a:t> </a:t>
            </a:r>
            <a:r>
              <a:rPr lang="en-US" sz="2600" dirty="0" err="1"/>
              <a:t>procédures</a:t>
            </a:r>
            <a:r>
              <a:rPr lang="en-US" sz="2600" dirty="0"/>
              <a:t> internes à la </a:t>
            </a:r>
            <a:r>
              <a:rPr lang="en-US" sz="2600" dirty="0" err="1"/>
              <a:t>Banque</a:t>
            </a:r>
            <a:r>
              <a:rPr lang="en-US" sz="2600" dirty="0"/>
              <a:t> </a:t>
            </a:r>
            <a:r>
              <a:rPr lang="en-US" sz="2600" dirty="0" err="1"/>
              <a:t>sont</a:t>
            </a:r>
            <a:r>
              <a:rPr lang="en-US" sz="2600" dirty="0"/>
              <a:t> déjà </a:t>
            </a:r>
            <a:r>
              <a:rPr lang="en-US" sz="2600" dirty="0" err="1"/>
              <a:t>en</a:t>
            </a:r>
            <a:r>
              <a:rPr lang="en-US" sz="2600" dirty="0"/>
              <a:t> application </a:t>
            </a:r>
            <a:r>
              <a:rPr lang="en-US" sz="2600" dirty="0" err="1"/>
              <a:t>depuis</a:t>
            </a:r>
            <a:r>
              <a:rPr lang="en-US" sz="2600" dirty="0"/>
              <a:t> le 1er </a:t>
            </a:r>
            <a:r>
              <a:rPr lang="en-US" sz="2600" dirty="0" err="1"/>
              <a:t>juillet</a:t>
            </a:r>
            <a:r>
              <a:rPr lang="en-US" sz="2600" dirty="0"/>
              <a:t> 2016 </a:t>
            </a:r>
          </a:p>
          <a:p>
            <a:pPr>
              <a:lnSpc>
                <a:spcPct val="120000"/>
              </a:lnSpc>
            </a:pPr>
            <a:endParaRPr lang="en-US" sz="2600" dirty="0"/>
          </a:p>
        </p:txBody>
      </p:sp>
    </p:spTree>
    <p:extLst>
      <p:ext uri="{BB962C8B-B14F-4D97-AF65-F5344CB8AC3E}">
        <p14:creationId xmlns:p14="http://schemas.microsoft.com/office/powerpoint/2010/main" val="1847339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79963" y="105352"/>
            <a:ext cx="7005711" cy="1325563"/>
          </a:xfrm>
        </p:spPr>
        <p:txBody>
          <a:bodyPr>
            <a:normAutofit/>
          </a:bodyPr>
          <a:lstStyle/>
          <a:p>
            <a:pPr algn="ctr"/>
            <a:r>
              <a:rPr lang="en-US" sz="4000" dirty="0">
                <a:solidFill>
                  <a:schemeClr val="tx1"/>
                </a:solidFill>
              </a:rPr>
              <a:t>4. CHAMP D’APPLICATION </a:t>
            </a:r>
          </a:p>
        </p:txBody>
      </p:sp>
      <p:sp>
        <p:nvSpPr>
          <p:cNvPr id="3" name="Content Placeholder 2"/>
          <p:cNvSpPr>
            <a:spLocks noGrp="1"/>
          </p:cNvSpPr>
          <p:nvPr>
            <p:ph idx="1"/>
          </p:nvPr>
        </p:nvSpPr>
        <p:spPr>
          <a:xfrm>
            <a:off x="457200" y="1554480"/>
            <a:ext cx="10761519" cy="5066239"/>
          </a:xfrm>
        </p:spPr>
        <p:txBody>
          <a:bodyPr>
            <a:normAutofit/>
          </a:bodyPr>
          <a:lstStyle/>
          <a:p>
            <a:r>
              <a:rPr lang="en-US" sz="2800" dirty="0"/>
              <a:t>Tout </a:t>
            </a:r>
            <a:r>
              <a:rPr lang="en-US" sz="2800" dirty="0" err="1"/>
              <a:t>Financement</a:t>
            </a:r>
            <a:r>
              <a:rPr lang="en-US" sz="2800" dirty="0"/>
              <a:t> de </a:t>
            </a:r>
            <a:r>
              <a:rPr lang="en-US" sz="2800" dirty="0" err="1"/>
              <a:t>Projet</a:t>
            </a:r>
            <a:r>
              <a:rPr lang="en-US" sz="2800" dirty="0"/>
              <a:t> </a:t>
            </a:r>
            <a:r>
              <a:rPr lang="en-US" sz="2800" dirty="0" err="1"/>
              <a:t>d’Investissement</a:t>
            </a:r>
            <a:r>
              <a:rPr lang="en-US" sz="2800" dirty="0"/>
              <a:t> (</a:t>
            </a:r>
            <a:r>
              <a:rPr lang="en-US" sz="2800" dirty="0" err="1"/>
              <a:t>IPFs</a:t>
            </a:r>
            <a:r>
              <a:rPr lang="en-US" sz="2800" dirty="0"/>
              <a:t>), y </a:t>
            </a:r>
            <a:r>
              <a:rPr lang="en-US" sz="2800" dirty="0" err="1"/>
              <a:t>compris</a:t>
            </a:r>
            <a:r>
              <a:rPr lang="en-US" sz="2800" dirty="0"/>
              <a:t> </a:t>
            </a:r>
            <a:r>
              <a:rPr lang="en-US" sz="2800" dirty="0" err="1"/>
              <a:t>Projets</a:t>
            </a:r>
            <a:r>
              <a:rPr lang="en-US" sz="2800" dirty="0"/>
              <a:t> </a:t>
            </a:r>
            <a:r>
              <a:rPr lang="en-US" sz="2800" dirty="0" err="1"/>
              <a:t>d’Investissements</a:t>
            </a:r>
            <a:r>
              <a:rPr lang="en-US" sz="2800" dirty="0"/>
              <a:t> </a:t>
            </a:r>
            <a:r>
              <a:rPr lang="en-US" sz="2800" dirty="0" err="1"/>
              <a:t>basés</a:t>
            </a:r>
            <a:r>
              <a:rPr lang="en-US" sz="2800" dirty="0"/>
              <a:t> sur les </a:t>
            </a:r>
            <a:r>
              <a:rPr lang="en-US" sz="2800" dirty="0" err="1"/>
              <a:t>résultats</a:t>
            </a:r>
            <a:r>
              <a:rPr lang="en-US" sz="2800" dirty="0"/>
              <a:t> (</a:t>
            </a:r>
            <a:r>
              <a:rPr lang="en-US" sz="2800" u="sng" dirty="0"/>
              <a:t>ATTENTION</a:t>
            </a:r>
            <a:r>
              <a:rPr lang="en-US" sz="2800" dirty="0"/>
              <a:t>: </a:t>
            </a:r>
            <a:r>
              <a:rPr lang="en-US" sz="2800" dirty="0" err="1"/>
              <a:t>il</a:t>
            </a:r>
            <a:r>
              <a:rPr lang="en-US" sz="2800" dirty="0"/>
              <a:t> ne </a:t>
            </a:r>
            <a:r>
              <a:rPr lang="en-US" sz="2800" dirty="0" err="1"/>
              <a:t>s’agit</a:t>
            </a:r>
            <a:r>
              <a:rPr lang="en-US" sz="2800" dirty="0"/>
              <a:t> pas des P4Rs !)</a:t>
            </a:r>
          </a:p>
          <a:p>
            <a:r>
              <a:rPr lang="en-US" sz="2800" dirty="0"/>
              <a:t> </a:t>
            </a:r>
            <a:r>
              <a:rPr lang="en-US" sz="2800" dirty="0" err="1"/>
              <a:t>Sont</a:t>
            </a:r>
            <a:r>
              <a:rPr lang="en-US" sz="2800" dirty="0"/>
              <a:t> </a:t>
            </a:r>
            <a:r>
              <a:rPr lang="en-US" sz="2800" b="1" dirty="0" err="1"/>
              <a:t>exclus</a:t>
            </a:r>
            <a:r>
              <a:rPr lang="en-US" sz="2800" dirty="0"/>
              <a:t> du nouveau cadre:</a:t>
            </a:r>
          </a:p>
          <a:p>
            <a:pPr lvl="1">
              <a:lnSpc>
                <a:spcPct val="120000"/>
              </a:lnSpc>
            </a:pPr>
            <a:r>
              <a:rPr lang="en-US" sz="2400" dirty="0"/>
              <a:t>Les </a:t>
            </a:r>
            <a:r>
              <a:rPr lang="fr-FR" sz="2400" dirty="0"/>
              <a:t>Prêt-Programmes axés sur les résultats</a:t>
            </a:r>
            <a:r>
              <a:rPr lang="en-US" sz="2400" dirty="0"/>
              <a:t> (P4Rs);</a:t>
            </a:r>
          </a:p>
          <a:p>
            <a:pPr lvl="1">
              <a:lnSpc>
                <a:spcPct val="120000"/>
              </a:lnSpc>
            </a:pPr>
            <a:r>
              <a:rPr lang="en-US" sz="2400" dirty="0" err="1"/>
              <a:t>Prêts</a:t>
            </a:r>
            <a:r>
              <a:rPr lang="en-US" sz="2400" dirty="0"/>
              <a:t> de </a:t>
            </a:r>
            <a:r>
              <a:rPr lang="en-US" sz="2400" dirty="0" err="1"/>
              <a:t>politique</a:t>
            </a:r>
            <a:r>
              <a:rPr lang="en-US" sz="2400" dirty="0"/>
              <a:t> de </a:t>
            </a:r>
            <a:r>
              <a:rPr lang="en-US" sz="2400" dirty="0" err="1"/>
              <a:t>Développement</a:t>
            </a:r>
            <a:r>
              <a:rPr lang="en-US" sz="2400" dirty="0"/>
              <a:t> (DPLs);</a:t>
            </a:r>
          </a:p>
          <a:p>
            <a:pPr lvl="1">
              <a:lnSpc>
                <a:spcPct val="120000"/>
              </a:lnSpc>
            </a:pPr>
            <a:r>
              <a:rPr lang="fr-FR" sz="2400" dirty="0"/>
              <a:t>Prêts accordés à des institutions ou organismes intermédiaires de financement;</a:t>
            </a:r>
          </a:p>
          <a:p>
            <a:pPr lvl="1">
              <a:lnSpc>
                <a:spcPct val="120000"/>
              </a:lnSpc>
            </a:pPr>
            <a:r>
              <a:rPr lang="fr-FR" sz="2400" dirty="0"/>
              <a:t>Prêts garantis par la Banque Mondiale.  </a:t>
            </a:r>
            <a:r>
              <a:rPr lang="en-US" sz="2400" dirty="0"/>
              <a:t> </a:t>
            </a:r>
          </a:p>
        </p:txBody>
      </p:sp>
    </p:spTree>
    <p:extLst>
      <p:ext uri="{BB962C8B-B14F-4D97-AF65-F5344CB8AC3E}">
        <p14:creationId xmlns:p14="http://schemas.microsoft.com/office/powerpoint/2010/main" val="1223904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50426" y="0"/>
            <a:ext cx="6062403" cy="1325563"/>
          </a:xfrm>
        </p:spPr>
        <p:txBody>
          <a:bodyPr>
            <a:normAutofit/>
          </a:bodyPr>
          <a:lstStyle/>
          <a:p>
            <a:r>
              <a:rPr lang="en-US" dirty="0">
                <a:solidFill>
                  <a:schemeClr val="tx1"/>
                </a:solidFill>
              </a:rPr>
              <a:t>5. STRUCTURE DU CADRE</a:t>
            </a:r>
          </a:p>
        </p:txBody>
      </p:sp>
      <p:sp>
        <p:nvSpPr>
          <p:cNvPr id="5" name="TextBox 4"/>
          <p:cNvSpPr txBox="1"/>
          <p:nvPr/>
        </p:nvSpPr>
        <p:spPr>
          <a:xfrm>
            <a:off x="2811995" y="3330002"/>
            <a:ext cx="461665" cy="3000460"/>
          </a:xfrm>
          <a:prstGeom prst="rect">
            <a:avLst/>
          </a:prstGeom>
          <a:noFill/>
        </p:spPr>
        <p:txBody>
          <a:bodyPr vert="vert270" wrap="square" rtlCol="0">
            <a:spAutoFit/>
          </a:bodyPr>
          <a:lstStyle/>
          <a:p>
            <a:pPr algn="ctr"/>
            <a:r>
              <a:rPr lang="en-US" b="1" dirty="0"/>
              <a:t>Direction de la </a:t>
            </a:r>
            <a:r>
              <a:rPr lang="en-US" b="1" dirty="0" err="1"/>
              <a:t>Banque</a:t>
            </a:r>
            <a:r>
              <a:rPr lang="en-US" b="1" dirty="0"/>
              <a:t> </a:t>
            </a:r>
          </a:p>
        </p:txBody>
      </p:sp>
      <p:grpSp>
        <p:nvGrpSpPr>
          <p:cNvPr id="6" name="Group 5"/>
          <p:cNvGrpSpPr/>
          <p:nvPr/>
        </p:nvGrpSpPr>
        <p:grpSpPr>
          <a:xfrm>
            <a:off x="2435200" y="1471061"/>
            <a:ext cx="7325956" cy="5128042"/>
            <a:chOff x="269844" y="1154225"/>
            <a:chExt cx="7325956" cy="5128042"/>
          </a:xfrm>
        </p:grpSpPr>
        <p:sp>
          <p:nvSpPr>
            <p:cNvPr id="7" name="Right Brace 6"/>
            <p:cNvSpPr/>
            <p:nvPr/>
          </p:nvSpPr>
          <p:spPr bwMode="auto">
            <a:xfrm>
              <a:off x="6844424" y="1154225"/>
              <a:ext cx="289711" cy="3467478"/>
            </a:xfrm>
            <a:prstGeom prst="rightBrac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US" sz="1300" b="0" i="0" u="none" strike="noStrike" cap="none" normalizeH="0" baseline="0" dirty="0">
                <a:ln>
                  <a:noFill/>
                </a:ln>
                <a:solidFill>
                  <a:schemeClr val="tx1"/>
                </a:solidFill>
                <a:effectLst/>
                <a:latin typeface="Trebuchet MS" pitchFamily="34" charset="0"/>
                <a:cs typeface="Times New Roman" pitchFamily="18" charset="0"/>
              </a:endParaRPr>
            </a:p>
          </p:txBody>
        </p:sp>
        <p:sp>
          <p:nvSpPr>
            <p:cNvPr id="8" name="Right Brace 7"/>
            <p:cNvSpPr/>
            <p:nvPr/>
          </p:nvSpPr>
          <p:spPr bwMode="auto">
            <a:xfrm>
              <a:off x="6844424" y="4638636"/>
              <a:ext cx="289711" cy="1643631"/>
            </a:xfrm>
            <a:prstGeom prst="rightBrac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US" sz="1300" b="0" i="0" u="none" strike="noStrike" cap="none" normalizeH="0" baseline="0" dirty="0">
                <a:ln>
                  <a:noFill/>
                </a:ln>
                <a:solidFill>
                  <a:schemeClr val="tx1"/>
                </a:solidFill>
                <a:effectLst/>
                <a:latin typeface="Trebuchet MS" pitchFamily="34" charset="0"/>
                <a:cs typeface="Times New Roman" pitchFamily="18" charset="0"/>
              </a:endParaRPr>
            </a:p>
          </p:txBody>
        </p:sp>
        <p:sp>
          <p:nvSpPr>
            <p:cNvPr id="9" name="TextBox 8"/>
            <p:cNvSpPr txBox="1"/>
            <p:nvPr/>
          </p:nvSpPr>
          <p:spPr>
            <a:xfrm>
              <a:off x="7134135" y="1357710"/>
              <a:ext cx="461665" cy="2308324"/>
            </a:xfrm>
            <a:prstGeom prst="rect">
              <a:avLst/>
            </a:prstGeom>
            <a:noFill/>
          </p:spPr>
          <p:txBody>
            <a:bodyPr vert="vert270" wrap="square" rtlCol="0">
              <a:spAutoFit/>
            </a:bodyPr>
            <a:lstStyle/>
            <a:p>
              <a:r>
                <a:rPr lang="en-US" dirty="0" err="1"/>
                <a:t>Obligatoire</a:t>
              </a:r>
              <a:r>
                <a:rPr lang="en-US" dirty="0"/>
                <a:t> </a:t>
              </a:r>
            </a:p>
          </p:txBody>
        </p:sp>
        <p:cxnSp>
          <p:nvCxnSpPr>
            <p:cNvPr id="10" name="Straight Connector 9"/>
            <p:cNvCxnSpPr/>
            <p:nvPr/>
          </p:nvCxnSpPr>
          <p:spPr bwMode="auto">
            <a:xfrm>
              <a:off x="513806" y="1154507"/>
              <a:ext cx="6330618"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5826034" y="4638635"/>
              <a:ext cx="1018390" cy="1"/>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eft Brace 11"/>
            <p:cNvSpPr/>
            <p:nvPr/>
          </p:nvSpPr>
          <p:spPr bwMode="auto">
            <a:xfrm>
              <a:off x="269844" y="1154505"/>
              <a:ext cx="296208" cy="1655456"/>
            </a:xfrm>
            <a:prstGeom prst="leftBrac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US" sz="1300" b="0" i="0" u="none" strike="noStrike" cap="none" normalizeH="0" baseline="0" dirty="0">
                <a:ln>
                  <a:noFill/>
                </a:ln>
                <a:solidFill>
                  <a:schemeClr val="tx1"/>
                </a:solidFill>
                <a:effectLst/>
                <a:latin typeface="Trebuchet MS" pitchFamily="34" charset="0"/>
                <a:cs typeface="Times New Roman" pitchFamily="18" charset="0"/>
              </a:endParaRPr>
            </a:p>
          </p:txBody>
        </p:sp>
        <p:sp>
          <p:nvSpPr>
            <p:cNvPr id="13" name="TextBox 12"/>
            <p:cNvSpPr txBox="1"/>
            <p:nvPr/>
          </p:nvSpPr>
          <p:spPr>
            <a:xfrm>
              <a:off x="513806" y="1226287"/>
              <a:ext cx="677108" cy="1538141"/>
            </a:xfrm>
            <a:prstGeom prst="rect">
              <a:avLst/>
            </a:prstGeom>
            <a:noFill/>
          </p:spPr>
          <p:txBody>
            <a:bodyPr vert="vert270" wrap="square" rtlCol="0">
              <a:spAutoFit/>
            </a:bodyPr>
            <a:lstStyle/>
            <a:p>
              <a:pPr algn="ctr"/>
              <a:r>
                <a:rPr lang="en-US" sz="1600" b="1" dirty="0" err="1"/>
                <a:t>Conseil</a:t>
              </a:r>
              <a:r>
                <a:rPr lang="en-US" sz="1600" b="1" dirty="0"/>
                <a:t> </a:t>
              </a:r>
              <a:r>
                <a:rPr lang="en-US" sz="1600" b="1" dirty="0" err="1"/>
                <a:t>d’Administration</a:t>
              </a:r>
              <a:endParaRPr lang="en-US" sz="1600" b="1" dirty="0"/>
            </a:p>
          </p:txBody>
        </p:sp>
        <p:sp>
          <p:nvSpPr>
            <p:cNvPr id="14" name="Left Brace 13"/>
            <p:cNvSpPr/>
            <p:nvPr/>
          </p:nvSpPr>
          <p:spPr bwMode="auto">
            <a:xfrm>
              <a:off x="276349" y="2818425"/>
              <a:ext cx="289711" cy="3404575"/>
            </a:xfrm>
            <a:prstGeom prst="leftBrac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US" sz="1300" b="0" i="0" u="none" strike="noStrike" cap="none" normalizeH="0" baseline="0" dirty="0">
                <a:ln>
                  <a:noFill/>
                </a:ln>
                <a:solidFill>
                  <a:schemeClr val="tx1"/>
                </a:solidFill>
                <a:effectLst/>
                <a:latin typeface="Trebuchet MS" pitchFamily="34" charset="0"/>
                <a:cs typeface="Times New Roman" pitchFamily="18" charset="0"/>
              </a:endParaRPr>
            </a:p>
          </p:txBody>
        </p:sp>
        <p:cxnSp>
          <p:nvCxnSpPr>
            <p:cNvPr id="15" name="Straight Connector 14"/>
            <p:cNvCxnSpPr/>
            <p:nvPr/>
          </p:nvCxnSpPr>
          <p:spPr bwMode="auto">
            <a:xfrm>
              <a:off x="572565" y="2836208"/>
              <a:ext cx="2518919" cy="1"/>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5118237" y="1543123"/>
            <a:ext cx="1670284" cy="1670284"/>
            <a:chOff x="3536642" y="39446"/>
            <a:chExt cx="1670284" cy="1670284"/>
          </a:xfrm>
        </p:grpSpPr>
        <p:sp>
          <p:nvSpPr>
            <p:cNvPr id="41" name="Isosceles Triangle 40"/>
            <p:cNvSpPr/>
            <p:nvPr/>
          </p:nvSpPr>
          <p:spPr>
            <a:xfrm>
              <a:off x="3536642" y="39446"/>
              <a:ext cx="1670284" cy="1670284"/>
            </a:xfrm>
            <a:prstGeom prst="triangl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fr-FR"/>
            </a:p>
          </p:txBody>
        </p:sp>
        <p:sp>
          <p:nvSpPr>
            <p:cNvPr id="42" name="Isosceles Triangle 4"/>
            <p:cNvSpPr/>
            <p:nvPr/>
          </p:nvSpPr>
          <p:spPr>
            <a:xfrm>
              <a:off x="3842460" y="860449"/>
              <a:ext cx="1058649" cy="8351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err="1"/>
                <a:t>Principes</a:t>
              </a:r>
              <a:endParaRPr lang="en-US" sz="1800" kern="1200" dirty="0"/>
            </a:p>
          </p:txBody>
        </p:sp>
      </p:grpSp>
      <p:grpSp>
        <p:nvGrpSpPr>
          <p:cNvPr id="17" name="Group 16"/>
          <p:cNvGrpSpPr/>
          <p:nvPr/>
        </p:nvGrpSpPr>
        <p:grpSpPr>
          <a:xfrm>
            <a:off x="4278224" y="3199268"/>
            <a:ext cx="1763586" cy="1670284"/>
            <a:chOff x="2696629" y="1695591"/>
            <a:chExt cx="1763586" cy="1670284"/>
          </a:xfrm>
        </p:grpSpPr>
        <p:sp>
          <p:nvSpPr>
            <p:cNvPr id="39" name="Isosceles Triangle 38"/>
            <p:cNvSpPr/>
            <p:nvPr/>
          </p:nvSpPr>
          <p:spPr>
            <a:xfrm>
              <a:off x="2696629" y="1695591"/>
              <a:ext cx="1763586" cy="1670284"/>
            </a:xfrm>
            <a:prstGeom prst="triangle">
              <a:avLst/>
            </a:prstGeom>
          </p:spPr>
          <p:style>
            <a:lnRef idx="2">
              <a:schemeClr val="lt1">
                <a:hueOff val="0"/>
                <a:satOff val="0"/>
                <a:lumOff val="0"/>
                <a:alphaOff val="0"/>
              </a:schemeClr>
            </a:lnRef>
            <a:fillRef idx="1">
              <a:schemeClr val="accent5">
                <a:hueOff val="-1742203"/>
                <a:satOff val="0"/>
                <a:lumOff val="2843"/>
                <a:alphaOff val="0"/>
              </a:schemeClr>
            </a:fillRef>
            <a:effectRef idx="0">
              <a:schemeClr val="accent5">
                <a:hueOff val="-1742203"/>
                <a:satOff val="0"/>
                <a:lumOff val="2843"/>
                <a:alphaOff val="0"/>
              </a:schemeClr>
            </a:effectRef>
            <a:fontRef idx="minor">
              <a:schemeClr val="lt1"/>
            </a:fontRef>
          </p:style>
          <p:txBody>
            <a:bodyPr/>
            <a:lstStyle/>
            <a:p>
              <a:endParaRPr lang="fr-FR"/>
            </a:p>
          </p:txBody>
        </p:sp>
        <p:sp>
          <p:nvSpPr>
            <p:cNvPr id="40" name="Isosceles Triangle 6"/>
            <p:cNvSpPr/>
            <p:nvPr/>
          </p:nvSpPr>
          <p:spPr>
            <a:xfrm>
              <a:off x="3063782" y="2530733"/>
              <a:ext cx="955537" cy="8351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400" kern="1200" dirty="0" err="1">
                  <a:solidFill>
                    <a:schemeClr val="tx1"/>
                  </a:solidFill>
                </a:rPr>
                <a:t>Procédures</a:t>
              </a:r>
              <a:r>
                <a:rPr lang="en-US" sz="1400" kern="1200" dirty="0">
                  <a:solidFill>
                    <a:schemeClr val="tx1"/>
                  </a:solidFill>
                </a:rPr>
                <a:t> Internes</a:t>
              </a:r>
            </a:p>
          </p:txBody>
        </p:sp>
      </p:grpSp>
      <p:grpSp>
        <p:nvGrpSpPr>
          <p:cNvPr id="18" name="Group 17"/>
          <p:cNvGrpSpPr/>
          <p:nvPr/>
        </p:nvGrpSpPr>
        <p:grpSpPr>
          <a:xfrm>
            <a:off x="5160017" y="3199268"/>
            <a:ext cx="1670284" cy="1670284"/>
            <a:chOff x="3578422" y="1695591"/>
            <a:chExt cx="1670284" cy="1670284"/>
          </a:xfrm>
        </p:grpSpPr>
        <p:sp>
          <p:nvSpPr>
            <p:cNvPr id="37" name="Isosceles Triangle 36"/>
            <p:cNvSpPr/>
            <p:nvPr/>
          </p:nvSpPr>
          <p:spPr>
            <a:xfrm rot="10800000">
              <a:off x="3578422" y="1695591"/>
              <a:ext cx="1670284" cy="1670284"/>
            </a:xfrm>
            <a:prstGeom prst="triangle">
              <a:avLst/>
            </a:prstGeom>
          </p:spPr>
          <p:style>
            <a:lnRef idx="2">
              <a:schemeClr val="lt1">
                <a:hueOff val="0"/>
                <a:satOff val="0"/>
                <a:lumOff val="0"/>
                <a:alphaOff val="0"/>
              </a:schemeClr>
            </a:lnRef>
            <a:fillRef idx="1">
              <a:schemeClr val="accent5">
                <a:hueOff val="-3484406"/>
                <a:satOff val="0"/>
                <a:lumOff val="5686"/>
                <a:alphaOff val="0"/>
              </a:schemeClr>
            </a:fillRef>
            <a:effectRef idx="0">
              <a:schemeClr val="accent5">
                <a:hueOff val="-3484406"/>
                <a:satOff val="0"/>
                <a:lumOff val="5686"/>
                <a:alphaOff val="0"/>
              </a:schemeClr>
            </a:effectRef>
            <a:fontRef idx="minor">
              <a:schemeClr val="lt1"/>
            </a:fontRef>
          </p:style>
          <p:txBody>
            <a:bodyPr/>
            <a:lstStyle/>
            <a:p>
              <a:endParaRPr lang="fr-FR"/>
            </a:p>
          </p:txBody>
        </p:sp>
        <p:sp>
          <p:nvSpPr>
            <p:cNvPr id="38" name="Isosceles Triangle 8"/>
            <p:cNvSpPr/>
            <p:nvPr/>
          </p:nvSpPr>
          <p:spPr>
            <a:xfrm rot="21600000">
              <a:off x="3995993" y="1695591"/>
              <a:ext cx="835142" cy="8351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400" kern="1200" dirty="0">
                  <a:solidFill>
                    <a:schemeClr val="tx1"/>
                  </a:solidFill>
                </a:rPr>
                <a:t>Directives Internes</a:t>
              </a:r>
            </a:p>
          </p:txBody>
        </p:sp>
      </p:grpSp>
      <p:grpSp>
        <p:nvGrpSpPr>
          <p:cNvPr id="19" name="Group 18"/>
          <p:cNvGrpSpPr/>
          <p:nvPr/>
        </p:nvGrpSpPr>
        <p:grpSpPr>
          <a:xfrm>
            <a:off x="5989714" y="3192286"/>
            <a:ext cx="1681174" cy="1684247"/>
            <a:chOff x="4408119" y="1688609"/>
            <a:chExt cx="1681174" cy="1684247"/>
          </a:xfrm>
        </p:grpSpPr>
        <p:sp>
          <p:nvSpPr>
            <p:cNvPr id="35" name="Isosceles Triangle 34"/>
            <p:cNvSpPr/>
            <p:nvPr/>
          </p:nvSpPr>
          <p:spPr>
            <a:xfrm>
              <a:off x="4408119" y="1688609"/>
              <a:ext cx="1681174" cy="1684247"/>
            </a:xfrm>
            <a:prstGeom prst="triangle">
              <a:avLst/>
            </a:prstGeom>
          </p:spPr>
          <p:style>
            <a:lnRef idx="2">
              <a:schemeClr val="lt1">
                <a:hueOff val="0"/>
                <a:satOff val="0"/>
                <a:lumOff val="0"/>
                <a:alphaOff val="0"/>
              </a:schemeClr>
            </a:lnRef>
            <a:fillRef idx="1">
              <a:schemeClr val="accent5">
                <a:hueOff val="-5226609"/>
                <a:satOff val="0"/>
                <a:lumOff val="8529"/>
                <a:alphaOff val="0"/>
              </a:schemeClr>
            </a:fillRef>
            <a:effectRef idx="0">
              <a:schemeClr val="accent5">
                <a:hueOff val="-5226609"/>
                <a:satOff val="0"/>
                <a:lumOff val="8529"/>
                <a:alphaOff val="0"/>
              </a:schemeClr>
            </a:effectRef>
            <a:fontRef idx="minor">
              <a:schemeClr val="lt1"/>
            </a:fontRef>
          </p:style>
          <p:txBody>
            <a:bodyPr/>
            <a:lstStyle/>
            <a:p>
              <a:endParaRPr lang="fr-FR"/>
            </a:p>
          </p:txBody>
        </p:sp>
        <p:sp>
          <p:nvSpPr>
            <p:cNvPr id="36" name="Isosceles Triangle 10"/>
            <p:cNvSpPr/>
            <p:nvPr/>
          </p:nvSpPr>
          <p:spPr>
            <a:xfrm>
              <a:off x="4650232" y="2458952"/>
              <a:ext cx="1280799" cy="84212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en-US" sz="1400" kern="1200" dirty="0" err="1">
                  <a:solidFill>
                    <a:schemeClr val="tx1"/>
                  </a:solidFill>
                </a:rPr>
                <a:t>Réglementation</a:t>
              </a:r>
              <a:r>
                <a:rPr lang="en-US" sz="1400" kern="1200" dirty="0">
                  <a:solidFill>
                    <a:schemeClr val="tx1"/>
                  </a:solidFill>
                </a:rPr>
                <a:t> pour les </a:t>
              </a:r>
              <a:r>
                <a:rPr lang="en-US" sz="1400" kern="1200" dirty="0" err="1">
                  <a:solidFill>
                    <a:schemeClr val="tx1"/>
                  </a:solidFill>
                </a:rPr>
                <a:t>Emprunteurs</a:t>
              </a:r>
              <a:endParaRPr lang="en-US" sz="1400" kern="1200" dirty="0">
                <a:solidFill>
                  <a:schemeClr val="tx1"/>
                </a:solidFill>
              </a:endParaRPr>
            </a:p>
          </p:txBody>
        </p:sp>
      </p:grpSp>
      <p:grpSp>
        <p:nvGrpSpPr>
          <p:cNvPr id="20" name="Group 19"/>
          <p:cNvGrpSpPr/>
          <p:nvPr/>
        </p:nvGrpSpPr>
        <p:grpSpPr>
          <a:xfrm>
            <a:off x="3489733" y="4869552"/>
            <a:ext cx="1670284" cy="1670284"/>
            <a:chOff x="1908138" y="3365875"/>
            <a:chExt cx="1670284" cy="1670284"/>
          </a:xfrm>
        </p:grpSpPr>
        <p:sp>
          <p:nvSpPr>
            <p:cNvPr id="33" name="Isosceles Triangle 32"/>
            <p:cNvSpPr/>
            <p:nvPr/>
          </p:nvSpPr>
          <p:spPr>
            <a:xfrm>
              <a:off x="1908138" y="3365875"/>
              <a:ext cx="1670284" cy="1670284"/>
            </a:xfrm>
            <a:prstGeom prst="triangle">
              <a:avLst/>
            </a:prstGeom>
          </p:spPr>
          <p:style>
            <a:lnRef idx="2">
              <a:schemeClr val="lt1">
                <a:hueOff val="0"/>
                <a:satOff val="0"/>
                <a:lumOff val="0"/>
                <a:alphaOff val="0"/>
              </a:schemeClr>
            </a:lnRef>
            <a:fillRef idx="1">
              <a:schemeClr val="accent5">
                <a:hueOff val="-6968812"/>
                <a:satOff val="0"/>
                <a:lumOff val="11372"/>
                <a:alphaOff val="0"/>
              </a:schemeClr>
            </a:fillRef>
            <a:effectRef idx="0">
              <a:schemeClr val="accent5">
                <a:hueOff val="-6968812"/>
                <a:satOff val="0"/>
                <a:lumOff val="11372"/>
                <a:alphaOff val="0"/>
              </a:schemeClr>
            </a:effectRef>
            <a:fontRef idx="minor">
              <a:schemeClr val="lt1"/>
            </a:fontRef>
          </p:style>
          <p:txBody>
            <a:bodyPr/>
            <a:lstStyle/>
            <a:p>
              <a:endParaRPr lang="fr-FR"/>
            </a:p>
          </p:txBody>
        </p:sp>
        <p:sp>
          <p:nvSpPr>
            <p:cNvPr id="34" name="Isosceles Triangle 12"/>
            <p:cNvSpPr/>
            <p:nvPr/>
          </p:nvSpPr>
          <p:spPr>
            <a:xfrm>
              <a:off x="2325709" y="4201017"/>
              <a:ext cx="835142" cy="8351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400" kern="1200" dirty="0">
                  <a:solidFill>
                    <a:schemeClr val="tx1"/>
                  </a:solidFill>
                </a:rPr>
                <a:t>Bonne </a:t>
              </a:r>
              <a:r>
                <a:rPr lang="en-US" sz="1400" kern="1200" dirty="0" err="1">
                  <a:solidFill>
                    <a:schemeClr val="tx1"/>
                  </a:solidFill>
                </a:rPr>
                <a:t>Pratiques</a:t>
              </a:r>
              <a:endParaRPr lang="en-US" sz="1400" kern="1200" dirty="0">
                <a:solidFill>
                  <a:schemeClr val="tx1"/>
                </a:solidFill>
              </a:endParaRPr>
            </a:p>
          </p:txBody>
        </p:sp>
      </p:grpSp>
      <p:grpSp>
        <p:nvGrpSpPr>
          <p:cNvPr id="21" name="Group 20"/>
          <p:cNvGrpSpPr/>
          <p:nvPr/>
        </p:nvGrpSpPr>
        <p:grpSpPr>
          <a:xfrm>
            <a:off x="4324875" y="4869552"/>
            <a:ext cx="1670284" cy="1670284"/>
            <a:chOff x="2743280" y="3365875"/>
            <a:chExt cx="1670284" cy="1670284"/>
          </a:xfrm>
        </p:grpSpPr>
        <p:sp>
          <p:nvSpPr>
            <p:cNvPr id="31" name="Isosceles Triangle 30"/>
            <p:cNvSpPr/>
            <p:nvPr/>
          </p:nvSpPr>
          <p:spPr>
            <a:xfrm rot="10800000">
              <a:off x="2743280" y="3365875"/>
              <a:ext cx="1670284" cy="1670284"/>
            </a:xfrm>
            <a:prstGeom prst="triangle">
              <a:avLst/>
            </a:prstGeom>
          </p:spPr>
          <p:style>
            <a:lnRef idx="2">
              <a:schemeClr val="lt1">
                <a:hueOff val="0"/>
                <a:satOff val="0"/>
                <a:lumOff val="0"/>
                <a:alphaOff val="0"/>
              </a:schemeClr>
            </a:lnRef>
            <a:fillRef idx="1">
              <a:schemeClr val="accent5">
                <a:hueOff val="-8711016"/>
                <a:satOff val="0"/>
                <a:lumOff val="14216"/>
                <a:alphaOff val="0"/>
              </a:schemeClr>
            </a:fillRef>
            <a:effectRef idx="0">
              <a:schemeClr val="accent5">
                <a:hueOff val="-8711016"/>
                <a:satOff val="0"/>
                <a:lumOff val="14216"/>
                <a:alphaOff val="0"/>
              </a:schemeClr>
            </a:effectRef>
            <a:fontRef idx="minor">
              <a:schemeClr val="lt1"/>
            </a:fontRef>
          </p:style>
          <p:txBody>
            <a:bodyPr/>
            <a:lstStyle/>
            <a:p>
              <a:endParaRPr lang="fr-FR"/>
            </a:p>
          </p:txBody>
        </p:sp>
        <p:sp>
          <p:nvSpPr>
            <p:cNvPr id="32" name="Isosceles Triangle 14"/>
            <p:cNvSpPr/>
            <p:nvPr/>
          </p:nvSpPr>
          <p:spPr>
            <a:xfrm rot="21600000">
              <a:off x="3160851" y="3365875"/>
              <a:ext cx="835142" cy="8351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400" dirty="0">
                  <a:solidFill>
                    <a:schemeClr val="tx1"/>
                  </a:solidFill>
                </a:rPr>
                <a:t>Etudes de </a:t>
              </a:r>
              <a:r>
                <a:rPr lang="en-US" sz="1400" dirty="0" err="1">
                  <a:solidFill>
                    <a:schemeClr val="tx1"/>
                  </a:solidFill>
                </a:rPr>
                <a:t>Cas</a:t>
              </a:r>
              <a:endParaRPr lang="en-US" sz="1400" kern="1200" dirty="0">
                <a:solidFill>
                  <a:schemeClr val="tx1"/>
                </a:solidFill>
              </a:endParaRPr>
            </a:p>
          </p:txBody>
        </p:sp>
      </p:grpSp>
      <p:grpSp>
        <p:nvGrpSpPr>
          <p:cNvPr id="22" name="Group 21"/>
          <p:cNvGrpSpPr/>
          <p:nvPr/>
        </p:nvGrpSpPr>
        <p:grpSpPr>
          <a:xfrm>
            <a:off x="5160017" y="4869552"/>
            <a:ext cx="1670284" cy="1670284"/>
            <a:chOff x="3578422" y="3365875"/>
            <a:chExt cx="1670284" cy="1670284"/>
          </a:xfrm>
        </p:grpSpPr>
        <p:sp>
          <p:nvSpPr>
            <p:cNvPr id="29" name="Isosceles Triangle 28"/>
            <p:cNvSpPr/>
            <p:nvPr/>
          </p:nvSpPr>
          <p:spPr>
            <a:xfrm>
              <a:off x="3578422" y="3365875"/>
              <a:ext cx="1670284" cy="1670284"/>
            </a:xfrm>
            <a:prstGeom prst="triangle">
              <a:avLst/>
            </a:prstGeom>
          </p:spPr>
          <p:style>
            <a:lnRef idx="2">
              <a:schemeClr val="lt1">
                <a:hueOff val="0"/>
                <a:satOff val="0"/>
                <a:lumOff val="0"/>
                <a:alphaOff val="0"/>
              </a:schemeClr>
            </a:lnRef>
            <a:fillRef idx="1">
              <a:schemeClr val="accent5">
                <a:hueOff val="-10453218"/>
                <a:satOff val="0"/>
                <a:lumOff val="17059"/>
                <a:alphaOff val="0"/>
              </a:schemeClr>
            </a:fillRef>
            <a:effectRef idx="0">
              <a:schemeClr val="accent5">
                <a:hueOff val="-10453218"/>
                <a:satOff val="0"/>
                <a:lumOff val="17059"/>
                <a:alphaOff val="0"/>
              </a:schemeClr>
            </a:effectRef>
            <a:fontRef idx="minor">
              <a:schemeClr val="lt1"/>
            </a:fontRef>
          </p:style>
          <p:txBody>
            <a:bodyPr/>
            <a:lstStyle/>
            <a:p>
              <a:endParaRPr lang="fr-FR"/>
            </a:p>
          </p:txBody>
        </p:sp>
        <p:sp>
          <p:nvSpPr>
            <p:cNvPr id="30" name="Isosceles Triangle 16"/>
            <p:cNvSpPr/>
            <p:nvPr/>
          </p:nvSpPr>
          <p:spPr>
            <a:xfrm>
              <a:off x="3995993" y="4201017"/>
              <a:ext cx="835142" cy="8351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lvl="0" algn="ctr" defTabSz="422275">
                <a:lnSpc>
                  <a:spcPct val="90000"/>
                </a:lnSpc>
                <a:spcBef>
                  <a:spcPct val="0"/>
                </a:spcBef>
                <a:spcAft>
                  <a:spcPct val="35000"/>
                </a:spcAft>
              </a:pPr>
              <a:r>
                <a:rPr lang="en-US" sz="1400" b="0" kern="1200" dirty="0" err="1">
                  <a:solidFill>
                    <a:schemeClr val="tx1"/>
                  </a:solidFill>
                </a:rPr>
                <a:t>Boite</a:t>
              </a:r>
              <a:r>
                <a:rPr lang="en-US" sz="1400" b="0" kern="1200" dirty="0">
                  <a:solidFill>
                    <a:schemeClr val="tx1"/>
                  </a:solidFill>
                </a:rPr>
                <a:t> à </a:t>
              </a:r>
              <a:r>
                <a:rPr lang="en-US" sz="1400" b="0" kern="1200" dirty="0" err="1">
                  <a:solidFill>
                    <a:schemeClr val="tx1"/>
                  </a:solidFill>
                </a:rPr>
                <a:t>outils</a:t>
              </a:r>
              <a:endParaRPr lang="en-US" sz="1400" b="0" kern="1200" dirty="0">
                <a:solidFill>
                  <a:schemeClr val="tx1"/>
                </a:solidFill>
              </a:endParaRPr>
            </a:p>
          </p:txBody>
        </p:sp>
      </p:grpSp>
      <p:grpSp>
        <p:nvGrpSpPr>
          <p:cNvPr id="23" name="Group 22"/>
          <p:cNvGrpSpPr/>
          <p:nvPr/>
        </p:nvGrpSpPr>
        <p:grpSpPr>
          <a:xfrm>
            <a:off x="5995159" y="4869552"/>
            <a:ext cx="1670284" cy="1670284"/>
            <a:chOff x="4413564" y="3365875"/>
            <a:chExt cx="1670284" cy="1670284"/>
          </a:xfrm>
        </p:grpSpPr>
        <p:sp>
          <p:nvSpPr>
            <p:cNvPr id="27" name="Isosceles Triangle 26"/>
            <p:cNvSpPr/>
            <p:nvPr/>
          </p:nvSpPr>
          <p:spPr>
            <a:xfrm rot="10800000">
              <a:off x="4413564" y="3365875"/>
              <a:ext cx="1670284" cy="1670284"/>
            </a:xfrm>
            <a:prstGeom prst="triangle">
              <a:avLst/>
            </a:prstGeom>
          </p:spPr>
          <p:style>
            <a:lnRef idx="2">
              <a:schemeClr val="lt1">
                <a:hueOff val="0"/>
                <a:satOff val="0"/>
                <a:lumOff val="0"/>
                <a:alphaOff val="0"/>
              </a:schemeClr>
            </a:lnRef>
            <a:fillRef idx="1">
              <a:schemeClr val="accent5">
                <a:hueOff val="-12195422"/>
                <a:satOff val="0"/>
                <a:lumOff val="19902"/>
                <a:alphaOff val="0"/>
              </a:schemeClr>
            </a:fillRef>
            <a:effectRef idx="0">
              <a:schemeClr val="accent5">
                <a:hueOff val="-12195422"/>
                <a:satOff val="0"/>
                <a:lumOff val="19902"/>
                <a:alphaOff val="0"/>
              </a:schemeClr>
            </a:effectRef>
            <a:fontRef idx="minor">
              <a:schemeClr val="lt1"/>
            </a:fontRef>
          </p:style>
          <p:txBody>
            <a:bodyPr/>
            <a:lstStyle/>
            <a:p>
              <a:endParaRPr lang="fr-FR"/>
            </a:p>
          </p:txBody>
        </p:sp>
        <p:sp>
          <p:nvSpPr>
            <p:cNvPr id="28" name="Isosceles Triangle 18"/>
            <p:cNvSpPr/>
            <p:nvPr/>
          </p:nvSpPr>
          <p:spPr>
            <a:xfrm rot="21600000">
              <a:off x="4831135" y="3365875"/>
              <a:ext cx="835142" cy="8351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400" kern="1200" dirty="0" err="1">
                  <a:solidFill>
                    <a:schemeClr val="tx1"/>
                  </a:solidFill>
                </a:rPr>
                <a:t>Exemples</a:t>
              </a:r>
              <a:endParaRPr lang="en-US" sz="1400" kern="1200" dirty="0">
                <a:solidFill>
                  <a:schemeClr val="tx1"/>
                </a:solidFill>
              </a:endParaRPr>
            </a:p>
          </p:txBody>
        </p:sp>
      </p:grpSp>
      <p:grpSp>
        <p:nvGrpSpPr>
          <p:cNvPr id="24" name="Group 23"/>
          <p:cNvGrpSpPr/>
          <p:nvPr/>
        </p:nvGrpSpPr>
        <p:grpSpPr>
          <a:xfrm>
            <a:off x="6830301" y="4869552"/>
            <a:ext cx="1670284" cy="1670284"/>
            <a:chOff x="5248706" y="3365875"/>
            <a:chExt cx="1670284" cy="1670284"/>
          </a:xfrm>
        </p:grpSpPr>
        <p:sp>
          <p:nvSpPr>
            <p:cNvPr id="25" name="Isosceles Triangle 24"/>
            <p:cNvSpPr/>
            <p:nvPr/>
          </p:nvSpPr>
          <p:spPr>
            <a:xfrm>
              <a:off x="5248706" y="3365875"/>
              <a:ext cx="1670284" cy="1670284"/>
            </a:xfrm>
            <a:prstGeom prst="triangle">
              <a:avLst/>
            </a:prstGeom>
          </p:spPr>
          <p:style>
            <a:lnRef idx="2">
              <a:schemeClr val="lt1">
                <a:hueOff val="0"/>
                <a:satOff val="0"/>
                <a:lumOff val="0"/>
                <a:alphaOff val="0"/>
              </a:schemeClr>
            </a:lnRef>
            <a:fillRef idx="1">
              <a:schemeClr val="accent5">
                <a:hueOff val="-13937625"/>
                <a:satOff val="0"/>
                <a:lumOff val="22745"/>
                <a:alphaOff val="0"/>
              </a:schemeClr>
            </a:fillRef>
            <a:effectRef idx="0">
              <a:schemeClr val="accent5">
                <a:hueOff val="-13937625"/>
                <a:satOff val="0"/>
                <a:lumOff val="22745"/>
                <a:alphaOff val="0"/>
              </a:schemeClr>
            </a:effectRef>
            <a:fontRef idx="minor">
              <a:schemeClr val="lt1"/>
            </a:fontRef>
          </p:style>
          <p:txBody>
            <a:bodyPr/>
            <a:lstStyle/>
            <a:p>
              <a:endParaRPr lang="fr-FR"/>
            </a:p>
          </p:txBody>
        </p:sp>
        <p:sp>
          <p:nvSpPr>
            <p:cNvPr id="26" name="Isosceles Triangle 20"/>
            <p:cNvSpPr/>
            <p:nvPr/>
          </p:nvSpPr>
          <p:spPr>
            <a:xfrm>
              <a:off x="5541828" y="4201017"/>
              <a:ext cx="1046465" cy="8351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400" dirty="0" err="1">
                  <a:solidFill>
                    <a:schemeClr val="tx1"/>
                  </a:solidFill>
                </a:rPr>
                <a:t>Modèles</a:t>
              </a:r>
              <a:r>
                <a:rPr lang="en-US" sz="1400" dirty="0">
                  <a:solidFill>
                    <a:schemeClr val="tx1"/>
                  </a:solidFill>
                </a:rPr>
                <a:t> et Instrument</a:t>
              </a:r>
              <a:r>
                <a:rPr lang="en-US" sz="1400" b="0" kern="1200" dirty="0">
                  <a:solidFill>
                    <a:schemeClr val="tx1"/>
                  </a:solidFill>
                </a:rPr>
                <a:t>s</a:t>
              </a:r>
            </a:p>
          </p:txBody>
        </p:sp>
      </p:grpSp>
      <p:sp>
        <p:nvSpPr>
          <p:cNvPr id="43" name="TextBox 42"/>
          <p:cNvSpPr txBox="1"/>
          <p:nvPr/>
        </p:nvSpPr>
        <p:spPr>
          <a:xfrm>
            <a:off x="9380398" y="4331853"/>
            <a:ext cx="738664" cy="2308324"/>
          </a:xfrm>
          <a:prstGeom prst="rect">
            <a:avLst/>
          </a:prstGeom>
          <a:noFill/>
        </p:spPr>
        <p:txBody>
          <a:bodyPr vert="vert270" wrap="square" rtlCol="0">
            <a:spAutoFit/>
          </a:bodyPr>
          <a:lstStyle/>
          <a:p>
            <a:r>
              <a:rPr lang="en-US" dirty="0"/>
              <a:t>Non-</a:t>
            </a:r>
            <a:r>
              <a:rPr lang="en-US" dirty="0" err="1"/>
              <a:t>obligatoire</a:t>
            </a:r>
            <a:r>
              <a:rPr lang="en-US" dirty="0"/>
              <a:t> </a:t>
            </a:r>
          </a:p>
          <a:p>
            <a:r>
              <a:rPr lang="en-US" dirty="0" err="1"/>
              <a:t>Conseils</a:t>
            </a:r>
            <a:r>
              <a:rPr lang="en-US" dirty="0"/>
              <a:t> </a:t>
            </a:r>
          </a:p>
        </p:txBody>
      </p:sp>
    </p:spTree>
    <p:extLst>
      <p:ext uri="{BB962C8B-B14F-4D97-AF65-F5344CB8AC3E}">
        <p14:creationId xmlns:p14="http://schemas.microsoft.com/office/powerpoint/2010/main" val="1635965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50426" y="281998"/>
            <a:ext cx="6821180" cy="964911"/>
          </a:xfrm>
        </p:spPr>
        <p:txBody>
          <a:bodyPr>
            <a:normAutofit/>
          </a:bodyPr>
          <a:lstStyle/>
          <a:p>
            <a:r>
              <a:rPr lang="en-US" sz="4000" dirty="0">
                <a:solidFill>
                  <a:schemeClr val="tx1"/>
                </a:solidFill>
              </a:rPr>
              <a:t>6. RÔLE DES EMPRUNTEURS</a:t>
            </a:r>
            <a:endParaRPr lang="en-US" dirty="0">
              <a:solidFill>
                <a:schemeClr val="tx1"/>
              </a:solidFill>
            </a:endParaRPr>
          </a:p>
        </p:txBody>
      </p:sp>
      <p:sp>
        <p:nvSpPr>
          <p:cNvPr id="3" name="Content Placeholder 2"/>
          <p:cNvSpPr>
            <a:spLocks noGrp="1"/>
          </p:cNvSpPr>
          <p:nvPr>
            <p:ph idx="1"/>
          </p:nvPr>
        </p:nvSpPr>
        <p:spPr>
          <a:xfrm>
            <a:off x="160020" y="1554481"/>
            <a:ext cx="12031980" cy="4457700"/>
          </a:xfrm>
        </p:spPr>
        <p:txBody>
          <a:bodyPr>
            <a:normAutofit fontScale="92500" lnSpcReduction="20000"/>
          </a:bodyPr>
          <a:lstStyle/>
          <a:p>
            <a:r>
              <a:rPr lang="en-US" sz="2900" dirty="0" err="1"/>
              <a:t>Passation</a:t>
            </a:r>
            <a:r>
              <a:rPr lang="en-US" sz="2900" dirty="0"/>
              <a:t> et </a:t>
            </a:r>
            <a:r>
              <a:rPr lang="en-US" sz="2900" dirty="0" err="1"/>
              <a:t>Exécution</a:t>
            </a:r>
            <a:r>
              <a:rPr lang="en-US" sz="2900" dirty="0"/>
              <a:t> des </a:t>
            </a:r>
            <a:r>
              <a:rPr lang="en-US" sz="2900" dirty="0" err="1"/>
              <a:t>marchés</a:t>
            </a:r>
            <a:r>
              <a:rPr lang="en-US" sz="2900" dirty="0"/>
              <a:t> publics </a:t>
            </a:r>
            <a:r>
              <a:rPr lang="en-US" sz="2900" dirty="0" err="1"/>
              <a:t>financés</a:t>
            </a:r>
            <a:r>
              <a:rPr lang="en-US" sz="2900" dirty="0"/>
              <a:t> par la </a:t>
            </a:r>
            <a:r>
              <a:rPr lang="en-US" sz="2900" dirty="0" err="1"/>
              <a:t>Banque</a:t>
            </a:r>
            <a:r>
              <a:rPr lang="en-US" sz="2900" dirty="0"/>
              <a:t> </a:t>
            </a:r>
            <a:r>
              <a:rPr lang="en-US" sz="2900" dirty="0" err="1"/>
              <a:t>Mondiale</a:t>
            </a:r>
            <a:r>
              <a:rPr lang="en-US" sz="2900" dirty="0"/>
              <a:t> </a:t>
            </a:r>
            <a:r>
              <a:rPr lang="en-US" sz="2900" dirty="0" err="1"/>
              <a:t>en</a:t>
            </a:r>
            <a:r>
              <a:rPr lang="en-US" sz="2900" dirty="0"/>
              <a:t> </a:t>
            </a:r>
            <a:r>
              <a:rPr lang="en-US" sz="2900" dirty="0" err="1"/>
              <a:t>conformité</a:t>
            </a:r>
            <a:r>
              <a:rPr lang="en-US" sz="2900" dirty="0"/>
              <a:t> avec “la </a:t>
            </a:r>
            <a:r>
              <a:rPr lang="en-US" sz="2900" b="1" dirty="0" err="1"/>
              <a:t>Réglementation</a:t>
            </a:r>
            <a:r>
              <a:rPr lang="en-US" sz="2900" b="1" dirty="0"/>
              <a:t> des </a:t>
            </a:r>
            <a:r>
              <a:rPr lang="en-US" sz="2900" b="1" dirty="0" err="1"/>
              <a:t>marchés</a:t>
            </a:r>
            <a:r>
              <a:rPr lang="en-US" sz="2900" b="1" dirty="0"/>
              <a:t> publics applicable aux </a:t>
            </a:r>
            <a:r>
              <a:rPr lang="en-US" sz="2900" b="1" dirty="0" err="1"/>
              <a:t>Emprunteurs</a:t>
            </a:r>
            <a:r>
              <a:rPr lang="en-US" sz="2900" dirty="0"/>
              <a:t>”;</a:t>
            </a:r>
          </a:p>
          <a:p>
            <a:r>
              <a:rPr lang="en-US" sz="2900" dirty="0" err="1"/>
              <a:t>Préparation</a:t>
            </a:r>
            <a:r>
              <a:rPr lang="en-US" sz="2900" dirty="0"/>
              <a:t> pour </a:t>
            </a:r>
            <a:r>
              <a:rPr lang="en-US" sz="2900" dirty="0" err="1"/>
              <a:t>chaque</a:t>
            </a:r>
            <a:r>
              <a:rPr lang="en-US" sz="2900" dirty="0"/>
              <a:t> </a:t>
            </a:r>
            <a:r>
              <a:rPr lang="en-US" sz="2900" dirty="0" err="1"/>
              <a:t>projet</a:t>
            </a:r>
            <a:r>
              <a:rPr lang="en-US" sz="2900" dirty="0"/>
              <a:t> </a:t>
            </a:r>
            <a:r>
              <a:rPr lang="en-US" sz="2900" dirty="0" err="1"/>
              <a:t>d’investissement</a:t>
            </a:r>
            <a:r>
              <a:rPr lang="en-US" sz="2900" dirty="0"/>
              <a:t>, </a:t>
            </a:r>
            <a:r>
              <a:rPr lang="en-US" sz="2900" dirty="0" err="1"/>
              <a:t>d’une</a:t>
            </a:r>
            <a:r>
              <a:rPr lang="en-US" sz="2900" dirty="0"/>
              <a:t> </a:t>
            </a:r>
            <a:r>
              <a:rPr lang="en-US" sz="2900" b="1" dirty="0" err="1"/>
              <a:t>Stratégie</a:t>
            </a:r>
            <a:r>
              <a:rPr lang="en-US" sz="2900" b="1" dirty="0"/>
              <a:t> de </a:t>
            </a:r>
            <a:r>
              <a:rPr lang="en-US" sz="2900" b="1" dirty="0" err="1"/>
              <a:t>passation</a:t>
            </a:r>
            <a:r>
              <a:rPr lang="en-US" sz="2900" b="1" dirty="0"/>
              <a:t> des </a:t>
            </a:r>
            <a:r>
              <a:rPr lang="en-US" sz="2900" b="1" dirty="0" err="1"/>
              <a:t>marchés</a:t>
            </a:r>
            <a:r>
              <a:rPr lang="en-US" sz="2900" b="1" dirty="0"/>
              <a:t> du </a:t>
            </a:r>
            <a:r>
              <a:rPr lang="en-US" sz="2900" b="1" dirty="0" err="1"/>
              <a:t>projet</a:t>
            </a:r>
            <a:r>
              <a:rPr lang="en-US" sz="2900" b="1" dirty="0"/>
              <a:t> (</a:t>
            </a:r>
            <a:r>
              <a:rPr lang="en-US" sz="2900" b="1" dirty="0" err="1"/>
              <a:t>PPSD</a:t>
            </a:r>
            <a:r>
              <a:rPr lang="en-US" sz="2900" b="1" dirty="0"/>
              <a:t>)</a:t>
            </a:r>
            <a:r>
              <a:rPr lang="en-US" sz="2900" dirty="0"/>
              <a:t>, avec </a:t>
            </a:r>
            <a:r>
              <a:rPr lang="en-US" sz="2900" dirty="0" err="1"/>
              <a:t>l’appui</a:t>
            </a:r>
            <a:r>
              <a:rPr lang="en-US" sz="2900" dirty="0"/>
              <a:t> de la </a:t>
            </a:r>
            <a:r>
              <a:rPr lang="en-US" sz="2900" dirty="0" err="1"/>
              <a:t>Banque</a:t>
            </a:r>
            <a:r>
              <a:rPr lang="en-US" sz="2900" dirty="0"/>
              <a:t> </a:t>
            </a:r>
            <a:r>
              <a:rPr lang="en-US" sz="2900" dirty="0" err="1"/>
              <a:t>Mondiale</a:t>
            </a:r>
            <a:r>
              <a:rPr lang="en-US" sz="2900" dirty="0"/>
              <a:t>; </a:t>
            </a:r>
          </a:p>
          <a:p>
            <a:r>
              <a:rPr lang="en-US" sz="2900" dirty="0"/>
              <a:t>Le non-respect de la </a:t>
            </a:r>
            <a:r>
              <a:rPr lang="en-US" sz="2900" dirty="0" err="1"/>
              <a:t>réglementation</a:t>
            </a:r>
            <a:r>
              <a:rPr lang="en-US" sz="2900" dirty="0"/>
              <a:t> par les </a:t>
            </a:r>
            <a:r>
              <a:rPr lang="en-US" sz="2900" dirty="0" err="1"/>
              <a:t>Emprunteurs</a:t>
            </a:r>
            <a:r>
              <a:rPr lang="en-US" sz="2900" dirty="0"/>
              <a:t> </a:t>
            </a:r>
            <a:r>
              <a:rPr lang="en-US" sz="2900" dirty="0" err="1"/>
              <a:t>peut</a:t>
            </a:r>
            <a:r>
              <a:rPr lang="en-US" sz="2900" dirty="0"/>
              <a:t> </a:t>
            </a:r>
            <a:r>
              <a:rPr lang="en-US" sz="2900" dirty="0" err="1"/>
              <a:t>amener</a:t>
            </a:r>
            <a:r>
              <a:rPr lang="en-US" sz="2900" dirty="0"/>
              <a:t> la </a:t>
            </a:r>
            <a:r>
              <a:rPr lang="en-US" sz="2900" dirty="0" err="1"/>
              <a:t>Banque</a:t>
            </a:r>
            <a:r>
              <a:rPr lang="en-US" sz="2900" dirty="0"/>
              <a:t> à </a:t>
            </a:r>
            <a:r>
              <a:rPr lang="en-US" sz="2900" dirty="0" err="1"/>
              <a:t>exercer</a:t>
            </a:r>
            <a:r>
              <a:rPr lang="en-US" sz="2900" dirty="0"/>
              <a:t> des </a:t>
            </a:r>
            <a:r>
              <a:rPr lang="en-US" sz="2900" dirty="0" err="1"/>
              <a:t>recours</a:t>
            </a:r>
            <a:r>
              <a:rPr lang="en-US" sz="2900" dirty="0"/>
              <a:t>, </a:t>
            </a:r>
            <a:r>
              <a:rPr lang="en-US" sz="2900" dirty="0" err="1"/>
              <a:t>en</a:t>
            </a:r>
            <a:r>
              <a:rPr lang="en-US" sz="2900" dirty="0"/>
              <a:t> plus de </a:t>
            </a:r>
            <a:r>
              <a:rPr lang="en-US" sz="2900" dirty="0" err="1"/>
              <a:t>celles</a:t>
            </a:r>
            <a:r>
              <a:rPr lang="en-US" sz="2900" dirty="0"/>
              <a:t> </a:t>
            </a:r>
            <a:r>
              <a:rPr lang="en-US" sz="2900" dirty="0" err="1"/>
              <a:t>prévues</a:t>
            </a:r>
            <a:r>
              <a:rPr lang="en-US" sz="2900" dirty="0"/>
              <a:t> par les Accords de Prêt, ne </a:t>
            </a:r>
            <a:r>
              <a:rPr lang="en-US" sz="2900" dirty="0" err="1"/>
              <a:t>visant</a:t>
            </a:r>
            <a:r>
              <a:rPr lang="en-US" sz="2900" dirty="0"/>
              <a:t> pas </a:t>
            </a:r>
            <a:r>
              <a:rPr lang="en-US" sz="2900" dirty="0" err="1"/>
              <a:t>automatiquement</a:t>
            </a:r>
            <a:r>
              <a:rPr lang="en-US" sz="2900" dirty="0"/>
              <a:t> à </a:t>
            </a:r>
            <a:r>
              <a:rPr lang="en-US" sz="2900" dirty="0" err="1"/>
              <a:t>l’annulation</a:t>
            </a:r>
            <a:r>
              <a:rPr lang="en-US" sz="2900" dirty="0"/>
              <a:t> des </a:t>
            </a:r>
            <a:r>
              <a:rPr lang="en-US" sz="2900" dirty="0" err="1"/>
              <a:t>sommes</a:t>
            </a:r>
            <a:r>
              <a:rPr lang="en-US" sz="2900" dirty="0"/>
              <a:t> </a:t>
            </a:r>
            <a:r>
              <a:rPr lang="en-US" sz="2900" dirty="0" err="1"/>
              <a:t>allouées</a:t>
            </a:r>
            <a:r>
              <a:rPr lang="en-US" sz="2900" dirty="0"/>
              <a:t> aux </a:t>
            </a:r>
            <a:r>
              <a:rPr lang="en-US" sz="2900" dirty="0" err="1"/>
              <a:t>contrats</a:t>
            </a:r>
            <a:r>
              <a:rPr lang="en-US" sz="2900" dirty="0"/>
              <a:t> </a:t>
            </a:r>
            <a:r>
              <a:rPr lang="en-US" sz="2900" dirty="0" err="1"/>
              <a:t>concernés</a:t>
            </a:r>
            <a:r>
              <a:rPr lang="en-US" sz="2900" dirty="0"/>
              <a:t>; </a:t>
            </a:r>
          </a:p>
          <a:p>
            <a:r>
              <a:rPr lang="en-US" sz="2900" dirty="0"/>
              <a:t>Les </a:t>
            </a:r>
            <a:r>
              <a:rPr lang="en-US" sz="2900" dirty="0" err="1"/>
              <a:t>Emprunteurs</a:t>
            </a:r>
            <a:r>
              <a:rPr lang="en-US" sz="2900" dirty="0"/>
              <a:t> </a:t>
            </a:r>
            <a:r>
              <a:rPr lang="en-US" sz="2900" dirty="0" err="1"/>
              <a:t>peuvent</a:t>
            </a:r>
            <a:r>
              <a:rPr lang="en-US" sz="2900" dirty="0"/>
              <a:t> engager des </a:t>
            </a:r>
            <a:r>
              <a:rPr lang="en-US" sz="2900" dirty="0" err="1"/>
              <a:t>Garants</a:t>
            </a:r>
            <a:r>
              <a:rPr lang="en-US" sz="2900" dirty="0"/>
              <a:t> </a:t>
            </a:r>
            <a:r>
              <a:rPr lang="en-US" sz="2900" dirty="0" err="1"/>
              <a:t>Fiduciaires</a:t>
            </a:r>
            <a:r>
              <a:rPr lang="en-US" sz="2900" dirty="0"/>
              <a:t> </a:t>
            </a:r>
            <a:r>
              <a:rPr lang="en-US" sz="2900" dirty="0" err="1"/>
              <a:t>Indépendants</a:t>
            </a:r>
            <a:r>
              <a:rPr lang="en-US" sz="2900" dirty="0"/>
              <a:t>, </a:t>
            </a:r>
            <a:r>
              <a:rPr lang="en-US" sz="2900" dirty="0" err="1"/>
              <a:t>en</a:t>
            </a:r>
            <a:r>
              <a:rPr lang="en-US" sz="2900" dirty="0"/>
              <a:t> </a:t>
            </a:r>
            <a:r>
              <a:rPr lang="en-US" sz="2900" dirty="0" err="1"/>
              <a:t>particulier</a:t>
            </a:r>
            <a:r>
              <a:rPr lang="en-US" sz="2900" dirty="0"/>
              <a:t> à la </a:t>
            </a:r>
            <a:r>
              <a:rPr lang="en-US" sz="2900" dirty="0" err="1"/>
              <a:t>demande</a:t>
            </a:r>
            <a:r>
              <a:rPr lang="en-US" sz="2900" dirty="0"/>
              <a:t> de la </a:t>
            </a:r>
            <a:r>
              <a:rPr lang="en-US" sz="2900" dirty="0" err="1"/>
              <a:t>Banque</a:t>
            </a:r>
            <a:r>
              <a:rPr lang="en-US" sz="2900" dirty="0"/>
              <a:t> </a:t>
            </a:r>
            <a:r>
              <a:rPr lang="en-US" sz="2900" dirty="0" err="1"/>
              <a:t>Mondiale</a:t>
            </a:r>
            <a:r>
              <a:rPr lang="en-US" sz="2900" dirty="0"/>
              <a:t>.</a:t>
            </a:r>
          </a:p>
        </p:txBody>
      </p:sp>
    </p:spTree>
    <p:extLst>
      <p:ext uri="{BB962C8B-B14F-4D97-AF65-F5344CB8AC3E}">
        <p14:creationId xmlns:p14="http://schemas.microsoft.com/office/powerpoint/2010/main" val="1936594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50427" y="281998"/>
            <a:ext cx="5427518" cy="964911"/>
          </a:xfrm>
        </p:spPr>
        <p:txBody>
          <a:bodyPr>
            <a:normAutofit/>
          </a:bodyPr>
          <a:lstStyle/>
          <a:p>
            <a:r>
              <a:rPr lang="en-US" sz="3600" dirty="0">
                <a:solidFill>
                  <a:schemeClr val="tx1"/>
                </a:solidFill>
              </a:rPr>
              <a:t>7. RÔLE DE LA BANQUE</a:t>
            </a:r>
          </a:p>
        </p:txBody>
      </p:sp>
      <p:sp>
        <p:nvSpPr>
          <p:cNvPr id="3" name="Content Placeholder 2"/>
          <p:cNvSpPr>
            <a:spLocks noGrp="1"/>
          </p:cNvSpPr>
          <p:nvPr>
            <p:ph idx="1"/>
          </p:nvPr>
        </p:nvSpPr>
        <p:spPr>
          <a:xfrm>
            <a:off x="182880" y="1586778"/>
            <a:ext cx="11841479" cy="5122631"/>
          </a:xfrm>
        </p:spPr>
        <p:txBody>
          <a:bodyPr>
            <a:normAutofit/>
          </a:bodyPr>
          <a:lstStyle/>
          <a:p>
            <a:r>
              <a:rPr lang="en-US" dirty="0"/>
              <a:t>Supervision des </a:t>
            </a:r>
            <a:r>
              <a:rPr lang="en-US" dirty="0" err="1"/>
              <a:t>procédures</a:t>
            </a:r>
            <a:r>
              <a:rPr lang="en-US" dirty="0"/>
              <a:t> de </a:t>
            </a:r>
            <a:r>
              <a:rPr lang="en-US" dirty="0" err="1"/>
              <a:t>passation</a:t>
            </a:r>
            <a:r>
              <a:rPr lang="en-US" dirty="0"/>
              <a:t> et </a:t>
            </a:r>
            <a:r>
              <a:rPr lang="en-US" dirty="0" err="1"/>
              <a:t>d’exécution</a:t>
            </a:r>
            <a:r>
              <a:rPr lang="en-US" dirty="0"/>
              <a:t> des </a:t>
            </a:r>
            <a:r>
              <a:rPr lang="en-US" dirty="0" err="1"/>
              <a:t>contrats</a:t>
            </a:r>
            <a:r>
              <a:rPr lang="en-US" dirty="0"/>
              <a:t> sur la base </a:t>
            </a:r>
            <a:r>
              <a:rPr lang="en-US" dirty="0" err="1"/>
              <a:t>d’une</a:t>
            </a:r>
            <a:r>
              <a:rPr lang="en-US" dirty="0"/>
              <a:t> </a:t>
            </a:r>
            <a:r>
              <a:rPr lang="en-US" dirty="0" err="1"/>
              <a:t>analyse</a:t>
            </a:r>
            <a:r>
              <a:rPr lang="en-US" dirty="0"/>
              <a:t> de </a:t>
            </a:r>
            <a:r>
              <a:rPr lang="en-US" dirty="0" err="1"/>
              <a:t>risque</a:t>
            </a:r>
            <a:r>
              <a:rPr lang="en-US" dirty="0"/>
              <a:t>;</a:t>
            </a:r>
          </a:p>
          <a:p>
            <a:r>
              <a:rPr lang="en-US" dirty="0"/>
              <a:t>Revue </a:t>
            </a:r>
            <a:r>
              <a:rPr lang="en-US" dirty="0" err="1"/>
              <a:t>préalable</a:t>
            </a:r>
            <a:r>
              <a:rPr lang="en-US" dirty="0"/>
              <a:t> des </a:t>
            </a:r>
            <a:r>
              <a:rPr lang="en-US" dirty="0" err="1"/>
              <a:t>procédures</a:t>
            </a:r>
            <a:r>
              <a:rPr lang="en-US" dirty="0"/>
              <a:t> de </a:t>
            </a:r>
            <a:r>
              <a:rPr lang="en-US" dirty="0" err="1"/>
              <a:t>passation</a:t>
            </a:r>
            <a:r>
              <a:rPr lang="en-US" dirty="0"/>
              <a:t> </a:t>
            </a:r>
            <a:r>
              <a:rPr lang="en-US" dirty="0" err="1"/>
              <a:t>en</a:t>
            </a:r>
            <a:r>
              <a:rPr lang="en-US" dirty="0"/>
              <a:t> </a:t>
            </a:r>
            <a:r>
              <a:rPr lang="en-US" dirty="0" err="1"/>
              <a:t>fonction</a:t>
            </a:r>
            <a:r>
              <a:rPr lang="en-US" dirty="0"/>
              <a:t> de </a:t>
            </a:r>
            <a:r>
              <a:rPr lang="en-US" dirty="0" err="1"/>
              <a:t>seuils</a:t>
            </a:r>
            <a:r>
              <a:rPr lang="en-US" dirty="0"/>
              <a:t> </a:t>
            </a:r>
            <a:r>
              <a:rPr lang="en-US" dirty="0" err="1"/>
              <a:t>pré-établis</a:t>
            </a:r>
            <a:r>
              <a:rPr lang="en-US" dirty="0"/>
              <a:t> (</a:t>
            </a:r>
            <a:r>
              <a:rPr lang="en-US" dirty="0" err="1"/>
              <a:t>seuils</a:t>
            </a:r>
            <a:r>
              <a:rPr lang="en-US" dirty="0"/>
              <a:t> </a:t>
            </a:r>
            <a:r>
              <a:rPr lang="en-US" dirty="0" err="1"/>
              <a:t>revus</a:t>
            </a:r>
            <a:r>
              <a:rPr lang="en-US" dirty="0"/>
              <a:t> à la </a:t>
            </a:r>
            <a:r>
              <a:rPr lang="en-US" dirty="0" err="1"/>
              <a:t>hausse</a:t>
            </a:r>
            <a:r>
              <a:rPr lang="en-US" dirty="0"/>
              <a:t>)</a:t>
            </a:r>
          </a:p>
          <a:p>
            <a:r>
              <a:rPr lang="en-US" dirty="0"/>
              <a:t>Revue </a:t>
            </a:r>
            <a:r>
              <a:rPr lang="en-US" dirty="0" err="1"/>
              <a:t>postérieure</a:t>
            </a:r>
            <a:r>
              <a:rPr lang="en-US" dirty="0"/>
              <a:t> des </a:t>
            </a:r>
            <a:r>
              <a:rPr lang="en-US" dirty="0" err="1"/>
              <a:t>procédures</a:t>
            </a:r>
            <a:r>
              <a:rPr lang="en-US" dirty="0"/>
              <a:t> de </a:t>
            </a:r>
            <a:r>
              <a:rPr lang="en-US" dirty="0" err="1"/>
              <a:t>passation</a:t>
            </a:r>
            <a:r>
              <a:rPr lang="en-US" dirty="0"/>
              <a:t>: les </a:t>
            </a:r>
            <a:r>
              <a:rPr lang="en-US" dirty="0" err="1"/>
              <a:t>organes</a:t>
            </a:r>
            <a:r>
              <a:rPr lang="en-US" dirty="0"/>
              <a:t> de </a:t>
            </a:r>
            <a:r>
              <a:rPr lang="en-US" dirty="0" err="1"/>
              <a:t>contrôle</a:t>
            </a:r>
            <a:r>
              <a:rPr lang="en-US" dirty="0"/>
              <a:t> national (</a:t>
            </a:r>
            <a:r>
              <a:rPr lang="en-US" dirty="0" err="1"/>
              <a:t>Cour</a:t>
            </a:r>
            <a:r>
              <a:rPr lang="en-US" dirty="0"/>
              <a:t> des </a:t>
            </a:r>
            <a:r>
              <a:rPr lang="en-US" dirty="0" err="1"/>
              <a:t>Comptes</a:t>
            </a:r>
            <a:r>
              <a:rPr lang="en-US" dirty="0"/>
              <a:t>, </a:t>
            </a:r>
            <a:r>
              <a:rPr lang="en-US" dirty="0" err="1"/>
              <a:t>IGFs</a:t>
            </a:r>
            <a:r>
              <a:rPr lang="en-US" dirty="0"/>
              <a:t>..) </a:t>
            </a:r>
            <a:r>
              <a:rPr lang="en-US" dirty="0" err="1"/>
              <a:t>reconnus</a:t>
            </a:r>
            <a:r>
              <a:rPr lang="en-US" dirty="0"/>
              <a:t> par la </a:t>
            </a:r>
            <a:r>
              <a:rPr lang="en-US" dirty="0" err="1"/>
              <a:t>Banque</a:t>
            </a:r>
            <a:r>
              <a:rPr lang="en-US" dirty="0"/>
              <a:t> </a:t>
            </a:r>
            <a:r>
              <a:rPr lang="en-US" dirty="0" err="1"/>
              <a:t>peuvent</a:t>
            </a:r>
            <a:r>
              <a:rPr lang="en-US" dirty="0"/>
              <a:t> se </a:t>
            </a:r>
            <a:r>
              <a:rPr lang="en-US" dirty="0" err="1"/>
              <a:t>substituer</a:t>
            </a:r>
            <a:r>
              <a:rPr lang="en-US" dirty="0"/>
              <a:t> à </a:t>
            </a:r>
            <a:r>
              <a:rPr lang="en-US" dirty="0" err="1"/>
              <a:t>cette</a:t>
            </a:r>
            <a:r>
              <a:rPr lang="en-US" dirty="0"/>
              <a:t> </a:t>
            </a:r>
            <a:r>
              <a:rPr lang="en-US" dirty="0" err="1"/>
              <a:t>dernière</a:t>
            </a:r>
            <a:r>
              <a:rPr lang="en-US" dirty="0"/>
              <a:t>, avec son accord;</a:t>
            </a:r>
          </a:p>
          <a:p>
            <a:r>
              <a:rPr lang="en-US" dirty="0"/>
              <a:t>Revue par la </a:t>
            </a:r>
            <a:r>
              <a:rPr lang="en-US" dirty="0" err="1"/>
              <a:t>Banque</a:t>
            </a:r>
            <a:r>
              <a:rPr lang="en-US" dirty="0"/>
              <a:t> du </a:t>
            </a:r>
            <a:r>
              <a:rPr lang="en-US" dirty="0" err="1"/>
              <a:t>PPSD</a:t>
            </a:r>
            <a:r>
              <a:rPr lang="en-US" dirty="0"/>
              <a:t> et approbation du PPM </a:t>
            </a:r>
            <a:r>
              <a:rPr lang="en-US" dirty="0" err="1"/>
              <a:t>avant</a:t>
            </a:r>
            <a:r>
              <a:rPr lang="en-US" dirty="0"/>
              <a:t> conclusion des </a:t>
            </a:r>
            <a:r>
              <a:rPr lang="en-US" dirty="0" err="1"/>
              <a:t>négociations</a:t>
            </a:r>
            <a:r>
              <a:rPr lang="en-US" dirty="0"/>
              <a:t>;</a:t>
            </a:r>
          </a:p>
          <a:p>
            <a:r>
              <a:rPr lang="en-US" dirty="0" err="1"/>
              <a:t>Peut</a:t>
            </a:r>
            <a:r>
              <a:rPr lang="en-US" dirty="0"/>
              <a:t> </a:t>
            </a:r>
            <a:r>
              <a:rPr lang="en-US" dirty="0" err="1"/>
              <a:t>toujours</a:t>
            </a:r>
            <a:r>
              <a:rPr lang="en-US" dirty="0"/>
              <a:t> </a:t>
            </a:r>
            <a:r>
              <a:rPr lang="en-US" dirty="0" err="1"/>
              <a:t>conduire</a:t>
            </a:r>
            <a:r>
              <a:rPr lang="en-US" dirty="0"/>
              <a:t> des audits et </a:t>
            </a:r>
            <a:r>
              <a:rPr lang="en-US" dirty="0" err="1"/>
              <a:t>enquêtes</a:t>
            </a:r>
            <a:r>
              <a:rPr lang="en-US" dirty="0"/>
              <a:t> </a:t>
            </a:r>
            <a:r>
              <a:rPr lang="en-US" dirty="0" err="1"/>
              <a:t>en</a:t>
            </a:r>
            <a:r>
              <a:rPr lang="en-US" dirty="0"/>
              <a:t> </a:t>
            </a:r>
            <a:r>
              <a:rPr lang="en-US" dirty="0" err="1"/>
              <a:t>vertu</a:t>
            </a:r>
            <a:r>
              <a:rPr lang="en-US" dirty="0"/>
              <a:t> de </a:t>
            </a:r>
            <a:r>
              <a:rPr lang="en-US" dirty="0" err="1"/>
              <a:t>sa</a:t>
            </a:r>
            <a:r>
              <a:rPr lang="en-US" dirty="0"/>
              <a:t> </a:t>
            </a:r>
            <a:r>
              <a:rPr lang="en-US" dirty="0" err="1"/>
              <a:t>politique</a:t>
            </a:r>
            <a:r>
              <a:rPr lang="en-US" dirty="0"/>
              <a:t> de </a:t>
            </a:r>
            <a:r>
              <a:rPr lang="en-US" dirty="0" err="1"/>
              <a:t>lutte</a:t>
            </a:r>
            <a:r>
              <a:rPr lang="en-US" dirty="0"/>
              <a:t> </a:t>
            </a:r>
            <a:r>
              <a:rPr lang="en-US" dirty="0" err="1"/>
              <a:t>contre</a:t>
            </a:r>
            <a:r>
              <a:rPr lang="en-US" dirty="0"/>
              <a:t> la </a:t>
            </a:r>
            <a:r>
              <a:rPr lang="en-US" dirty="0" err="1"/>
              <a:t>fraude</a:t>
            </a:r>
            <a:r>
              <a:rPr lang="en-US" dirty="0"/>
              <a:t> et la corruption.</a:t>
            </a:r>
          </a:p>
          <a:p>
            <a:pPr marL="0" indent="0">
              <a:buNone/>
            </a:pPr>
            <a:endParaRPr lang="en-US" dirty="0"/>
          </a:p>
        </p:txBody>
      </p:sp>
    </p:spTree>
    <p:extLst>
      <p:ext uri="{BB962C8B-B14F-4D97-AF65-F5344CB8AC3E}">
        <p14:creationId xmlns:p14="http://schemas.microsoft.com/office/powerpoint/2010/main" val="3433932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r>
              <a:rPr lang="en-US" sz="3600" dirty="0">
                <a:solidFill>
                  <a:schemeClr val="tx1"/>
                </a:solidFill>
              </a:rPr>
              <a:t>1. Vision et concept</a:t>
            </a:r>
          </a:p>
        </p:txBody>
      </p:sp>
      <p:sp>
        <p:nvSpPr>
          <p:cNvPr id="3" name="Content Placeholder 2"/>
          <p:cNvSpPr>
            <a:spLocks noGrp="1"/>
          </p:cNvSpPr>
          <p:nvPr>
            <p:ph idx="1"/>
          </p:nvPr>
        </p:nvSpPr>
        <p:spPr>
          <a:xfrm>
            <a:off x="667097" y="1766456"/>
            <a:ext cx="11168149" cy="3636817"/>
          </a:xfrm>
        </p:spPr>
        <p:txBody>
          <a:bodyPr>
            <a:normAutofit/>
          </a:bodyPr>
          <a:lstStyle/>
          <a:p>
            <a:pPr marL="0" indent="0">
              <a:buNone/>
            </a:pPr>
            <a:r>
              <a:rPr lang="en-US" sz="4200" dirty="0"/>
              <a:t> “ </a:t>
            </a:r>
            <a:r>
              <a:rPr lang="fr-FR" sz="4200" dirty="0"/>
              <a:t>La passation des marchés dans les opérations d’investissement aide les Emprunteurs à obtenir l’optimisation de leurs ressources avec intégrité et dans le cadre d’un développement durable ”  </a:t>
            </a:r>
            <a:endParaRPr lang="en-US" dirty="0"/>
          </a:p>
        </p:txBody>
      </p:sp>
    </p:spTree>
    <p:extLst>
      <p:ext uri="{BB962C8B-B14F-4D97-AF65-F5344CB8AC3E}">
        <p14:creationId xmlns:p14="http://schemas.microsoft.com/office/powerpoint/2010/main" val="1228566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pPr algn="r"/>
            <a:r>
              <a:rPr lang="en-US" sz="3600" dirty="0">
                <a:solidFill>
                  <a:schemeClr val="tx1"/>
                </a:solidFill>
              </a:rPr>
              <a:t>1. Vision et concept</a:t>
            </a:r>
          </a:p>
        </p:txBody>
      </p:sp>
      <p:sp>
        <p:nvSpPr>
          <p:cNvPr id="3" name="Content Placeholder 2"/>
          <p:cNvSpPr>
            <a:spLocks noGrp="1"/>
          </p:cNvSpPr>
          <p:nvPr>
            <p:ph idx="1"/>
          </p:nvPr>
        </p:nvSpPr>
        <p:spPr>
          <a:xfrm>
            <a:off x="486988" y="961659"/>
            <a:ext cx="11524903" cy="5633450"/>
          </a:xfrm>
        </p:spPr>
        <p:txBody>
          <a:bodyPr vert="horz" lIns="91440" tIns="45720" rIns="91440" bIns="45720" rtlCol="0" anchor="t">
            <a:normAutofit fontScale="92500" lnSpcReduction="10000"/>
          </a:bodyPr>
          <a:lstStyle/>
          <a:p>
            <a:pPr>
              <a:lnSpc>
                <a:spcPct val="120000"/>
              </a:lnSpc>
            </a:pPr>
            <a:r>
              <a:rPr lang="en-US" sz="2400" dirty="0"/>
              <a:t>Nouveau Cadre des </a:t>
            </a:r>
            <a:r>
              <a:rPr lang="en-US" sz="2400" dirty="0" err="1"/>
              <a:t>Marchés</a:t>
            </a:r>
            <a:r>
              <a:rPr lang="en-US" sz="2400" dirty="0"/>
              <a:t> Publics </a:t>
            </a:r>
            <a:r>
              <a:rPr lang="en-US" sz="2400" dirty="0" err="1"/>
              <a:t>est</a:t>
            </a:r>
            <a:r>
              <a:rPr lang="en-US" sz="2400" dirty="0"/>
              <a:t> </a:t>
            </a:r>
            <a:r>
              <a:rPr lang="en-US" sz="2400" dirty="0" err="1"/>
              <a:t>intrinsèquement</a:t>
            </a:r>
            <a:r>
              <a:rPr lang="en-US" sz="2400" dirty="0"/>
              <a:t> </a:t>
            </a:r>
            <a:r>
              <a:rPr lang="en-US" sz="2400" dirty="0" err="1"/>
              <a:t>différent</a:t>
            </a:r>
            <a:r>
              <a:rPr lang="en-US" sz="2400" dirty="0"/>
              <a:t> des </a:t>
            </a:r>
            <a:r>
              <a:rPr lang="en-US" sz="2400" dirty="0" err="1"/>
              <a:t>Normes</a:t>
            </a:r>
            <a:r>
              <a:rPr lang="en-US" sz="2400" dirty="0"/>
              <a:t> de </a:t>
            </a:r>
            <a:r>
              <a:rPr lang="en-US" sz="2400" dirty="0" err="1"/>
              <a:t>Passation</a:t>
            </a:r>
            <a:r>
              <a:rPr lang="en-US" sz="2400" dirty="0"/>
              <a:t> </a:t>
            </a:r>
            <a:r>
              <a:rPr lang="en-US" sz="2400" dirty="0" err="1"/>
              <a:t>utilisées</a:t>
            </a:r>
            <a:r>
              <a:rPr lang="en-US" sz="2400" dirty="0"/>
              <a:t> </a:t>
            </a:r>
            <a:r>
              <a:rPr lang="en-US" sz="2400" dirty="0" err="1"/>
              <a:t>jusque-là</a:t>
            </a:r>
            <a:r>
              <a:rPr lang="en-US" sz="2400" dirty="0"/>
              <a:t>;</a:t>
            </a:r>
          </a:p>
          <a:p>
            <a:pPr>
              <a:lnSpc>
                <a:spcPct val="120000"/>
              </a:lnSpc>
            </a:pPr>
            <a:r>
              <a:rPr lang="en-US" sz="2400" dirty="0"/>
              <a:t>Large </a:t>
            </a:r>
            <a:r>
              <a:rPr lang="en-US" sz="2400" dirty="0" err="1"/>
              <a:t>éventail</a:t>
            </a:r>
            <a:r>
              <a:rPr lang="en-US" sz="2400" dirty="0"/>
              <a:t> de </a:t>
            </a:r>
            <a:r>
              <a:rPr lang="en-US" sz="2400" dirty="0" err="1"/>
              <a:t>procédures</a:t>
            </a:r>
            <a:r>
              <a:rPr lang="en-US" sz="2400" dirty="0"/>
              <a:t> de </a:t>
            </a:r>
            <a:r>
              <a:rPr lang="en-US" sz="2400" dirty="0" err="1"/>
              <a:t>passation</a:t>
            </a:r>
            <a:r>
              <a:rPr lang="en-US" sz="2400" dirty="0"/>
              <a:t> </a:t>
            </a:r>
            <a:r>
              <a:rPr lang="en-US" sz="2400" dirty="0" err="1"/>
              <a:t>allant</a:t>
            </a:r>
            <a:r>
              <a:rPr lang="en-US" sz="2400" dirty="0"/>
              <a:t> de:</a:t>
            </a:r>
          </a:p>
          <a:p>
            <a:pPr lvl="1">
              <a:lnSpc>
                <a:spcPct val="120000"/>
              </a:lnSpc>
            </a:pPr>
            <a:r>
              <a:rPr lang="en-US" sz="1800" dirty="0"/>
              <a:t>Plus </a:t>
            </a:r>
            <a:r>
              <a:rPr lang="en-US" sz="1800" dirty="0" err="1"/>
              <a:t>grande</a:t>
            </a:r>
            <a:r>
              <a:rPr lang="en-US" sz="1800" dirty="0"/>
              <a:t> </a:t>
            </a:r>
            <a:r>
              <a:rPr lang="en-US" sz="1800" dirty="0" err="1"/>
              <a:t>flexibilité</a:t>
            </a:r>
            <a:r>
              <a:rPr lang="en-US" sz="1800" dirty="0"/>
              <a:t> </a:t>
            </a:r>
            <a:r>
              <a:rPr lang="en-US" sz="1800" dirty="0" err="1"/>
              <a:t>laissée</a:t>
            </a:r>
            <a:r>
              <a:rPr lang="en-US" sz="1800" dirty="0"/>
              <a:t> aux </a:t>
            </a:r>
            <a:r>
              <a:rPr lang="en-US" sz="1800" dirty="0" err="1"/>
              <a:t>Emprunteurs</a:t>
            </a:r>
            <a:r>
              <a:rPr lang="en-US" sz="1800" dirty="0"/>
              <a:t>: “Arrangements </a:t>
            </a:r>
            <a:r>
              <a:rPr lang="en-US" sz="1800" dirty="0" err="1"/>
              <a:t>Alternatifs</a:t>
            </a:r>
            <a:r>
              <a:rPr lang="en-US" sz="1800" dirty="0"/>
              <a:t> de </a:t>
            </a:r>
            <a:r>
              <a:rPr lang="en-US" sz="1800" dirty="0" err="1"/>
              <a:t>Passation</a:t>
            </a:r>
            <a:r>
              <a:rPr lang="en-US" sz="1800" dirty="0"/>
              <a:t> des </a:t>
            </a:r>
            <a:r>
              <a:rPr lang="en-US" sz="1800" dirty="0" err="1"/>
              <a:t>marchés</a:t>
            </a:r>
            <a:r>
              <a:rPr lang="en-US" sz="1800" dirty="0"/>
              <a:t>” (APAs)</a:t>
            </a:r>
          </a:p>
          <a:p>
            <a:pPr lvl="1">
              <a:lnSpc>
                <a:spcPct val="120000"/>
              </a:lnSpc>
            </a:pPr>
            <a:r>
              <a:rPr lang="en-US" sz="1800" dirty="0"/>
              <a:t> Assistance </a:t>
            </a:r>
            <a:r>
              <a:rPr lang="en-US" sz="1800" dirty="0" err="1"/>
              <a:t>directe</a:t>
            </a:r>
            <a:r>
              <a:rPr lang="en-US" sz="1800" dirty="0"/>
              <a:t> de la Banque Mondiale dans  </a:t>
            </a:r>
            <a:r>
              <a:rPr lang="fr-FR" sz="1800" dirty="0"/>
              <a:t>la passation des marchés.</a:t>
            </a:r>
          </a:p>
          <a:p>
            <a:pPr>
              <a:lnSpc>
                <a:spcPct val="120000"/>
              </a:lnSpc>
            </a:pPr>
            <a:r>
              <a:rPr lang="fr-FR" sz="2400" dirty="0"/>
              <a:t>Choix des procédures applicables dépend de la Stratégie de passation des marchés du projet («PPSD» ) qui est reflétée dans le Plan de Passation des Marchés (PPM).</a:t>
            </a:r>
          </a:p>
          <a:p>
            <a:pPr>
              <a:lnSpc>
                <a:spcPct val="120000"/>
              </a:lnSpc>
            </a:pPr>
            <a:r>
              <a:rPr lang="fr-FR" sz="2400" b="1" u="sng" dirty="0">
                <a:solidFill>
                  <a:srgbClr val="C00000"/>
                </a:solidFill>
              </a:rPr>
              <a:t>Différence essentielle</a:t>
            </a:r>
            <a:r>
              <a:rPr lang="fr-FR" sz="2400" b="1" dirty="0">
                <a:solidFill>
                  <a:srgbClr val="C00000"/>
                </a:solidFill>
              </a:rPr>
              <a:t>: le PPM ne sera plus le résultat d’une application automatique de procédures en fonction essentiellement de seuils, mais le résultat ultime d’une analyse (PPSD) aboutissant aux meilleures procédures de passation de nature à permettre l’achèvement des objectifs de développement.</a:t>
            </a:r>
          </a:p>
        </p:txBody>
      </p:sp>
    </p:spTree>
    <p:extLst>
      <p:ext uri="{BB962C8B-B14F-4D97-AF65-F5344CB8AC3E}">
        <p14:creationId xmlns:p14="http://schemas.microsoft.com/office/powerpoint/2010/main" val="3392526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07528" y="221328"/>
            <a:ext cx="7173190" cy="1004888"/>
          </a:xfrm>
        </p:spPr>
        <p:txBody>
          <a:bodyPr>
            <a:noAutofit/>
          </a:bodyPr>
          <a:lstStyle/>
          <a:p>
            <a:pPr algn="r"/>
            <a:r>
              <a:rPr lang="en-US" sz="3200" dirty="0">
                <a:solidFill>
                  <a:schemeClr val="tx1"/>
                </a:solidFill>
              </a:rPr>
              <a:t>2. </a:t>
            </a:r>
            <a:r>
              <a:rPr lang="en-US" sz="3200" dirty="0" err="1">
                <a:solidFill>
                  <a:schemeClr val="tx1"/>
                </a:solidFill>
              </a:rPr>
              <a:t>Principes</a:t>
            </a:r>
            <a:r>
              <a:rPr lang="en-US" sz="3200" dirty="0">
                <a:solidFill>
                  <a:schemeClr val="tx1"/>
                </a:solidFill>
              </a:rPr>
              <a:t> </a:t>
            </a:r>
            <a:r>
              <a:rPr lang="en-US" sz="3200" dirty="0" err="1">
                <a:solidFill>
                  <a:schemeClr val="tx1"/>
                </a:solidFill>
              </a:rPr>
              <a:t>applicables</a:t>
            </a:r>
            <a:endParaRPr lang="en-US" sz="3200" dirty="0">
              <a:solidFill>
                <a:schemeClr val="tx1"/>
              </a:solidFill>
            </a:endParaRPr>
          </a:p>
        </p:txBody>
      </p:sp>
      <p:sp>
        <p:nvSpPr>
          <p:cNvPr id="3" name="Content Placeholder 2"/>
          <p:cNvSpPr>
            <a:spLocks noGrp="1"/>
          </p:cNvSpPr>
          <p:nvPr>
            <p:ph idx="1"/>
          </p:nvPr>
        </p:nvSpPr>
        <p:spPr>
          <a:xfrm>
            <a:off x="486988" y="1589809"/>
            <a:ext cx="11005357" cy="4488873"/>
          </a:xfrm>
        </p:spPr>
        <p:txBody>
          <a:bodyPr>
            <a:normAutofit fontScale="92500" lnSpcReduction="20000"/>
          </a:bodyPr>
          <a:lstStyle/>
          <a:p>
            <a:r>
              <a:rPr lang="en-US" sz="4200" dirty="0"/>
              <a:t>Transparence</a:t>
            </a:r>
          </a:p>
          <a:p>
            <a:r>
              <a:rPr lang="en-US" sz="4200" dirty="0" err="1"/>
              <a:t>Equité</a:t>
            </a:r>
            <a:endParaRPr lang="en-US" sz="4200" dirty="0"/>
          </a:p>
          <a:p>
            <a:r>
              <a:rPr lang="en-US" sz="4200" dirty="0" err="1"/>
              <a:t>Economie</a:t>
            </a:r>
            <a:endParaRPr lang="en-US" sz="4200" dirty="0"/>
          </a:p>
          <a:p>
            <a:r>
              <a:rPr lang="en-US" sz="4200" dirty="0" err="1"/>
              <a:t>Intégrité</a:t>
            </a:r>
            <a:endParaRPr lang="en-US" sz="4200" dirty="0"/>
          </a:p>
          <a:p>
            <a:r>
              <a:rPr lang="en-US" sz="4200" dirty="0" err="1"/>
              <a:t>Efficience</a:t>
            </a:r>
            <a:endParaRPr lang="en-US" sz="4200" dirty="0"/>
          </a:p>
          <a:p>
            <a:r>
              <a:rPr lang="en-US" sz="4200" b="1" i="1" dirty="0"/>
              <a:t>Adaptation aux </a:t>
            </a:r>
            <a:r>
              <a:rPr lang="en-US" sz="4200" b="1" i="1" dirty="0" err="1"/>
              <a:t>besoins</a:t>
            </a:r>
            <a:r>
              <a:rPr lang="en-US" sz="4200" b="1" i="1" dirty="0"/>
              <a:t> (</a:t>
            </a:r>
            <a:r>
              <a:rPr lang="en-US" sz="4200" b="1" i="1" dirty="0" err="1"/>
              <a:t>FfP</a:t>
            </a:r>
            <a:r>
              <a:rPr lang="en-US" sz="4200" b="1" i="1" dirty="0"/>
              <a:t>)</a:t>
            </a:r>
          </a:p>
          <a:p>
            <a:r>
              <a:rPr lang="en-US" sz="4200" b="1" i="1" dirty="0" err="1"/>
              <a:t>Optimisation</a:t>
            </a:r>
            <a:r>
              <a:rPr lang="en-US" sz="4200" b="1" i="1" dirty="0"/>
              <a:t> des </a:t>
            </a:r>
            <a:r>
              <a:rPr lang="en-US" sz="4200" b="1" i="1" dirty="0" err="1"/>
              <a:t>ressources</a:t>
            </a:r>
            <a:r>
              <a:rPr lang="en-US" sz="4200" b="1" i="1" dirty="0"/>
              <a:t> (</a:t>
            </a:r>
            <a:r>
              <a:rPr lang="en-US" sz="4200" b="1" i="1" dirty="0" err="1"/>
              <a:t>OdR</a:t>
            </a:r>
            <a:r>
              <a:rPr lang="en-US" sz="4200" b="1" i="1" dirty="0"/>
              <a:t>)</a:t>
            </a:r>
            <a:endParaRPr lang="fr-FR" sz="4200" b="1" i="1" dirty="0"/>
          </a:p>
        </p:txBody>
      </p:sp>
    </p:spTree>
    <p:extLst>
      <p:ext uri="{BB962C8B-B14F-4D97-AF65-F5344CB8AC3E}">
        <p14:creationId xmlns:p14="http://schemas.microsoft.com/office/powerpoint/2010/main" val="2814043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pPr algn="r"/>
            <a:r>
              <a:rPr lang="en-US" sz="3200" dirty="0">
                <a:solidFill>
                  <a:schemeClr val="tx1"/>
                </a:solidFill>
              </a:rPr>
              <a:t>3. </a:t>
            </a:r>
            <a:r>
              <a:rPr lang="en-US" sz="3200" dirty="0" err="1">
                <a:solidFill>
                  <a:schemeClr val="tx1"/>
                </a:solidFill>
              </a:rPr>
              <a:t>Stratégie</a:t>
            </a:r>
            <a:r>
              <a:rPr lang="en-US" sz="3200" dirty="0">
                <a:solidFill>
                  <a:schemeClr val="tx1"/>
                </a:solidFill>
              </a:rPr>
              <a:t> de </a:t>
            </a:r>
            <a:r>
              <a:rPr lang="en-US" sz="3200" dirty="0" err="1">
                <a:solidFill>
                  <a:schemeClr val="tx1"/>
                </a:solidFill>
              </a:rPr>
              <a:t>passation</a:t>
            </a:r>
            <a:r>
              <a:rPr lang="en-US" sz="3200" dirty="0">
                <a:solidFill>
                  <a:schemeClr val="tx1"/>
                </a:solidFill>
              </a:rPr>
              <a:t> des </a:t>
            </a:r>
            <a:r>
              <a:rPr lang="en-US" sz="3200" dirty="0" err="1">
                <a:solidFill>
                  <a:schemeClr val="tx1"/>
                </a:solidFill>
              </a:rPr>
              <a:t>marchés</a:t>
            </a:r>
            <a:r>
              <a:rPr lang="en-US" sz="3200" dirty="0">
                <a:solidFill>
                  <a:schemeClr val="tx1"/>
                </a:solidFill>
              </a:rPr>
              <a:t> du </a:t>
            </a:r>
            <a:r>
              <a:rPr lang="en-US" sz="3200" dirty="0" err="1">
                <a:solidFill>
                  <a:schemeClr val="tx1"/>
                </a:solidFill>
              </a:rPr>
              <a:t>projet</a:t>
            </a:r>
            <a:r>
              <a:rPr lang="en-US" sz="3200" dirty="0">
                <a:solidFill>
                  <a:schemeClr val="tx1"/>
                </a:solidFill>
              </a:rPr>
              <a:t> (</a:t>
            </a:r>
            <a:r>
              <a:rPr lang="en-US" sz="3200" dirty="0" err="1">
                <a:solidFill>
                  <a:schemeClr val="tx1"/>
                </a:solidFill>
              </a:rPr>
              <a:t>PPSD</a:t>
            </a:r>
            <a:r>
              <a:rPr lang="en-US" sz="3200" dirty="0">
                <a:solidFill>
                  <a:schemeClr val="tx1"/>
                </a:solidFill>
              </a:rPr>
              <a:t>)</a:t>
            </a:r>
          </a:p>
        </p:txBody>
      </p:sp>
      <p:sp>
        <p:nvSpPr>
          <p:cNvPr id="3" name="Content Placeholder 2"/>
          <p:cNvSpPr>
            <a:spLocks noGrp="1"/>
          </p:cNvSpPr>
          <p:nvPr>
            <p:ph idx="1"/>
          </p:nvPr>
        </p:nvSpPr>
        <p:spPr>
          <a:xfrm>
            <a:off x="486988" y="1392383"/>
            <a:ext cx="11524903" cy="5008418"/>
          </a:xfrm>
        </p:spPr>
        <p:txBody>
          <a:bodyPr>
            <a:normAutofit fontScale="92500"/>
          </a:bodyPr>
          <a:lstStyle/>
          <a:p>
            <a:r>
              <a:rPr lang="en-US" sz="2400" dirty="0" err="1"/>
              <a:t>PPSD</a:t>
            </a:r>
            <a:r>
              <a:rPr lang="en-US" sz="2400" dirty="0"/>
              <a:t> </a:t>
            </a:r>
            <a:r>
              <a:rPr lang="en-US" sz="2400" dirty="0" err="1"/>
              <a:t>est</a:t>
            </a:r>
            <a:r>
              <a:rPr lang="en-US" sz="2400" dirty="0"/>
              <a:t> la </a:t>
            </a:r>
            <a:r>
              <a:rPr lang="en-US" sz="2400" dirty="0" err="1"/>
              <a:t>pierre</a:t>
            </a:r>
            <a:r>
              <a:rPr lang="en-US" sz="2400" dirty="0"/>
              <a:t> </a:t>
            </a:r>
            <a:r>
              <a:rPr lang="en-US" sz="2400" dirty="0" err="1"/>
              <a:t>angulaire</a:t>
            </a:r>
            <a:r>
              <a:rPr lang="en-US" sz="2400" dirty="0"/>
              <a:t> du cadre des </a:t>
            </a:r>
            <a:r>
              <a:rPr lang="en-US" sz="2400" dirty="0" err="1"/>
              <a:t>marchés</a:t>
            </a:r>
            <a:r>
              <a:rPr lang="en-US" sz="2400" dirty="0"/>
              <a:t> publics</a:t>
            </a:r>
          </a:p>
          <a:p>
            <a:r>
              <a:rPr lang="en-US" sz="2400" dirty="0" err="1"/>
              <a:t>Obligatoire</a:t>
            </a:r>
            <a:r>
              <a:rPr lang="en-US" sz="2400" dirty="0"/>
              <a:t> pour </a:t>
            </a:r>
            <a:r>
              <a:rPr lang="en-US" sz="2400" dirty="0" err="1"/>
              <a:t>l’ensemble</a:t>
            </a:r>
            <a:r>
              <a:rPr lang="en-US" sz="2400" dirty="0"/>
              <a:t> des </a:t>
            </a:r>
            <a:r>
              <a:rPr lang="en-US" sz="2400" dirty="0" err="1"/>
              <a:t>projets</a:t>
            </a:r>
            <a:r>
              <a:rPr lang="en-US" sz="2400" dirty="0"/>
              <a:t> </a:t>
            </a:r>
            <a:r>
              <a:rPr lang="en-US" sz="2400" dirty="0" err="1"/>
              <a:t>d’investissement</a:t>
            </a:r>
            <a:endParaRPr lang="en-US" sz="2400" dirty="0"/>
          </a:p>
          <a:p>
            <a:r>
              <a:rPr lang="en-US" sz="2400" dirty="0" err="1"/>
              <a:t>Responsabilité</a:t>
            </a:r>
            <a:r>
              <a:rPr lang="en-US" sz="2400" dirty="0"/>
              <a:t> de </a:t>
            </a:r>
            <a:r>
              <a:rPr lang="en-US" sz="2400" dirty="0" err="1"/>
              <a:t>l’Emprunteur</a:t>
            </a:r>
            <a:r>
              <a:rPr lang="en-US" sz="2400" dirty="0"/>
              <a:t> avec </a:t>
            </a:r>
            <a:r>
              <a:rPr lang="en-US" sz="2400" dirty="0" err="1"/>
              <a:t>l’aide</a:t>
            </a:r>
            <a:r>
              <a:rPr lang="en-US" sz="2400" dirty="0"/>
              <a:t> </a:t>
            </a:r>
            <a:r>
              <a:rPr lang="en-US" sz="2400" dirty="0" err="1"/>
              <a:t>éventuelle</a:t>
            </a:r>
            <a:r>
              <a:rPr lang="en-US" sz="2400" dirty="0"/>
              <a:t> de la </a:t>
            </a:r>
            <a:r>
              <a:rPr lang="en-US" sz="2400" dirty="0" err="1"/>
              <a:t>Banque</a:t>
            </a:r>
            <a:endParaRPr lang="en-US" sz="2400" dirty="0"/>
          </a:p>
          <a:p>
            <a:r>
              <a:rPr lang="en-US" sz="2400" dirty="0" err="1"/>
              <a:t>Doit</a:t>
            </a:r>
            <a:r>
              <a:rPr lang="en-US" sz="2400" dirty="0"/>
              <a:t> </a:t>
            </a:r>
            <a:r>
              <a:rPr lang="en-US" sz="2400" dirty="0" err="1"/>
              <a:t>être</a:t>
            </a:r>
            <a:r>
              <a:rPr lang="en-US" sz="2400" dirty="0"/>
              <a:t> </a:t>
            </a:r>
            <a:r>
              <a:rPr lang="en-US" sz="2400" dirty="0" err="1"/>
              <a:t>finalisé</a:t>
            </a:r>
            <a:r>
              <a:rPr lang="en-US" sz="2400" dirty="0"/>
              <a:t> </a:t>
            </a:r>
            <a:r>
              <a:rPr lang="en-US" sz="2400" dirty="0" err="1"/>
              <a:t>avant</a:t>
            </a:r>
            <a:r>
              <a:rPr lang="en-US" sz="2400" dirty="0"/>
              <a:t> </a:t>
            </a:r>
            <a:r>
              <a:rPr lang="en-US" sz="2400" dirty="0" err="1"/>
              <a:t>l’évaluation</a:t>
            </a:r>
            <a:r>
              <a:rPr lang="en-US" sz="2400" dirty="0"/>
              <a:t> – Résumé du </a:t>
            </a:r>
            <a:r>
              <a:rPr lang="en-US" sz="2400" dirty="0" err="1"/>
              <a:t>PPSD</a:t>
            </a:r>
            <a:r>
              <a:rPr lang="en-US" sz="2400" dirty="0"/>
              <a:t> </a:t>
            </a:r>
            <a:r>
              <a:rPr lang="en-US" sz="2400" dirty="0" err="1"/>
              <a:t>intégré</a:t>
            </a:r>
            <a:r>
              <a:rPr lang="en-US" sz="2400" dirty="0"/>
              <a:t> au PAD </a:t>
            </a:r>
          </a:p>
          <a:p>
            <a:r>
              <a:rPr lang="en-US" sz="2400" dirty="0" err="1"/>
              <a:t>Forme</a:t>
            </a:r>
            <a:r>
              <a:rPr lang="en-US" sz="2400" dirty="0"/>
              <a:t> longue </a:t>
            </a:r>
            <a:r>
              <a:rPr lang="en-US" sz="2400" dirty="0" err="1"/>
              <a:t>ou</a:t>
            </a:r>
            <a:r>
              <a:rPr lang="en-US" sz="2400" dirty="0"/>
              <a:t> </a:t>
            </a:r>
            <a:r>
              <a:rPr lang="en-US" sz="2400" dirty="0" err="1"/>
              <a:t>abrégée</a:t>
            </a:r>
            <a:r>
              <a:rPr lang="en-US" sz="2400" dirty="0"/>
              <a:t> du </a:t>
            </a:r>
            <a:r>
              <a:rPr lang="en-US" sz="2400" dirty="0" err="1"/>
              <a:t>PPSD</a:t>
            </a:r>
            <a:r>
              <a:rPr lang="en-US" sz="2400" dirty="0"/>
              <a:t> qui </a:t>
            </a:r>
            <a:r>
              <a:rPr lang="en-US" sz="2400" dirty="0" err="1"/>
              <a:t>dépend</a:t>
            </a:r>
            <a:r>
              <a:rPr lang="en-US" sz="2400" dirty="0"/>
              <a:t> de la </a:t>
            </a:r>
            <a:r>
              <a:rPr lang="en-US" sz="2400" dirty="0" err="1"/>
              <a:t>complexité</a:t>
            </a:r>
            <a:r>
              <a:rPr lang="en-US" sz="2400" dirty="0"/>
              <a:t> du </a:t>
            </a:r>
            <a:r>
              <a:rPr lang="en-US" sz="2400" dirty="0" err="1"/>
              <a:t>projet</a:t>
            </a:r>
            <a:endParaRPr lang="en-US" sz="2400" dirty="0"/>
          </a:p>
          <a:p>
            <a:r>
              <a:rPr lang="en-US" sz="2400" dirty="0"/>
              <a:t>3 </a:t>
            </a:r>
            <a:r>
              <a:rPr lang="en-US" sz="2400" dirty="0" err="1"/>
              <a:t>caractéristiques</a:t>
            </a:r>
            <a:r>
              <a:rPr lang="en-US" sz="2400" dirty="0"/>
              <a:t> </a:t>
            </a:r>
            <a:r>
              <a:rPr lang="en-US" sz="2400" dirty="0" err="1"/>
              <a:t>essentielles</a:t>
            </a:r>
            <a:r>
              <a:rPr lang="en-US" sz="2400" dirty="0"/>
              <a:t>:</a:t>
            </a:r>
          </a:p>
          <a:p>
            <a:pPr lvl="1"/>
            <a:r>
              <a:rPr lang="en-US" sz="2000" dirty="0"/>
              <a:t>Collection de </a:t>
            </a:r>
            <a:r>
              <a:rPr lang="en-US" sz="2000" dirty="0" err="1"/>
              <a:t>données</a:t>
            </a:r>
            <a:r>
              <a:rPr lang="en-US" sz="2000" dirty="0"/>
              <a:t> </a:t>
            </a:r>
            <a:r>
              <a:rPr lang="en-US" sz="2000" dirty="0" err="1"/>
              <a:t>basée</a:t>
            </a:r>
            <a:r>
              <a:rPr lang="en-US" sz="2000" dirty="0"/>
              <a:t> sur la </a:t>
            </a:r>
            <a:r>
              <a:rPr lang="en-US" sz="2000" dirty="0" err="1"/>
              <a:t>recherche</a:t>
            </a:r>
            <a:r>
              <a:rPr lang="en-US" sz="2000" dirty="0"/>
              <a:t> </a:t>
            </a:r>
            <a:r>
              <a:rPr lang="en-US" sz="2000" dirty="0" err="1"/>
              <a:t>d’information</a:t>
            </a:r>
            <a:r>
              <a:rPr lang="en-US" sz="2000" dirty="0"/>
              <a:t> </a:t>
            </a:r>
            <a:r>
              <a:rPr lang="en-US" sz="2000" dirty="0" err="1"/>
              <a:t>ou</a:t>
            </a:r>
            <a:r>
              <a:rPr lang="en-US" sz="2000" dirty="0"/>
              <a:t> </a:t>
            </a:r>
            <a:r>
              <a:rPr lang="en-US" sz="2000" dirty="0" err="1"/>
              <a:t>l’expérience</a:t>
            </a:r>
            <a:endParaRPr lang="en-US" sz="2000" dirty="0"/>
          </a:p>
          <a:p>
            <a:pPr lvl="1"/>
            <a:r>
              <a:rPr lang="en-US" sz="2000" dirty="0" err="1"/>
              <a:t>Analyse</a:t>
            </a:r>
            <a:r>
              <a:rPr lang="en-US" sz="2000" dirty="0"/>
              <a:t> des </a:t>
            </a:r>
            <a:r>
              <a:rPr lang="en-US" sz="2000" dirty="0" err="1"/>
              <a:t>donnés</a:t>
            </a:r>
            <a:r>
              <a:rPr lang="en-US" sz="2000" dirty="0"/>
              <a:t> </a:t>
            </a:r>
            <a:r>
              <a:rPr lang="en-US" sz="2000" dirty="0" err="1"/>
              <a:t>notamment</a:t>
            </a:r>
            <a:r>
              <a:rPr lang="en-US" sz="2000" dirty="0"/>
              <a:t> relative aux </a:t>
            </a:r>
            <a:r>
              <a:rPr lang="en-US" sz="2000" dirty="0" err="1"/>
              <a:t>risques</a:t>
            </a:r>
            <a:r>
              <a:rPr lang="en-US" sz="2000" dirty="0"/>
              <a:t> et au </a:t>
            </a:r>
            <a:r>
              <a:rPr lang="en-US" sz="2000" dirty="0" err="1"/>
              <a:t>marché</a:t>
            </a:r>
            <a:r>
              <a:rPr lang="en-US" sz="2000" dirty="0"/>
              <a:t> </a:t>
            </a:r>
          </a:p>
          <a:p>
            <a:pPr lvl="1">
              <a:lnSpc>
                <a:spcPct val="120000"/>
              </a:lnSpc>
            </a:pPr>
            <a:r>
              <a:rPr lang="en-US" sz="2000" dirty="0"/>
              <a:t>Justification de </a:t>
            </a:r>
            <a:r>
              <a:rPr lang="en-US" sz="2000" dirty="0" err="1"/>
              <a:t>décisions</a:t>
            </a:r>
            <a:r>
              <a:rPr lang="en-US" sz="2000" dirty="0"/>
              <a:t> et </a:t>
            </a:r>
            <a:r>
              <a:rPr lang="en-US" sz="2000" dirty="0" err="1"/>
              <a:t>d’actions</a:t>
            </a:r>
            <a:r>
              <a:rPr lang="en-US" sz="2000" dirty="0"/>
              <a:t> relatives à la </a:t>
            </a:r>
            <a:r>
              <a:rPr lang="en-US" sz="2000" dirty="0" err="1"/>
              <a:t>passation</a:t>
            </a:r>
            <a:r>
              <a:rPr lang="en-US" sz="2000" dirty="0"/>
              <a:t> et </a:t>
            </a:r>
            <a:r>
              <a:rPr lang="en-US" sz="2000" dirty="0" err="1"/>
              <a:t>l’exécution</a:t>
            </a:r>
            <a:r>
              <a:rPr lang="en-US" sz="2000" dirty="0"/>
              <a:t> des </a:t>
            </a:r>
            <a:r>
              <a:rPr lang="en-US" sz="2000" dirty="0" err="1"/>
              <a:t>marchés</a:t>
            </a:r>
            <a:r>
              <a:rPr lang="en-US" sz="2000" dirty="0"/>
              <a:t> </a:t>
            </a:r>
          </a:p>
          <a:p>
            <a:r>
              <a:rPr lang="fr-FR" sz="2400" dirty="0"/>
              <a:t>Résultat du </a:t>
            </a:r>
            <a:r>
              <a:rPr lang="fr-FR" sz="2400" dirty="0" err="1"/>
              <a:t>PPSD</a:t>
            </a:r>
            <a:r>
              <a:rPr lang="fr-FR" sz="2400" dirty="0"/>
              <a:t>: Plan de Passation des Marchés.</a:t>
            </a:r>
          </a:p>
        </p:txBody>
      </p:sp>
    </p:spTree>
    <p:extLst>
      <p:ext uri="{BB962C8B-B14F-4D97-AF65-F5344CB8AC3E}">
        <p14:creationId xmlns:p14="http://schemas.microsoft.com/office/powerpoint/2010/main" val="1914960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87536" y="269605"/>
            <a:ext cx="8004464" cy="1004888"/>
          </a:xfrm>
        </p:spPr>
        <p:txBody>
          <a:bodyPr>
            <a:noAutofit/>
          </a:bodyPr>
          <a:lstStyle/>
          <a:p>
            <a:r>
              <a:rPr lang="en-US" sz="3200" dirty="0">
                <a:solidFill>
                  <a:schemeClr val="tx1"/>
                </a:solidFill>
              </a:rPr>
              <a:t>4. </a:t>
            </a:r>
            <a:r>
              <a:rPr lang="en-US" sz="3200" dirty="0" err="1">
                <a:solidFill>
                  <a:schemeClr val="tx1"/>
                </a:solidFill>
              </a:rPr>
              <a:t>Suivi</a:t>
            </a:r>
            <a:r>
              <a:rPr lang="en-US" sz="3200" dirty="0">
                <a:solidFill>
                  <a:schemeClr val="tx1"/>
                </a:solidFill>
              </a:rPr>
              <a:t> </a:t>
            </a:r>
            <a:r>
              <a:rPr lang="en-US" sz="3200" dirty="0" err="1">
                <a:solidFill>
                  <a:schemeClr val="tx1"/>
                </a:solidFill>
              </a:rPr>
              <a:t>systématique</a:t>
            </a:r>
            <a:r>
              <a:rPr lang="en-US" sz="3200" dirty="0">
                <a:solidFill>
                  <a:schemeClr val="tx1"/>
                </a:solidFill>
              </a:rPr>
              <a:t> des transactions de </a:t>
            </a:r>
            <a:r>
              <a:rPr lang="en-US" sz="3200" dirty="0" err="1">
                <a:solidFill>
                  <a:schemeClr val="tx1"/>
                </a:solidFill>
              </a:rPr>
              <a:t>marchés</a:t>
            </a:r>
            <a:r>
              <a:rPr lang="en-US" sz="3200" dirty="0">
                <a:solidFill>
                  <a:schemeClr val="tx1"/>
                </a:solidFill>
              </a:rPr>
              <a:t> publics (STEP)</a:t>
            </a:r>
          </a:p>
        </p:txBody>
      </p:sp>
      <p:sp>
        <p:nvSpPr>
          <p:cNvPr id="3" name="Content Placeholder 2"/>
          <p:cNvSpPr>
            <a:spLocks noGrp="1"/>
          </p:cNvSpPr>
          <p:nvPr>
            <p:ph idx="1"/>
          </p:nvPr>
        </p:nvSpPr>
        <p:spPr>
          <a:xfrm>
            <a:off x="409870" y="1590686"/>
            <a:ext cx="11524903" cy="4545710"/>
          </a:xfrm>
        </p:spPr>
        <p:txBody>
          <a:bodyPr>
            <a:normAutofit fontScale="92500"/>
          </a:bodyPr>
          <a:lstStyle/>
          <a:p>
            <a:r>
              <a:rPr lang="en-US" sz="2800" dirty="0" err="1"/>
              <a:t>Système</a:t>
            </a:r>
            <a:r>
              <a:rPr lang="en-US" sz="2800" dirty="0"/>
              <a:t> </a:t>
            </a:r>
            <a:r>
              <a:rPr lang="en-US" sz="2800" dirty="0" err="1"/>
              <a:t>électronique</a:t>
            </a:r>
            <a:r>
              <a:rPr lang="en-US" sz="2800" dirty="0"/>
              <a:t> de </a:t>
            </a:r>
            <a:r>
              <a:rPr lang="en-US" sz="2800" dirty="0" err="1"/>
              <a:t>suivi</a:t>
            </a:r>
            <a:r>
              <a:rPr lang="en-US" sz="2800" dirty="0"/>
              <a:t> des </a:t>
            </a:r>
            <a:r>
              <a:rPr lang="en-US" sz="2800" dirty="0" err="1"/>
              <a:t>marchés</a:t>
            </a:r>
            <a:r>
              <a:rPr lang="en-US" sz="2800" dirty="0"/>
              <a:t> et </a:t>
            </a:r>
            <a:r>
              <a:rPr lang="en-US" sz="2800" dirty="0" err="1"/>
              <a:t>contrats</a:t>
            </a:r>
            <a:r>
              <a:rPr lang="en-US" sz="2800" dirty="0"/>
              <a:t>;</a:t>
            </a:r>
          </a:p>
          <a:p>
            <a:r>
              <a:rPr lang="en-US" sz="2800" dirty="0" err="1"/>
              <a:t>Tous</a:t>
            </a:r>
            <a:r>
              <a:rPr lang="en-US" sz="2800" dirty="0"/>
              <a:t> les </a:t>
            </a:r>
            <a:r>
              <a:rPr lang="en-US" sz="2800" dirty="0" err="1"/>
              <a:t>marchés</a:t>
            </a:r>
            <a:r>
              <a:rPr lang="en-US" sz="2800" dirty="0"/>
              <a:t> (</a:t>
            </a:r>
            <a:r>
              <a:rPr lang="en-US" sz="2800" dirty="0" err="1"/>
              <a:t>tels</a:t>
            </a:r>
            <a:r>
              <a:rPr lang="en-US" sz="2800" dirty="0"/>
              <a:t> que </a:t>
            </a:r>
            <a:r>
              <a:rPr lang="en-US" sz="2800" dirty="0" err="1"/>
              <a:t>prévus</a:t>
            </a:r>
            <a:r>
              <a:rPr lang="en-US" sz="2800" dirty="0"/>
              <a:t> </a:t>
            </a:r>
            <a:r>
              <a:rPr lang="en-US" sz="2800" dirty="0" err="1"/>
              <a:t>dans</a:t>
            </a:r>
            <a:r>
              <a:rPr lang="en-US" sz="2800" dirty="0"/>
              <a:t> le PPM) </a:t>
            </a:r>
            <a:r>
              <a:rPr lang="en-US" sz="2800" dirty="0" err="1"/>
              <a:t>sont</a:t>
            </a:r>
            <a:r>
              <a:rPr lang="en-US" sz="2800" dirty="0"/>
              <a:t> </a:t>
            </a:r>
            <a:r>
              <a:rPr lang="en-US" sz="2800" dirty="0" err="1"/>
              <a:t>intégrés</a:t>
            </a:r>
            <a:r>
              <a:rPr lang="en-US" sz="2800" dirty="0"/>
              <a:t> </a:t>
            </a:r>
            <a:r>
              <a:rPr lang="en-US" sz="2800" dirty="0" err="1"/>
              <a:t>dans</a:t>
            </a:r>
            <a:r>
              <a:rPr lang="en-US" sz="2800" dirty="0"/>
              <a:t> STEP;</a:t>
            </a:r>
          </a:p>
          <a:p>
            <a:r>
              <a:rPr lang="en-US" sz="2800" dirty="0" err="1"/>
              <a:t>Intégration</a:t>
            </a:r>
            <a:r>
              <a:rPr lang="en-US" sz="2800" dirty="0"/>
              <a:t> </a:t>
            </a:r>
            <a:r>
              <a:rPr lang="en-US" sz="2800" dirty="0" err="1"/>
              <a:t>d’indicateurs-clé</a:t>
            </a:r>
            <a:r>
              <a:rPr lang="en-US" sz="2800" dirty="0"/>
              <a:t> pour le </a:t>
            </a:r>
            <a:r>
              <a:rPr lang="en-US" sz="2800" dirty="0" err="1"/>
              <a:t>suivi</a:t>
            </a:r>
            <a:r>
              <a:rPr lang="en-US" sz="2800" dirty="0"/>
              <a:t> des </a:t>
            </a:r>
            <a:r>
              <a:rPr lang="en-US" sz="2800" dirty="0" err="1"/>
              <a:t>contrats</a:t>
            </a:r>
            <a:r>
              <a:rPr lang="en-US" sz="2800" dirty="0"/>
              <a:t>;</a:t>
            </a:r>
          </a:p>
          <a:p>
            <a:r>
              <a:rPr lang="en-US" sz="2800" dirty="0"/>
              <a:t>STEP </a:t>
            </a:r>
            <a:r>
              <a:rPr lang="en-US" sz="2800" dirty="0" err="1"/>
              <a:t>est</a:t>
            </a:r>
            <a:r>
              <a:rPr lang="en-US" sz="2800" dirty="0"/>
              <a:t> </a:t>
            </a:r>
            <a:r>
              <a:rPr lang="en-US" sz="2800" dirty="0" err="1"/>
              <a:t>obligatoire</a:t>
            </a:r>
            <a:r>
              <a:rPr lang="en-US" sz="2800" dirty="0"/>
              <a:t> pour </a:t>
            </a:r>
            <a:r>
              <a:rPr lang="en-US" sz="2800" dirty="0" err="1"/>
              <a:t>tous</a:t>
            </a:r>
            <a:r>
              <a:rPr lang="en-US" sz="2800" dirty="0"/>
              <a:t> les </a:t>
            </a:r>
            <a:r>
              <a:rPr lang="en-US" sz="2800" dirty="0" err="1"/>
              <a:t>projets</a:t>
            </a:r>
            <a:r>
              <a:rPr lang="en-US" sz="2800" dirty="0"/>
              <a:t> </a:t>
            </a:r>
            <a:r>
              <a:rPr lang="en-US" sz="2800" dirty="0" err="1"/>
              <a:t>soumis</a:t>
            </a:r>
            <a:r>
              <a:rPr lang="en-US" sz="2800" dirty="0"/>
              <a:t> au nouveau cadre des </a:t>
            </a:r>
            <a:r>
              <a:rPr lang="en-US" sz="2800" dirty="0" err="1"/>
              <a:t>marchés</a:t>
            </a:r>
            <a:r>
              <a:rPr lang="en-US" sz="2800" dirty="0"/>
              <a:t> publics;</a:t>
            </a:r>
          </a:p>
          <a:p>
            <a:r>
              <a:rPr lang="en-US" sz="2800" b="1" dirty="0"/>
              <a:t>STEP </a:t>
            </a:r>
            <a:r>
              <a:rPr lang="en-US" sz="2800" b="1" dirty="0" err="1"/>
              <a:t>peut</a:t>
            </a:r>
            <a:r>
              <a:rPr lang="en-US" sz="2800" b="1" dirty="0"/>
              <a:t> </a:t>
            </a:r>
            <a:r>
              <a:rPr lang="en-US" sz="2800" b="1" dirty="0" err="1"/>
              <a:t>être</a:t>
            </a:r>
            <a:r>
              <a:rPr lang="en-US" sz="2800" b="1" dirty="0"/>
              <a:t> </a:t>
            </a:r>
            <a:r>
              <a:rPr lang="en-US" sz="2800" b="1" dirty="0" err="1"/>
              <a:t>utilisé</a:t>
            </a:r>
            <a:r>
              <a:rPr lang="en-US" sz="2800" b="1" dirty="0"/>
              <a:t> </a:t>
            </a:r>
            <a:r>
              <a:rPr lang="en-US" sz="2800" b="1" dirty="0" err="1"/>
              <a:t>aussi</a:t>
            </a:r>
            <a:r>
              <a:rPr lang="en-US" sz="2800" b="1" dirty="0"/>
              <a:t> pour </a:t>
            </a:r>
            <a:r>
              <a:rPr lang="en-US" sz="2800" b="1" dirty="0" err="1"/>
              <a:t>projets</a:t>
            </a:r>
            <a:r>
              <a:rPr lang="en-US" sz="2800" b="1" dirty="0"/>
              <a:t> en </a:t>
            </a:r>
            <a:r>
              <a:rPr lang="en-US" sz="2800" b="1" dirty="0" err="1"/>
              <a:t>cours</a:t>
            </a:r>
            <a:r>
              <a:rPr lang="en-US" sz="2800" b="1" dirty="0"/>
              <a:t> de </a:t>
            </a:r>
            <a:r>
              <a:rPr lang="en-US" sz="2800" b="1" dirty="0" err="1"/>
              <a:t>préparation</a:t>
            </a:r>
            <a:r>
              <a:rPr lang="en-US" sz="2800" b="1" dirty="0"/>
              <a:t> (</a:t>
            </a:r>
            <a:r>
              <a:rPr lang="en-US" sz="2800" b="1" dirty="0" err="1"/>
              <a:t>avant</a:t>
            </a:r>
            <a:r>
              <a:rPr lang="en-US" sz="2800" b="1" dirty="0"/>
              <a:t> la date du 1er </a:t>
            </a:r>
            <a:r>
              <a:rPr lang="en-US" sz="2800" b="1" dirty="0" err="1"/>
              <a:t>juillet</a:t>
            </a:r>
            <a:r>
              <a:rPr lang="en-US" sz="2800" b="1" dirty="0"/>
              <a:t> 2016), </a:t>
            </a:r>
            <a:r>
              <a:rPr lang="en-US" sz="2800" b="1" dirty="0" err="1"/>
              <a:t>voire</a:t>
            </a:r>
            <a:r>
              <a:rPr lang="en-US" sz="2800" b="1" dirty="0"/>
              <a:t> en </a:t>
            </a:r>
            <a:r>
              <a:rPr lang="en-US" sz="2800" b="1" dirty="0" err="1"/>
              <a:t>cours</a:t>
            </a:r>
            <a:r>
              <a:rPr lang="en-US" sz="2800" b="1" dirty="0"/>
              <a:t> </a:t>
            </a:r>
            <a:r>
              <a:rPr lang="en-US" sz="2800" b="1" dirty="0" err="1"/>
              <a:t>d’exécution</a:t>
            </a:r>
            <a:r>
              <a:rPr lang="en-US" sz="2800" b="1" dirty="0"/>
              <a:t>;</a:t>
            </a:r>
          </a:p>
          <a:p>
            <a:r>
              <a:rPr lang="en-US" sz="2800" dirty="0"/>
              <a:t>Formation et </a:t>
            </a:r>
            <a:r>
              <a:rPr lang="en-US" sz="2800" dirty="0" err="1"/>
              <a:t>gestion</a:t>
            </a:r>
            <a:r>
              <a:rPr lang="en-US" sz="2800" dirty="0"/>
              <a:t> du </a:t>
            </a:r>
            <a:r>
              <a:rPr lang="en-US" sz="2800" dirty="0" err="1"/>
              <a:t>système</a:t>
            </a:r>
            <a:r>
              <a:rPr lang="en-US" sz="2800" dirty="0"/>
              <a:t> </a:t>
            </a:r>
            <a:r>
              <a:rPr lang="en-US" sz="2800" dirty="0" err="1"/>
              <a:t>assurés</a:t>
            </a:r>
            <a:r>
              <a:rPr lang="en-US" sz="2800" dirty="0"/>
              <a:t> par la </a:t>
            </a:r>
            <a:r>
              <a:rPr lang="en-US" sz="2800" dirty="0" err="1"/>
              <a:t>Banque</a:t>
            </a:r>
            <a:r>
              <a:rPr lang="en-US" sz="2800" dirty="0"/>
              <a:t> </a:t>
            </a:r>
            <a:r>
              <a:rPr lang="en-US" sz="2800" dirty="0" err="1"/>
              <a:t>Mondiale</a:t>
            </a:r>
            <a:r>
              <a:rPr lang="en-US" sz="2800" dirty="0"/>
              <a:t>.</a:t>
            </a:r>
            <a:endParaRPr lang="fr-FR" sz="2800" dirty="0"/>
          </a:p>
        </p:txBody>
      </p:sp>
    </p:spTree>
    <p:extLst>
      <p:ext uri="{BB962C8B-B14F-4D97-AF65-F5344CB8AC3E}">
        <p14:creationId xmlns:p14="http://schemas.microsoft.com/office/powerpoint/2010/main" val="808759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r>
              <a:rPr lang="en-US" sz="3200" dirty="0">
                <a:solidFill>
                  <a:schemeClr val="tx1"/>
                </a:solidFill>
              </a:rPr>
              <a:t>5. Arrangements </a:t>
            </a:r>
            <a:r>
              <a:rPr lang="en-US" sz="3200" dirty="0" err="1">
                <a:solidFill>
                  <a:schemeClr val="tx1"/>
                </a:solidFill>
              </a:rPr>
              <a:t>Alternatifs</a:t>
            </a:r>
            <a:r>
              <a:rPr lang="en-US" sz="3200" dirty="0">
                <a:solidFill>
                  <a:schemeClr val="tx1"/>
                </a:solidFill>
              </a:rPr>
              <a:t> de </a:t>
            </a:r>
            <a:r>
              <a:rPr lang="en-US" sz="3200" dirty="0" err="1">
                <a:solidFill>
                  <a:schemeClr val="tx1"/>
                </a:solidFill>
              </a:rPr>
              <a:t>passation</a:t>
            </a:r>
            <a:r>
              <a:rPr lang="en-US" sz="3200" dirty="0">
                <a:solidFill>
                  <a:schemeClr val="tx1"/>
                </a:solidFill>
              </a:rPr>
              <a:t> des </a:t>
            </a:r>
            <a:r>
              <a:rPr lang="en-US" sz="3200" dirty="0" err="1">
                <a:solidFill>
                  <a:schemeClr val="tx1"/>
                </a:solidFill>
              </a:rPr>
              <a:t>marchés</a:t>
            </a:r>
            <a:r>
              <a:rPr lang="en-US" sz="3200" dirty="0">
                <a:solidFill>
                  <a:schemeClr val="tx1"/>
                </a:solidFill>
              </a:rPr>
              <a:t> (</a:t>
            </a:r>
            <a:r>
              <a:rPr lang="en-US" sz="3200" dirty="0" err="1">
                <a:solidFill>
                  <a:schemeClr val="tx1"/>
                </a:solidFill>
              </a:rPr>
              <a:t>APAs</a:t>
            </a:r>
            <a:r>
              <a:rPr lang="en-US" sz="3200" dirty="0">
                <a:solidFill>
                  <a:schemeClr val="tx1"/>
                </a:solidFill>
              </a:rPr>
              <a:t>)</a:t>
            </a:r>
          </a:p>
        </p:txBody>
      </p:sp>
      <p:sp>
        <p:nvSpPr>
          <p:cNvPr id="3" name="Content Placeholder 2"/>
          <p:cNvSpPr>
            <a:spLocks noGrp="1"/>
          </p:cNvSpPr>
          <p:nvPr>
            <p:ph idx="1"/>
          </p:nvPr>
        </p:nvSpPr>
        <p:spPr>
          <a:xfrm>
            <a:off x="341515" y="2171699"/>
            <a:ext cx="11524903" cy="3314701"/>
          </a:xfrm>
        </p:spPr>
        <p:txBody>
          <a:bodyPr>
            <a:normAutofit fontScale="77500" lnSpcReduction="20000"/>
          </a:bodyPr>
          <a:lstStyle/>
          <a:p>
            <a:pPr marL="742950" indent="-742950">
              <a:buFont typeface="+mj-lt"/>
              <a:buAutoNum type="arabicPeriod"/>
            </a:pPr>
            <a:r>
              <a:rPr lang="en-US" sz="4200" dirty="0" err="1"/>
              <a:t>Utilisation</a:t>
            </a:r>
            <a:r>
              <a:rPr lang="en-US" sz="4200" dirty="0"/>
              <a:t> exclusive des </a:t>
            </a:r>
            <a:r>
              <a:rPr lang="en-US" sz="4200" dirty="0" err="1"/>
              <a:t>procédures</a:t>
            </a:r>
            <a:r>
              <a:rPr lang="en-US" sz="4200" dirty="0"/>
              <a:t> de </a:t>
            </a:r>
            <a:r>
              <a:rPr lang="en-US" sz="4200" dirty="0" err="1"/>
              <a:t>passation</a:t>
            </a:r>
            <a:r>
              <a:rPr lang="en-US" sz="4200" dirty="0"/>
              <a:t> de </a:t>
            </a:r>
            <a:r>
              <a:rPr lang="en-US" sz="4200" b="1" dirty="0" err="1"/>
              <a:t>l’agence</a:t>
            </a:r>
            <a:r>
              <a:rPr lang="en-US" sz="4200" b="1" dirty="0"/>
              <a:t> </a:t>
            </a:r>
            <a:r>
              <a:rPr lang="en-US" sz="4200" b="1" dirty="0" err="1"/>
              <a:t>d’exécution</a:t>
            </a:r>
            <a:endParaRPr lang="en-US" sz="4200" b="1" dirty="0"/>
          </a:p>
          <a:p>
            <a:pPr marL="0" indent="0">
              <a:buNone/>
            </a:pPr>
            <a:r>
              <a:rPr lang="en-US" sz="4200" dirty="0" err="1"/>
              <a:t>ou</a:t>
            </a:r>
            <a:endParaRPr lang="en-US" sz="4200" dirty="0"/>
          </a:p>
          <a:p>
            <a:pPr marL="742950" indent="-742950">
              <a:buFont typeface="+mj-lt"/>
              <a:buAutoNum type="arabicPeriod" startAt="2"/>
            </a:pPr>
            <a:r>
              <a:rPr lang="en-US" sz="4200" dirty="0" err="1"/>
              <a:t>Utilisation</a:t>
            </a:r>
            <a:r>
              <a:rPr lang="en-US" sz="4200" dirty="0"/>
              <a:t> des </a:t>
            </a:r>
            <a:r>
              <a:rPr lang="en-US" sz="4200" dirty="0" err="1"/>
              <a:t>procédures</a:t>
            </a:r>
            <a:r>
              <a:rPr lang="en-US" sz="4200" dirty="0"/>
              <a:t>, et </a:t>
            </a:r>
            <a:r>
              <a:rPr lang="en-US" sz="4200" dirty="0" err="1"/>
              <a:t>transfert</a:t>
            </a:r>
            <a:r>
              <a:rPr lang="en-US" sz="4200" dirty="0"/>
              <a:t> de la </a:t>
            </a:r>
            <a:r>
              <a:rPr lang="en-US" sz="4200" dirty="0" err="1"/>
              <a:t>responsabilité</a:t>
            </a:r>
            <a:r>
              <a:rPr lang="en-US" sz="4200" dirty="0"/>
              <a:t> du </a:t>
            </a:r>
            <a:r>
              <a:rPr lang="en-US" sz="4200" dirty="0" err="1"/>
              <a:t>suivi</a:t>
            </a:r>
            <a:r>
              <a:rPr lang="en-US" sz="4200" dirty="0"/>
              <a:t> des </a:t>
            </a:r>
            <a:r>
              <a:rPr lang="en-US" sz="4200" dirty="0" err="1"/>
              <a:t>procédures</a:t>
            </a:r>
            <a:r>
              <a:rPr lang="en-US" sz="4200" dirty="0"/>
              <a:t> à </a:t>
            </a:r>
            <a:r>
              <a:rPr lang="en-US" sz="4200" dirty="0" err="1"/>
              <a:t>une</a:t>
            </a:r>
            <a:r>
              <a:rPr lang="en-US" sz="4200" dirty="0"/>
              <a:t> </a:t>
            </a:r>
            <a:r>
              <a:rPr lang="en-US" sz="4200" b="1" dirty="0" err="1"/>
              <a:t>autre</a:t>
            </a:r>
            <a:r>
              <a:rPr lang="en-US" sz="4200" b="1" dirty="0"/>
              <a:t> Institution </a:t>
            </a:r>
            <a:r>
              <a:rPr lang="en-US" sz="4200" b="1" dirty="0" err="1"/>
              <a:t>Financière</a:t>
            </a:r>
            <a:r>
              <a:rPr lang="en-US" sz="4200" b="1" dirty="0"/>
              <a:t> </a:t>
            </a:r>
            <a:r>
              <a:rPr lang="en-US" sz="4200" b="1" dirty="0" err="1"/>
              <a:t>Bilatérale</a:t>
            </a:r>
            <a:r>
              <a:rPr lang="en-US" sz="4200" b="1" dirty="0"/>
              <a:t> </a:t>
            </a:r>
            <a:r>
              <a:rPr lang="en-US" sz="4200" b="1" dirty="0" err="1"/>
              <a:t>ou</a:t>
            </a:r>
            <a:r>
              <a:rPr lang="en-US" sz="4200" b="1" dirty="0"/>
              <a:t> </a:t>
            </a:r>
            <a:r>
              <a:rPr lang="en-US" sz="4200" b="1" dirty="0" err="1"/>
              <a:t>Multilatérale</a:t>
            </a:r>
            <a:r>
              <a:rPr lang="en-US" sz="4200" b="1" dirty="0"/>
              <a:t> (</a:t>
            </a:r>
            <a:r>
              <a:rPr lang="en-US" sz="4200" b="1" dirty="0" err="1"/>
              <a:t>IFI</a:t>
            </a:r>
            <a:r>
              <a:rPr lang="en-US" sz="4200" b="1" dirty="0"/>
              <a:t>)</a:t>
            </a:r>
          </a:p>
        </p:txBody>
      </p:sp>
    </p:spTree>
    <p:extLst>
      <p:ext uri="{BB962C8B-B14F-4D97-AF65-F5344CB8AC3E}">
        <p14:creationId xmlns:p14="http://schemas.microsoft.com/office/powerpoint/2010/main" val="964114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14535" y="262891"/>
            <a:ext cx="6497356" cy="1004888"/>
          </a:xfrm>
        </p:spPr>
        <p:txBody>
          <a:bodyPr>
            <a:noAutofit/>
          </a:bodyPr>
          <a:lstStyle/>
          <a:p>
            <a:pPr algn="ctr"/>
            <a:r>
              <a:rPr lang="en-US" sz="3200" dirty="0">
                <a:solidFill>
                  <a:schemeClr val="tx1"/>
                </a:solidFill>
              </a:rPr>
              <a:t>5. Arrangements </a:t>
            </a:r>
            <a:r>
              <a:rPr lang="en-US" sz="3200" dirty="0" err="1">
                <a:solidFill>
                  <a:schemeClr val="tx1"/>
                </a:solidFill>
              </a:rPr>
              <a:t>Alternatifs</a:t>
            </a:r>
            <a:r>
              <a:rPr lang="en-US" sz="3200" dirty="0">
                <a:solidFill>
                  <a:schemeClr val="tx1"/>
                </a:solidFill>
              </a:rPr>
              <a:t> de </a:t>
            </a:r>
            <a:r>
              <a:rPr lang="en-US" sz="3200" dirty="0" err="1">
                <a:solidFill>
                  <a:schemeClr val="tx1"/>
                </a:solidFill>
              </a:rPr>
              <a:t>passation</a:t>
            </a:r>
            <a:r>
              <a:rPr lang="en-US" sz="3200" dirty="0">
                <a:solidFill>
                  <a:schemeClr val="tx1"/>
                </a:solidFill>
              </a:rPr>
              <a:t> des </a:t>
            </a:r>
            <a:r>
              <a:rPr lang="en-US" sz="3200" dirty="0" err="1">
                <a:solidFill>
                  <a:schemeClr val="tx1"/>
                </a:solidFill>
              </a:rPr>
              <a:t>marchés</a:t>
            </a:r>
            <a:r>
              <a:rPr lang="en-US" sz="3200" dirty="0">
                <a:solidFill>
                  <a:schemeClr val="tx1"/>
                </a:solidFill>
              </a:rPr>
              <a:t> (</a:t>
            </a:r>
            <a:r>
              <a:rPr lang="en-US" sz="3200" dirty="0" err="1">
                <a:solidFill>
                  <a:schemeClr val="tx1"/>
                </a:solidFill>
              </a:rPr>
              <a:t>APAs</a:t>
            </a:r>
            <a:r>
              <a:rPr lang="en-US" sz="3200" dirty="0">
                <a:solidFill>
                  <a:schemeClr val="tx1"/>
                </a:solidFill>
              </a:rPr>
              <a:t>)</a:t>
            </a:r>
            <a:br>
              <a:rPr lang="en-US" sz="3200" dirty="0">
                <a:solidFill>
                  <a:schemeClr val="tx1"/>
                </a:solidFill>
              </a:rPr>
            </a:br>
            <a:r>
              <a:rPr lang="en-US" sz="3200" dirty="0">
                <a:solidFill>
                  <a:schemeClr val="tx1"/>
                </a:solidFill>
              </a:rPr>
              <a:t>- Conditions -</a:t>
            </a:r>
          </a:p>
        </p:txBody>
      </p:sp>
      <p:sp>
        <p:nvSpPr>
          <p:cNvPr id="3" name="Content Placeholder 2"/>
          <p:cNvSpPr>
            <a:spLocks noGrp="1"/>
          </p:cNvSpPr>
          <p:nvPr>
            <p:ph idx="1"/>
          </p:nvPr>
        </p:nvSpPr>
        <p:spPr>
          <a:xfrm>
            <a:off x="486988" y="2057400"/>
            <a:ext cx="11524903" cy="4094017"/>
          </a:xfrm>
        </p:spPr>
        <p:txBody>
          <a:bodyPr>
            <a:normAutofit fontScale="92500" lnSpcReduction="20000"/>
          </a:bodyPr>
          <a:lstStyle/>
          <a:p>
            <a:pPr marL="742950" indent="-742950">
              <a:buFont typeface="+mj-lt"/>
              <a:buAutoNum type="arabicPeriod"/>
            </a:pPr>
            <a:r>
              <a:rPr lang="en-US" sz="2400" dirty="0"/>
              <a:t>Principe </a:t>
            </a:r>
            <a:r>
              <a:rPr lang="en-US" sz="2400" dirty="0" err="1"/>
              <a:t>d’éligibilité</a:t>
            </a:r>
            <a:r>
              <a:rPr lang="en-US" sz="2400" dirty="0"/>
              <a:t> </a:t>
            </a:r>
            <a:r>
              <a:rPr lang="en-US" sz="2400" dirty="0" err="1"/>
              <a:t>universelle</a:t>
            </a:r>
            <a:r>
              <a:rPr lang="en-US" sz="2400" dirty="0"/>
              <a:t>;</a:t>
            </a:r>
          </a:p>
          <a:p>
            <a:pPr marL="742950" indent="-742950">
              <a:buFont typeface="+mj-lt"/>
              <a:buAutoNum type="arabicPeriod"/>
            </a:pPr>
            <a:r>
              <a:rPr lang="en-US" sz="2400" dirty="0"/>
              <a:t>Application du régime de sanctions de la </a:t>
            </a:r>
            <a:r>
              <a:rPr lang="en-US" sz="2400" dirty="0" err="1"/>
              <a:t>Banque</a:t>
            </a:r>
            <a:r>
              <a:rPr lang="en-US" sz="2400" dirty="0"/>
              <a:t> </a:t>
            </a:r>
            <a:r>
              <a:rPr lang="en-US" sz="2400" dirty="0" err="1"/>
              <a:t>en</a:t>
            </a:r>
            <a:r>
              <a:rPr lang="en-US" sz="2400" dirty="0"/>
              <a:t> </a:t>
            </a:r>
            <a:r>
              <a:rPr lang="en-US" sz="2400" dirty="0" err="1"/>
              <a:t>matière</a:t>
            </a:r>
            <a:r>
              <a:rPr lang="en-US" sz="2400" dirty="0"/>
              <a:t> de </a:t>
            </a:r>
            <a:r>
              <a:rPr lang="en-US" sz="2400" dirty="0" err="1"/>
              <a:t>fraude</a:t>
            </a:r>
            <a:r>
              <a:rPr lang="en-US" sz="2400" dirty="0"/>
              <a:t> et corruption:</a:t>
            </a:r>
          </a:p>
          <a:p>
            <a:pPr lvl="2"/>
            <a:r>
              <a:rPr lang="en-US" sz="2000" dirty="0" err="1"/>
              <a:t>Prise</a:t>
            </a:r>
            <a:r>
              <a:rPr lang="en-US" sz="2000" dirty="0"/>
              <a:t> </a:t>
            </a:r>
            <a:r>
              <a:rPr lang="en-US" sz="2000" dirty="0" err="1"/>
              <a:t>en</a:t>
            </a:r>
            <a:r>
              <a:rPr lang="en-US" sz="2000" dirty="0"/>
              <a:t> </a:t>
            </a:r>
            <a:r>
              <a:rPr lang="en-US" sz="2000" dirty="0" err="1"/>
              <a:t>compte</a:t>
            </a:r>
            <a:r>
              <a:rPr lang="en-US" sz="2000" dirty="0"/>
              <a:t> de la </a:t>
            </a:r>
            <a:r>
              <a:rPr lang="en-US" sz="2000" dirty="0" err="1"/>
              <a:t>liste</a:t>
            </a:r>
            <a:r>
              <a:rPr lang="en-US" sz="2000" dirty="0"/>
              <a:t> des </a:t>
            </a:r>
            <a:r>
              <a:rPr lang="en-US" sz="2000" dirty="0" err="1"/>
              <a:t>firmes</a:t>
            </a:r>
            <a:r>
              <a:rPr lang="en-US" sz="2000" dirty="0"/>
              <a:t>/</a:t>
            </a:r>
            <a:r>
              <a:rPr lang="en-US" sz="2000" dirty="0" err="1"/>
              <a:t>individus</a:t>
            </a:r>
            <a:r>
              <a:rPr lang="en-US" sz="2000" dirty="0"/>
              <a:t> </a:t>
            </a:r>
            <a:r>
              <a:rPr lang="en-US" sz="2000" dirty="0" err="1"/>
              <a:t>suspendus</a:t>
            </a:r>
            <a:r>
              <a:rPr lang="en-US" sz="2000" dirty="0"/>
              <a:t> </a:t>
            </a:r>
            <a:r>
              <a:rPr lang="en-US" sz="2000" dirty="0" err="1"/>
              <a:t>ou</a:t>
            </a:r>
            <a:r>
              <a:rPr lang="en-US" sz="2000" dirty="0"/>
              <a:t> </a:t>
            </a:r>
            <a:r>
              <a:rPr lang="en-US" sz="2000" dirty="0" err="1"/>
              <a:t>declarés</a:t>
            </a:r>
            <a:r>
              <a:rPr lang="en-US" sz="2000" dirty="0"/>
              <a:t> </a:t>
            </a:r>
            <a:r>
              <a:rPr lang="en-US" sz="2000" dirty="0" err="1"/>
              <a:t>inéligibles</a:t>
            </a:r>
            <a:r>
              <a:rPr lang="en-US" sz="2000" dirty="0"/>
              <a:t> par la </a:t>
            </a:r>
            <a:r>
              <a:rPr lang="en-US" sz="2000" dirty="0" err="1"/>
              <a:t>Banque</a:t>
            </a:r>
            <a:r>
              <a:rPr lang="en-US" sz="2000" dirty="0"/>
              <a:t>;</a:t>
            </a:r>
          </a:p>
          <a:p>
            <a:pPr lvl="2"/>
            <a:r>
              <a:rPr lang="en-US" sz="2000" dirty="0"/>
              <a:t>Introduction de la clause </a:t>
            </a:r>
            <a:r>
              <a:rPr lang="en-US" sz="2000" dirty="0" err="1"/>
              <a:t>d’audit</a:t>
            </a:r>
            <a:r>
              <a:rPr lang="en-US" sz="2000" dirty="0"/>
              <a:t> </a:t>
            </a:r>
            <a:r>
              <a:rPr lang="en-US" sz="2000" dirty="0" err="1"/>
              <a:t>dans</a:t>
            </a:r>
            <a:r>
              <a:rPr lang="en-US" sz="2000" dirty="0"/>
              <a:t> les </a:t>
            </a:r>
            <a:r>
              <a:rPr lang="en-US" sz="2000" dirty="0" err="1"/>
              <a:t>contrats</a:t>
            </a:r>
            <a:r>
              <a:rPr lang="en-US" sz="2000" dirty="0"/>
              <a:t> sous </a:t>
            </a:r>
            <a:r>
              <a:rPr lang="en-US" sz="2000" dirty="0" err="1"/>
              <a:t>APAs</a:t>
            </a:r>
            <a:endParaRPr lang="en-US" sz="2000" dirty="0"/>
          </a:p>
          <a:p>
            <a:pPr lvl="2"/>
            <a:r>
              <a:rPr lang="en-US" sz="2000" dirty="0" err="1"/>
              <a:t>Possibilité</a:t>
            </a:r>
            <a:r>
              <a:rPr lang="en-US" sz="2000" dirty="0"/>
              <a:t> pour la </a:t>
            </a:r>
            <a:r>
              <a:rPr lang="en-US" sz="2000" dirty="0" err="1"/>
              <a:t>Banque</a:t>
            </a:r>
            <a:r>
              <a:rPr lang="en-US" sz="2000" dirty="0"/>
              <a:t> </a:t>
            </a:r>
            <a:r>
              <a:rPr lang="en-US" sz="2000" dirty="0" err="1"/>
              <a:t>d’enquêter</a:t>
            </a:r>
            <a:r>
              <a:rPr lang="en-US" sz="2000" dirty="0"/>
              <a:t> et de </a:t>
            </a:r>
            <a:r>
              <a:rPr lang="en-US" sz="2000" dirty="0" err="1"/>
              <a:t>sanctionner</a:t>
            </a:r>
            <a:r>
              <a:rPr lang="en-US" sz="2000" dirty="0"/>
              <a:t> les </a:t>
            </a:r>
            <a:r>
              <a:rPr lang="en-US" sz="2000" dirty="0" err="1"/>
              <a:t>actes</a:t>
            </a:r>
            <a:r>
              <a:rPr lang="en-US" sz="2000" dirty="0"/>
              <a:t> </a:t>
            </a:r>
            <a:r>
              <a:rPr lang="en-US" sz="2000" dirty="0" err="1"/>
              <a:t>répréhensibles</a:t>
            </a:r>
            <a:r>
              <a:rPr lang="en-US" sz="2000" dirty="0"/>
              <a:t> de </a:t>
            </a:r>
            <a:r>
              <a:rPr lang="en-US" sz="2000" dirty="0" err="1"/>
              <a:t>fraude</a:t>
            </a:r>
            <a:r>
              <a:rPr lang="en-US" sz="2000" dirty="0"/>
              <a:t> et corruption </a:t>
            </a:r>
          </a:p>
          <a:p>
            <a:pPr marL="742950" indent="-742950">
              <a:buFont typeface="+mj-lt"/>
              <a:buAutoNum type="arabicPeriod"/>
            </a:pPr>
            <a:r>
              <a:rPr lang="en-US" sz="2400" dirty="0"/>
              <a:t>Existence d’un </a:t>
            </a:r>
            <a:r>
              <a:rPr lang="en-US" sz="2400" dirty="0" err="1"/>
              <a:t>système</a:t>
            </a:r>
            <a:r>
              <a:rPr lang="en-US" sz="2400" dirty="0"/>
              <a:t> </a:t>
            </a:r>
            <a:r>
              <a:rPr lang="en-US" sz="2400" dirty="0" err="1"/>
              <a:t>crédible</a:t>
            </a:r>
            <a:r>
              <a:rPr lang="en-US" sz="2400" dirty="0"/>
              <a:t> et transparent de </a:t>
            </a:r>
            <a:r>
              <a:rPr lang="en-US" sz="2400" dirty="0" err="1"/>
              <a:t>traitement</a:t>
            </a:r>
            <a:r>
              <a:rPr lang="en-US" sz="2400" dirty="0"/>
              <a:t> des </a:t>
            </a:r>
            <a:r>
              <a:rPr lang="en-US" sz="2400" dirty="0" err="1"/>
              <a:t>plaintes</a:t>
            </a:r>
            <a:r>
              <a:rPr lang="en-US" sz="2400" dirty="0"/>
              <a:t> des </a:t>
            </a:r>
            <a:r>
              <a:rPr lang="en-US" sz="2400" dirty="0" err="1"/>
              <a:t>soumissionnaires</a:t>
            </a:r>
            <a:r>
              <a:rPr lang="en-US" sz="2400" dirty="0"/>
              <a:t>;</a:t>
            </a:r>
          </a:p>
          <a:p>
            <a:pPr marL="742950" indent="-742950">
              <a:buFont typeface="+mj-lt"/>
              <a:buAutoNum type="arabicPeriod"/>
            </a:pPr>
            <a:r>
              <a:rPr lang="en-US" sz="2400" dirty="0" err="1"/>
              <a:t>Possibilité</a:t>
            </a:r>
            <a:r>
              <a:rPr lang="en-US" sz="2400" dirty="0"/>
              <a:t> pour la </a:t>
            </a:r>
            <a:r>
              <a:rPr lang="en-US" sz="2400" dirty="0" err="1"/>
              <a:t>Banque</a:t>
            </a:r>
            <a:r>
              <a:rPr lang="en-US" sz="2400" dirty="0"/>
              <a:t> </a:t>
            </a:r>
            <a:r>
              <a:rPr lang="en-US" sz="2400" dirty="0" err="1"/>
              <a:t>d’exercer</a:t>
            </a:r>
            <a:r>
              <a:rPr lang="en-US" sz="2400" dirty="0"/>
              <a:t> les </a:t>
            </a:r>
            <a:r>
              <a:rPr lang="en-US" sz="2400" dirty="0" err="1"/>
              <a:t>recours</a:t>
            </a:r>
            <a:r>
              <a:rPr lang="en-US" sz="2400" dirty="0"/>
              <a:t> </a:t>
            </a:r>
            <a:r>
              <a:rPr lang="en-US" sz="2400" dirty="0" err="1"/>
              <a:t>prévus</a:t>
            </a:r>
            <a:r>
              <a:rPr lang="en-US" sz="2400" dirty="0"/>
              <a:t> par </a:t>
            </a:r>
            <a:r>
              <a:rPr lang="en-US" sz="2400" dirty="0" err="1"/>
              <a:t>l’accord</a:t>
            </a:r>
            <a:r>
              <a:rPr lang="en-US" sz="2400" dirty="0"/>
              <a:t> de prêt/</a:t>
            </a:r>
            <a:r>
              <a:rPr lang="en-US" sz="2400" dirty="0" err="1"/>
              <a:t>financement</a:t>
            </a:r>
            <a:r>
              <a:rPr lang="en-US" sz="2400" dirty="0"/>
              <a:t>.</a:t>
            </a:r>
          </a:p>
          <a:p>
            <a:pPr marL="0" indent="0">
              <a:buNone/>
            </a:pPr>
            <a:endParaRPr lang="en-US" sz="2400" dirty="0"/>
          </a:p>
        </p:txBody>
      </p:sp>
    </p:spTree>
    <p:extLst>
      <p:ext uri="{BB962C8B-B14F-4D97-AF65-F5344CB8AC3E}">
        <p14:creationId xmlns:p14="http://schemas.microsoft.com/office/powerpoint/2010/main" val="4036967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pPr algn="ctr"/>
            <a:r>
              <a:rPr lang="en-US" sz="2400" dirty="0">
                <a:solidFill>
                  <a:schemeClr val="tx1"/>
                </a:solidFill>
              </a:rPr>
              <a:t>5. Arrangements </a:t>
            </a:r>
            <a:r>
              <a:rPr lang="en-US" sz="2400" dirty="0" err="1">
                <a:solidFill>
                  <a:schemeClr val="tx1"/>
                </a:solidFill>
              </a:rPr>
              <a:t>Alternatifs</a:t>
            </a:r>
            <a:r>
              <a:rPr lang="en-US" sz="2400" dirty="0">
                <a:solidFill>
                  <a:schemeClr val="tx1"/>
                </a:solidFill>
              </a:rPr>
              <a:t> de </a:t>
            </a:r>
            <a:r>
              <a:rPr lang="en-US" sz="2400" dirty="0" err="1">
                <a:solidFill>
                  <a:schemeClr val="tx1"/>
                </a:solidFill>
              </a:rPr>
              <a:t>passation</a:t>
            </a:r>
            <a:r>
              <a:rPr lang="en-US" sz="2400" dirty="0">
                <a:solidFill>
                  <a:schemeClr val="tx1"/>
                </a:solidFill>
              </a:rPr>
              <a:t> des </a:t>
            </a:r>
            <a:r>
              <a:rPr lang="en-US" sz="2400" dirty="0" err="1">
                <a:solidFill>
                  <a:schemeClr val="tx1"/>
                </a:solidFill>
              </a:rPr>
              <a:t>marchés</a:t>
            </a:r>
            <a:r>
              <a:rPr lang="en-US" sz="2400" dirty="0">
                <a:solidFill>
                  <a:schemeClr val="tx1"/>
                </a:solidFill>
              </a:rPr>
              <a:t> (APAs)</a:t>
            </a:r>
            <a:br>
              <a:rPr lang="en-US" sz="2400" dirty="0">
                <a:solidFill>
                  <a:schemeClr val="tx1"/>
                </a:solidFill>
              </a:rPr>
            </a:br>
            <a:r>
              <a:rPr lang="en-US" sz="2400" dirty="0">
                <a:solidFill>
                  <a:schemeClr val="tx1"/>
                </a:solidFill>
              </a:rPr>
              <a:t>- Conditions (suite) -</a:t>
            </a:r>
          </a:p>
        </p:txBody>
      </p:sp>
      <p:sp>
        <p:nvSpPr>
          <p:cNvPr id="3" name="Content Placeholder 2"/>
          <p:cNvSpPr>
            <a:spLocks noGrp="1"/>
          </p:cNvSpPr>
          <p:nvPr>
            <p:ph idx="1"/>
          </p:nvPr>
        </p:nvSpPr>
        <p:spPr>
          <a:xfrm>
            <a:off x="228600" y="1080654"/>
            <a:ext cx="11866418" cy="5777345"/>
          </a:xfrm>
        </p:spPr>
        <p:txBody>
          <a:bodyPr>
            <a:normAutofit fontScale="47500" lnSpcReduction="20000"/>
          </a:bodyPr>
          <a:lstStyle/>
          <a:p>
            <a:pPr marL="0" indent="0">
              <a:buNone/>
            </a:pPr>
            <a:endParaRPr lang="en-US" sz="4200" dirty="0"/>
          </a:p>
          <a:p>
            <a:pPr marL="742950" indent="-742950">
              <a:buFont typeface="+mj-lt"/>
              <a:buAutoNum type="arabicPeriod" startAt="5"/>
            </a:pPr>
            <a:r>
              <a:rPr lang="fr-FR" sz="4200" dirty="0"/>
              <a:t>Décision d’accorder un régime d’APA appartient à la Banque suite à une évaluation du système et des procédures de </a:t>
            </a:r>
            <a:r>
              <a:rPr lang="fr-FR" sz="4200" u="sng" dirty="0"/>
              <a:t>l’agence d’exécution;</a:t>
            </a:r>
          </a:p>
          <a:p>
            <a:pPr marL="742950" indent="-742950">
              <a:buFont typeface="+mj-lt"/>
              <a:buAutoNum type="arabicPeriod" startAt="5"/>
            </a:pPr>
            <a:r>
              <a:rPr lang="fr-FR" sz="4200" dirty="0"/>
              <a:t>Evaluation conduite par la Banque de </a:t>
            </a:r>
            <a:r>
              <a:rPr lang="fr-FR" sz="4200" u="sng" dirty="0"/>
              <a:t>l’agence d’exécution;</a:t>
            </a:r>
          </a:p>
          <a:p>
            <a:pPr marL="742950" indent="-742950">
              <a:buFont typeface="+mj-lt"/>
              <a:buAutoNum type="arabicPeriod" startAt="5"/>
            </a:pPr>
            <a:r>
              <a:rPr lang="fr-FR" sz="4200" dirty="0"/>
              <a:t>Régime de l’APA </a:t>
            </a:r>
            <a:r>
              <a:rPr lang="fr-FR" sz="4200" u="sng" dirty="0"/>
              <a:t>ne s’apparente pas </a:t>
            </a:r>
            <a:r>
              <a:rPr lang="fr-FR" sz="4200" dirty="0"/>
              <a:t>à l’utilisation du système-pays: c’est l’agence d’exécution qui bénéficie de ce régime, non le pays;</a:t>
            </a:r>
          </a:p>
          <a:p>
            <a:pPr marL="742950" indent="-742950">
              <a:buFont typeface="+mj-lt"/>
              <a:buAutoNum type="arabicPeriod" startAt="5"/>
            </a:pPr>
            <a:r>
              <a:rPr lang="fr-FR" sz="4200" dirty="0"/>
              <a:t>Une fois accordé à une agence d’exécution, le régime de l’APA peut valoir pour l’avenir, mais être aussi remis en question pour tout nouveau projet;</a:t>
            </a:r>
          </a:p>
          <a:p>
            <a:pPr marL="742950" indent="-742950">
              <a:buFont typeface="+mj-lt"/>
              <a:buAutoNum type="arabicPeriod" startAt="5"/>
            </a:pPr>
            <a:r>
              <a:rPr lang="fr-FR" sz="4200" dirty="0"/>
              <a:t>Evaluation peut se faire dans le cadre ou en dehors de la préparation d’un projet;</a:t>
            </a:r>
          </a:p>
          <a:p>
            <a:pPr marL="742950" indent="-742950">
              <a:buFont typeface="+mj-lt"/>
              <a:buAutoNum type="arabicPeriod" startAt="5"/>
            </a:pPr>
            <a:r>
              <a:rPr lang="fr-FR" sz="4200" dirty="0"/>
              <a:t>Dans le cadre de l’APA, l’ensemble des marchés, y compris les plus importants en valeur, est passé en fonction du régime de passation de l’agence en question;  </a:t>
            </a:r>
          </a:p>
          <a:p>
            <a:pPr marL="742950" indent="-742950">
              <a:buFont typeface="+mj-lt"/>
              <a:buAutoNum type="arabicPeriod" startAt="5"/>
            </a:pPr>
            <a:r>
              <a:rPr lang="fr-FR" sz="4200" dirty="0"/>
              <a:t>Procédure d’évaluation simplifiée pour les agences de pays parties à l’Accord sur les Marchés Publics de l’OMC;</a:t>
            </a:r>
          </a:p>
          <a:p>
            <a:pPr marL="742950" indent="-742950">
              <a:buFont typeface="+mj-lt"/>
              <a:buAutoNum type="arabicPeriod" startAt="5"/>
            </a:pPr>
            <a:r>
              <a:rPr lang="fr-FR" sz="4200" dirty="0"/>
              <a:t>Procédures des bilatéraux ou multilatéraux des autres Bailleurs de fonds:</a:t>
            </a:r>
          </a:p>
          <a:p>
            <a:pPr lvl="2"/>
            <a:r>
              <a:rPr lang="fr-FR" sz="3600" dirty="0"/>
              <a:t>pas l’objet d’une évaluation détaillée comme pour les agences nationales d’exécution</a:t>
            </a:r>
          </a:p>
          <a:p>
            <a:pPr lvl="2"/>
            <a:r>
              <a:rPr lang="fr-FR" sz="3600" dirty="0"/>
              <a:t>Protocole d’accord avec les Bailleurs de Fonds pour chaque projet</a:t>
            </a:r>
          </a:p>
        </p:txBody>
      </p:sp>
    </p:spTree>
    <p:extLst>
      <p:ext uri="{BB962C8B-B14F-4D97-AF65-F5344CB8AC3E}">
        <p14:creationId xmlns:p14="http://schemas.microsoft.com/office/powerpoint/2010/main" val="2067119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pPr algn="ctr"/>
            <a:r>
              <a:rPr lang="en-US" sz="3200" dirty="0">
                <a:solidFill>
                  <a:schemeClr val="tx1"/>
                </a:solidFill>
              </a:rPr>
              <a:t>6. </a:t>
            </a:r>
            <a:r>
              <a:rPr lang="en-US" sz="3200" dirty="0" err="1">
                <a:solidFill>
                  <a:schemeClr val="tx1"/>
                </a:solidFill>
              </a:rPr>
              <a:t>Critères</a:t>
            </a:r>
            <a:r>
              <a:rPr lang="en-US" sz="3200" dirty="0">
                <a:solidFill>
                  <a:schemeClr val="tx1"/>
                </a:solidFill>
              </a:rPr>
              <a:t> </a:t>
            </a:r>
            <a:r>
              <a:rPr lang="en-US" sz="3200" dirty="0" err="1">
                <a:solidFill>
                  <a:schemeClr val="tx1"/>
                </a:solidFill>
              </a:rPr>
              <a:t>d’évaluation</a:t>
            </a:r>
            <a:r>
              <a:rPr lang="en-US" sz="3200" dirty="0">
                <a:solidFill>
                  <a:schemeClr val="tx1"/>
                </a:solidFill>
              </a:rPr>
              <a:t> et </a:t>
            </a:r>
            <a:r>
              <a:rPr lang="en-US" sz="3200" dirty="0" err="1">
                <a:solidFill>
                  <a:schemeClr val="tx1"/>
                </a:solidFill>
              </a:rPr>
              <a:t>d’attribution</a:t>
            </a:r>
            <a:r>
              <a:rPr lang="en-US" sz="3200" dirty="0">
                <a:solidFill>
                  <a:schemeClr val="tx1"/>
                </a:solidFill>
              </a:rPr>
              <a:t> des </a:t>
            </a:r>
            <a:r>
              <a:rPr lang="en-US" sz="3200" dirty="0" err="1">
                <a:solidFill>
                  <a:schemeClr val="tx1"/>
                </a:solidFill>
              </a:rPr>
              <a:t>offres</a:t>
            </a:r>
            <a:endParaRPr lang="en-US" sz="3200" dirty="0">
              <a:solidFill>
                <a:schemeClr val="tx1"/>
              </a:solidFill>
            </a:endParaRPr>
          </a:p>
        </p:txBody>
      </p:sp>
      <p:sp>
        <p:nvSpPr>
          <p:cNvPr id="3" name="Content Placeholder 2"/>
          <p:cNvSpPr>
            <a:spLocks noGrp="1"/>
          </p:cNvSpPr>
          <p:nvPr>
            <p:ph idx="1"/>
          </p:nvPr>
        </p:nvSpPr>
        <p:spPr>
          <a:xfrm>
            <a:off x="486988" y="2057400"/>
            <a:ext cx="11524903" cy="4508653"/>
          </a:xfrm>
        </p:spPr>
        <p:txBody>
          <a:bodyPr>
            <a:normAutofit fontScale="55000" lnSpcReduction="20000"/>
          </a:bodyPr>
          <a:lstStyle/>
          <a:p>
            <a:pPr>
              <a:lnSpc>
                <a:spcPct val="120000"/>
              </a:lnSpc>
            </a:pPr>
            <a:r>
              <a:rPr lang="fr-FR" sz="4200" dirty="0"/>
              <a:t>Possibilité d’utiliser des critères de qualité pondérés pour les marchés de travaux, de fournitures et de services courants (NOUVEAU);</a:t>
            </a:r>
          </a:p>
          <a:p>
            <a:pPr>
              <a:lnSpc>
                <a:spcPct val="120000"/>
              </a:lnSpc>
            </a:pPr>
            <a:r>
              <a:rPr lang="fr-FR" sz="4200" dirty="0"/>
              <a:t>Utilisation de critères autres que le prix (ex: cycle de vie des équipements);</a:t>
            </a:r>
          </a:p>
          <a:p>
            <a:pPr>
              <a:lnSpc>
                <a:spcPct val="120000"/>
              </a:lnSpc>
            </a:pPr>
            <a:r>
              <a:rPr lang="fr-FR" sz="4200" dirty="0"/>
              <a:t>Critères sociaux et environnementaux peuvent être utilisés;</a:t>
            </a:r>
          </a:p>
          <a:p>
            <a:pPr>
              <a:lnSpc>
                <a:spcPct val="120000"/>
              </a:lnSpc>
            </a:pPr>
            <a:r>
              <a:rPr lang="fr-FR" sz="4200" dirty="0"/>
              <a:t>Permet une meilleure évaluation et utilisation de contrats tels que conception-réalisation;  </a:t>
            </a:r>
          </a:p>
          <a:p>
            <a:pPr>
              <a:lnSpc>
                <a:spcPct val="120000"/>
              </a:lnSpc>
            </a:pPr>
            <a:r>
              <a:rPr lang="fr-FR" sz="4200" dirty="0"/>
              <a:t>Attribution du contrat à l’offre évaluée la plus avantageuse;</a:t>
            </a:r>
          </a:p>
          <a:p>
            <a:pPr>
              <a:lnSpc>
                <a:spcPct val="120000"/>
              </a:lnSpc>
            </a:pPr>
            <a:r>
              <a:rPr lang="fr-FR" sz="4200" dirty="0"/>
              <a:t>Possibilité d’utiliser le système à 2 enveloppes;</a:t>
            </a:r>
          </a:p>
          <a:p>
            <a:pPr>
              <a:lnSpc>
                <a:spcPct val="120000"/>
              </a:lnSpc>
            </a:pPr>
            <a:r>
              <a:rPr lang="fr-FR" sz="4200" dirty="0"/>
              <a:t>Recommandation que le ratio de critères techniques pondérés ne dépasse pas 50%.  </a:t>
            </a:r>
          </a:p>
          <a:p>
            <a:pPr marL="0" indent="0">
              <a:buNone/>
            </a:pPr>
            <a:endParaRPr lang="en-US" sz="4200" dirty="0"/>
          </a:p>
        </p:txBody>
      </p:sp>
    </p:spTree>
    <p:extLst>
      <p:ext uri="{BB962C8B-B14F-4D97-AF65-F5344CB8AC3E}">
        <p14:creationId xmlns:p14="http://schemas.microsoft.com/office/powerpoint/2010/main" val="2705225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pPr algn="ctr"/>
            <a:r>
              <a:rPr lang="en-US" sz="3200" dirty="0">
                <a:solidFill>
                  <a:schemeClr val="tx1"/>
                </a:solidFill>
              </a:rPr>
              <a:t>7. Assistance </a:t>
            </a:r>
            <a:r>
              <a:rPr lang="en-US" sz="3200" dirty="0" err="1">
                <a:solidFill>
                  <a:schemeClr val="tx1"/>
                </a:solidFill>
              </a:rPr>
              <a:t>Directe</a:t>
            </a:r>
            <a:r>
              <a:rPr lang="en-US" sz="3200" dirty="0">
                <a:solidFill>
                  <a:schemeClr val="tx1"/>
                </a:solidFill>
              </a:rPr>
              <a:t> à la </a:t>
            </a:r>
            <a:r>
              <a:rPr lang="en-US" sz="3200" dirty="0" err="1">
                <a:solidFill>
                  <a:schemeClr val="tx1"/>
                </a:solidFill>
              </a:rPr>
              <a:t>mise</a:t>
            </a:r>
            <a:r>
              <a:rPr lang="en-US" sz="3200" dirty="0">
                <a:solidFill>
                  <a:schemeClr val="tx1"/>
                </a:solidFill>
              </a:rPr>
              <a:t> </a:t>
            </a:r>
            <a:r>
              <a:rPr lang="en-US" sz="3200" dirty="0" err="1">
                <a:solidFill>
                  <a:schemeClr val="tx1"/>
                </a:solidFill>
              </a:rPr>
              <a:t>en</a:t>
            </a:r>
            <a:r>
              <a:rPr lang="en-US" sz="3200" dirty="0">
                <a:solidFill>
                  <a:schemeClr val="tx1"/>
                </a:solidFill>
              </a:rPr>
              <a:t> oeuvre (</a:t>
            </a:r>
            <a:r>
              <a:rPr lang="en-US" sz="3200" dirty="0" err="1">
                <a:solidFill>
                  <a:schemeClr val="tx1"/>
                </a:solidFill>
              </a:rPr>
              <a:t>HEIS</a:t>
            </a:r>
            <a:r>
              <a:rPr lang="en-US" sz="3200" dirty="0">
                <a:solidFill>
                  <a:schemeClr val="tx1"/>
                </a:solidFill>
              </a:rPr>
              <a:t>)</a:t>
            </a:r>
          </a:p>
        </p:txBody>
      </p:sp>
      <p:sp>
        <p:nvSpPr>
          <p:cNvPr id="3" name="Content Placeholder 2"/>
          <p:cNvSpPr>
            <a:spLocks noGrp="1"/>
          </p:cNvSpPr>
          <p:nvPr>
            <p:ph idx="1"/>
          </p:nvPr>
        </p:nvSpPr>
        <p:spPr>
          <a:xfrm>
            <a:off x="385590" y="1487278"/>
            <a:ext cx="11626301" cy="4715218"/>
          </a:xfrm>
        </p:spPr>
        <p:txBody>
          <a:bodyPr>
            <a:normAutofit fontScale="47500" lnSpcReduction="20000"/>
          </a:bodyPr>
          <a:lstStyle/>
          <a:p>
            <a:r>
              <a:rPr lang="fr-FR" sz="4200" dirty="0"/>
              <a:t>Possible assistance directe de la Banque pour les projets dans les pays les plus fragiles, en manque de capacité ou en situation d’urgence; </a:t>
            </a:r>
          </a:p>
          <a:p>
            <a:r>
              <a:rPr lang="fr-FR" sz="4200" dirty="0"/>
              <a:t>Décision appartient à la Banque en fonction des circonstances du projet;</a:t>
            </a:r>
          </a:p>
          <a:p>
            <a:r>
              <a:rPr lang="fr-FR" sz="4200" dirty="0"/>
              <a:t>Assistance Directe prêtée par la Banque peut inclure:</a:t>
            </a:r>
          </a:p>
          <a:p>
            <a:pPr marL="1200150" lvl="1" indent="-742950">
              <a:lnSpc>
                <a:spcPct val="120000"/>
              </a:lnSpc>
              <a:buFont typeface="+mj-lt"/>
              <a:buAutoNum type="arabicPeriod"/>
            </a:pPr>
            <a:r>
              <a:rPr lang="fr-FR" sz="3800" dirty="0"/>
              <a:t>Assistance à la rédaction des </a:t>
            </a:r>
            <a:r>
              <a:rPr lang="fr-FR" sz="3800" dirty="0" err="1"/>
              <a:t>DAOs</a:t>
            </a:r>
            <a:r>
              <a:rPr lang="fr-FR" sz="3800" dirty="0"/>
              <a:t>;</a:t>
            </a:r>
          </a:p>
          <a:p>
            <a:pPr marL="1200150" lvl="1" indent="-742950">
              <a:lnSpc>
                <a:spcPct val="120000"/>
              </a:lnSpc>
              <a:buFont typeface="+mj-lt"/>
              <a:buAutoNum type="arabicPeriod"/>
            </a:pPr>
            <a:r>
              <a:rPr lang="fr-FR" sz="3800" dirty="0"/>
              <a:t>Participation non active aux séances d’ouverture des plis ou d’évaluation des offres;</a:t>
            </a:r>
          </a:p>
          <a:p>
            <a:pPr marL="1200150" lvl="1" indent="-742950">
              <a:lnSpc>
                <a:spcPct val="120000"/>
              </a:lnSpc>
              <a:buFont typeface="+mj-lt"/>
              <a:buAutoNum type="arabicPeriod"/>
            </a:pPr>
            <a:r>
              <a:rPr lang="fr-FR" sz="3800" dirty="0"/>
              <a:t>Observation des négociations avec les soumissionnaires ou les consultants;</a:t>
            </a:r>
          </a:p>
          <a:p>
            <a:pPr marL="1200150" lvl="1" indent="-742950">
              <a:lnSpc>
                <a:spcPct val="120000"/>
              </a:lnSpc>
              <a:buFont typeface="+mj-lt"/>
              <a:buAutoNum type="arabicPeriod"/>
            </a:pPr>
            <a:r>
              <a:rPr lang="fr-FR" sz="3800" dirty="0"/>
              <a:t>Aide à la rédaction des rapports d’évaluation et documents relatifs à l’attribution des marchés;</a:t>
            </a:r>
          </a:p>
          <a:p>
            <a:pPr marL="1200150" lvl="1" indent="-742950">
              <a:lnSpc>
                <a:spcPct val="120000"/>
              </a:lnSpc>
              <a:buFont typeface="+mj-lt"/>
              <a:buAutoNum type="arabicPeriod"/>
            </a:pPr>
            <a:r>
              <a:rPr lang="fr-FR" sz="3800" dirty="0"/>
              <a:t>Observation lors des débriefings;</a:t>
            </a:r>
          </a:p>
          <a:p>
            <a:pPr marL="1200150" lvl="1" indent="-742950">
              <a:lnSpc>
                <a:spcPct val="120000"/>
              </a:lnSpc>
              <a:buFont typeface="+mj-lt"/>
              <a:buAutoNum type="arabicPeriod"/>
            </a:pPr>
            <a:r>
              <a:rPr lang="fr-FR" sz="3800" dirty="0"/>
              <a:t>Assistance dans la réponse aux plaintes;</a:t>
            </a:r>
          </a:p>
          <a:p>
            <a:pPr marL="1200150" lvl="1" indent="-742950">
              <a:lnSpc>
                <a:spcPct val="120000"/>
              </a:lnSpc>
              <a:buFont typeface="+mj-lt"/>
              <a:buAutoNum type="arabicPeriod"/>
            </a:pPr>
            <a:r>
              <a:rPr lang="fr-FR" sz="3800" dirty="0"/>
              <a:t>Conseil dans la gestion des indicateurs contractuels.</a:t>
            </a:r>
          </a:p>
        </p:txBody>
      </p:sp>
    </p:spTree>
    <p:extLst>
      <p:ext uri="{BB962C8B-B14F-4D97-AF65-F5344CB8AC3E}">
        <p14:creationId xmlns:p14="http://schemas.microsoft.com/office/powerpoint/2010/main" val="3814660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pPr algn="ctr"/>
            <a:r>
              <a:rPr lang="en-US" sz="3200" dirty="0">
                <a:solidFill>
                  <a:schemeClr val="tx1"/>
                </a:solidFill>
              </a:rPr>
              <a:t>8. </a:t>
            </a:r>
            <a:r>
              <a:rPr lang="en-US" sz="3200" dirty="0" err="1">
                <a:solidFill>
                  <a:schemeClr val="tx1"/>
                </a:solidFill>
              </a:rPr>
              <a:t>Plaintes</a:t>
            </a:r>
            <a:r>
              <a:rPr lang="en-US" sz="3200" dirty="0">
                <a:solidFill>
                  <a:schemeClr val="tx1"/>
                </a:solidFill>
              </a:rPr>
              <a:t> et </a:t>
            </a:r>
            <a:r>
              <a:rPr lang="en-US" sz="3200" dirty="0" err="1">
                <a:solidFill>
                  <a:schemeClr val="tx1"/>
                </a:solidFill>
              </a:rPr>
              <a:t>débriefings</a:t>
            </a:r>
            <a:endParaRPr lang="en-US" sz="3200" dirty="0">
              <a:solidFill>
                <a:schemeClr val="tx1"/>
              </a:solidFill>
            </a:endParaRPr>
          </a:p>
        </p:txBody>
      </p:sp>
      <p:sp>
        <p:nvSpPr>
          <p:cNvPr id="3" name="Content Placeholder 2"/>
          <p:cNvSpPr>
            <a:spLocks noGrp="1"/>
          </p:cNvSpPr>
          <p:nvPr>
            <p:ph idx="1"/>
          </p:nvPr>
        </p:nvSpPr>
        <p:spPr>
          <a:xfrm>
            <a:off x="143219" y="1487276"/>
            <a:ext cx="11868672" cy="4594035"/>
          </a:xfrm>
        </p:spPr>
        <p:txBody>
          <a:bodyPr>
            <a:noAutofit/>
          </a:bodyPr>
          <a:lstStyle/>
          <a:p>
            <a:r>
              <a:rPr lang="fr-FR" sz="2400" dirty="0"/>
              <a:t>Système de plaintes applicable à toutes les </a:t>
            </a:r>
            <a:r>
              <a:rPr lang="fr-FR" sz="2400" b="1" dirty="0"/>
              <a:t>procédures internationales d’appel d’offres;</a:t>
            </a:r>
          </a:p>
          <a:p>
            <a:r>
              <a:rPr lang="fr-FR" sz="2400" dirty="0"/>
              <a:t>Elaboré en conformité avec les meilleurs mécanismes internationaux de plaintes incluant:</a:t>
            </a:r>
          </a:p>
          <a:p>
            <a:pPr marL="1200150" lvl="1" indent="-742950">
              <a:buFont typeface="+mj-lt"/>
              <a:buAutoNum type="arabicPeriod"/>
            </a:pPr>
            <a:r>
              <a:rPr lang="fr-FR" dirty="0"/>
              <a:t>Détermination des </a:t>
            </a:r>
            <a:r>
              <a:rPr lang="fr-FR" u="sng" dirty="0"/>
              <a:t>entités</a:t>
            </a:r>
            <a:r>
              <a:rPr lang="fr-FR" dirty="0"/>
              <a:t> pouvant déposer une plainte;</a:t>
            </a:r>
          </a:p>
          <a:p>
            <a:pPr marL="1200150" lvl="1" indent="-742950">
              <a:buFont typeface="+mj-lt"/>
              <a:buAutoNum type="arabicPeriod"/>
            </a:pPr>
            <a:r>
              <a:rPr lang="fr-FR" dirty="0"/>
              <a:t>Conditions de </a:t>
            </a:r>
            <a:r>
              <a:rPr lang="fr-FR" u="sng" dirty="0"/>
              <a:t>délais</a:t>
            </a:r>
            <a:r>
              <a:rPr lang="fr-FR" dirty="0"/>
              <a:t> de soumission et de réponse aux plaintes;</a:t>
            </a:r>
          </a:p>
          <a:p>
            <a:pPr marL="1200150" lvl="1" indent="-742950">
              <a:buFont typeface="+mj-lt"/>
              <a:buAutoNum type="arabicPeriod"/>
            </a:pPr>
            <a:r>
              <a:rPr lang="fr-FR" dirty="0"/>
              <a:t>Conditions de </a:t>
            </a:r>
            <a:r>
              <a:rPr lang="fr-FR" u="sng" dirty="0"/>
              <a:t>forme et de fond </a:t>
            </a:r>
            <a:r>
              <a:rPr lang="fr-FR" dirty="0"/>
              <a:t>des plaintes;</a:t>
            </a:r>
          </a:p>
          <a:p>
            <a:pPr marL="1200150" lvl="1" indent="-742950">
              <a:buFont typeface="+mj-lt"/>
              <a:buAutoNum type="arabicPeriod"/>
            </a:pPr>
            <a:r>
              <a:rPr lang="fr-FR" u="sng" dirty="0"/>
              <a:t>Conséquences</a:t>
            </a:r>
            <a:r>
              <a:rPr lang="fr-FR" dirty="0"/>
              <a:t> du dépôt de plainte;</a:t>
            </a:r>
          </a:p>
          <a:p>
            <a:pPr marL="1200150" lvl="1" indent="-742950">
              <a:buFont typeface="+mj-lt"/>
              <a:buAutoNum type="arabicPeriod"/>
            </a:pPr>
            <a:r>
              <a:rPr lang="fr-FR" dirty="0"/>
              <a:t>Introduction du </a:t>
            </a:r>
            <a:r>
              <a:rPr lang="fr-FR" b="1" u="sng" dirty="0"/>
              <a:t>délai d’attente </a:t>
            </a:r>
            <a:r>
              <a:rPr lang="fr-FR" dirty="0"/>
              <a:t>(“</a:t>
            </a:r>
            <a:r>
              <a:rPr lang="fr-FR" dirty="0" err="1"/>
              <a:t>STANDSTILL</a:t>
            </a:r>
            <a:r>
              <a:rPr lang="fr-FR" dirty="0"/>
              <a:t> </a:t>
            </a:r>
            <a:r>
              <a:rPr lang="fr-FR" dirty="0" err="1"/>
              <a:t>PERIOD</a:t>
            </a:r>
            <a:r>
              <a:rPr lang="fr-FR" dirty="0"/>
              <a:t>”) suite à la décision d’attribution des contrats.</a:t>
            </a:r>
          </a:p>
          <a:p>
            <a:pPr>
              <a:lnSpc>
                <a:spcPct val="170000"/>
              </a:lnSpc>
            </a:pPr>
            <a:r>
              <a:rPr lang="fr-FR" sz="2400" dirty="0"/>
              <a:t>Distinction avec les demandes de débriefing.</a:t>
            </a:r>
          </a:p>
        </p:txBody>
      </p:sp>
    </p:spTree>
    <p:extLst>
      <p:ext uri="{BB962C8B-B14F-4D97-AF65-F5344CB8AC3E}">
        <p14:creationId xmlns:p14="http://schemas.microsoft.com/office/powerpoint/2010/main" val="4188012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pPr algn="ctr"/>
            <a:r>
              <a:rPr lang="en-US" sz="3200" dirty="0">
                <a:solidFill>
                  <a:schemeClr val="tx1"/>
                </a:solidFill>
              </a:rPr>
              <a:t>8. </a:t>
            </a:r>
            <a:r>
              <a:rPr lang="en-US" sz="3200" dirty="0" err="1">
                <a:solidFill>
                  <a:schemeClr val="tx1"/>
                </a:solidFill>
              </a:rPr>
              <a:t>Délais</a:t>
            </a:r>
            <a:r>
              <a:rPr lang="en-US" sz="3200" dirty="0">
                <a:solidFill>
                  <a:schemeClr val="tx1"/>
                </a:solidFill>
              </a:rPr>
              <a:t> de </a:t>
            </a:r>
            <a:r>
              <a:rPr lang="en-US" sz="3200" dirty="0" err="1">
                <a:solidFill>
                  <a:schemeClr val="tx1"/>
                </a:solidFill>
              </a:rPr>
              <a:t>dépôt</a:t>
            </a:r>
            <a:r>
              <a:rPr lang="en-US" sz="3200" dirty="0">
                <a:solidFill>
                  <a:schemeClr val="tx1"/>
                </a:solidFill>
              </a:rPr>
              <a:t> et de </a:t>
            </a:r>
            <a:r>
              <a:rPr lang="en-US" sz="3200" dirty="0" err="1">
                <a:solidFill>
                  <a:schemeClr val="tx1"/>
                </a:solidFill>
              </a:rPr>
              <a:t>réponse</a:t>
            </a:r>
            <a:r>
              <a:rPr lang="en-US" sz="3200" dirty="0">
                <a:solidFill>
                  <a:schemeClr val="tx1"/>
                </a:solidFill>
              </a:rPr>
              <a:t> aux </a:t>
            </a:r>
            <a:r>
              <a:rPr lang="en-US" sz="3200" dirty="0" err="1">
                <a:solidFill>
                  <a:schemeClr val="tx1"/>
                </a:solidFill>
              </a:rPr>
              <a:t>plaintes</a:t>
            </a:r>
            <a:endParaRPr lang="en-US" sz="3200" dirty="0">
              <a:solidFill>
                <a:schemeClr val="tx1"/>
              </a:solidFill>
            </a:endParaRPr>
          </a:p>
        </p:txBody>
      </p:sp>
      <p:sp>
        <p:nvSpPr>
          <p:cNvPr id="3" name="Content Placeholder 2"/>
          <p:cNvSpPr>
            <a:spLocks noGrp="1"/>
          </p:cNvSpPr>
          <p:nvPr>
            <p:ph idx="1"/>
          </p:nvPr>
        </p:nvSpPr>
        <p:spPr>
          <a:xfrm>
            <a:off x="385591" y="1487278"/>
            <a:ext cx="11468558" cy="5370722"/>
          </a:xfrm>
        </p:spPr>
        <p:txBody>
          <a:bodyPr>
            <a:normAutofit fontScale="47500" lnSpcReduction="20000"/>
          </a:bodyPr>
          <a:lstStyle/>
          <a:p>
            <a:pPr>
              <a:lnSpc>
                <a:spcPct val="120000"/>
              </a:lnSpc>
            </a:pPr>
            <a:r>
              <a:rPr lang="fr-FR" sz="4200" dirty="0"/>
              <a:t>Délai d’attente de minimum </a:t>
            </a:r>
            <a:r>
              <a:rPr lang="fr-FR" sz="4200" b="1" u="sng" dirty="0"/>
              <a:t>10 jours </a:t>
            </a:r>
            <a:r>
              <a:rPr lang="fr-FR" sz="4200" u="sng" dirty="0"/>
              <a:t>(ouvrables) </a:t>
            </a:r>
            <a:r>
              <a:rPr lang="fr-FR" sz="4200" dirty="0"/>
              <a:t>instauré à l’issue de la décision d’attribution;</a:t>
            </a:r>
          </a:p>
          <a:p>
            <a:pPr>
              <a:lnSpc>
                <a:spcPct val="120000"/>
              </a:lnSpc>
            </a:pPr>
            <a:r>
              <a:rPr lang="fr-FR" sz="4200" dirty="0"/>
              <a:t>Notification d’intention d’attribuer le contrat envoyé aux soumissionnaires à l’issue de l’évaluation des offres;</a:t>
            </a:r>
          </a:p>
          <a:p>
            <a:pPr>
              <a:lnSpc>
                <a:spcPct val="120000"/>
              </a:lnSpc>
            </a:pPr>
            <a:r>
              <a:rPr lang="fr-FR" sz="4200" dirty="0"/>
              <a:t>Ouverture d’une </a:t>
            </a:r>
            <a:r>
              <a:rPr lang="fr-FR" sz="4200" u="sng" dirty="0"/>
              <a:t>période “gelée”</a:t>
            </a:r>
            <a:r>
              <a:rPr lang="fr-FR" sz="4200" dirty="0"/>
              <a:t> (STANDSTILL PERIOD) pendant laquelle les autres soumissionnaires peuvent déposer une plainte auprès de l’agence d’implémentation;</a:t>
            </a:r>
          </a:p>
          <a:p>
            <a:pPr>
              <a:lnSpc>
                <a:spcPct val="120000"/>
              </a:lnSpc>
            </a:pPr>
            <a:r>
              <a:rPr lang="fr-FR" sz="4200" dirty="0"/>
              <a:t>Suspension du processus d’attribution si une plainte est déposée;</a:t>
            </a:r>
          </a:p>
          <a:p>
            <a:pPr>
              <a:lnSpc>
                <a:spcPct val="120000"/>
              </a:lnSpc>
            </a:pPr>
            <a:r>
              <a:rPr lang="fr-FR" sz="4200" dirty="0"/>
              <a:t>L’agence a </a:t>
            </a:r>
            <a:r>
              <a:rPr lang="fr-FR" sz="4200" b="1" u="sng" dirty="0"/>
              <a:t>15 jours</a:t>
            </a:r>
            <a:r>
              <a:rPr lang="fr-FR" sz="4200" u="sng" dirty="0"/>
              <a:t> ouvrables </a:t>
            </a:r>
            <a:r>
              <a:rPr lang="fr-FR" sz="4200" dirty="0"/>
              <a:t>pour répondre à la plainte (accord de la Banque si contrat soumis à la revue préalable de la Banque;</a:t>
            </a:r>
          </a:p>
          <a:p>
            <a:pPr>
              <a:lnSpc>
                <a:spcPct val="120000"/>
              </a:lnSpc>
            </a:pPr>
            <a:r>
              <a:rPr lang="fr-FR" sz="4200" dirty="0"/>
              <a:t>Autres délais:</a:t>
            </a:r>
          </a:p>
          <a:p>
            <a:pPr lvl="2">
              <a:lnSpc>
                <a:spcPct val="120000"/>
              </a:lnSpc>
              <a:buFont typeface="Courier New" panose="02070309020205020404" pitchFamily="49" charset="0"/>
              <a:buChar char="o"/>
            </a:pPr>
            <a:r>
              <a:rPr lang="fr-FR" sz="3800" dirty="0"/>
              <a:t>Délai de </a:t>
            </a:r>
            <a:r>
              <a:rPr lang="fr-FR" sz="3800" b="1" dirty="0"/>
              <a:t>10 jours </a:t>
            </a:r>
            <a:r>
              <a:rPr lang="fr-FR" sz="3800" dirty="0"/>
              <a:t>pour dépôt d’une plainte pour disqualification (</a:t>
            </a:r>
            <a:r>
              <a:rPr lang="fr-FR" sz="3800" b="1" dirty="0"/>
              <a:t>7 jours </a:t>
            </a:r>
            <a:r>
              <a:rPr lang="fr-FR" sz="3800" dirty="0"/>
              <a:t>pour répondre)</a:t>
            </a:r>
          </a:p>
          <a:p>
            <a:pPr lvl="2">
              <a:lnSpc>
                <a:spcPct val="120000"/>
              </a:lnSpc>
              <a:buFont typeface="Courier New" panose="02070309020205020404" pitchFamily="49" charset="0"/>
              <a:buChar char="o"/>
            </a:pPr>
            <a:r>
              <a:rPr lang="fr-FR" sz="3800" dirty="0"/>
              <a:t>Plainte sur documents jusqu’à </a:t>
            </a:r>
            <a:r>
              <a:rPr lang="fr-FR" sz="3800" b="1" dirty="0"/>
              <a:t>10 jours avant </a:t>
            </a:r>
            <a:r>
              <a:rPr lang="fr-FR" sz="3800" dirty="0"/>
              <a:t>la date limite de soumission des offres ou de candidature (</a:t>
            </a:r>
            <a:r>
              <a:rPr lang="fr-FR" sz="3800" b="1" dirty="0"/>
              <a:t>7 jours </a:t>
            </a:r>
            <a:r>
              <a:rPr lang="fr-FR" sz="3800" dirty="0"/>
              <a:t>pour répondre);</a:t>
            </a:r>
          </a:p>
          <a:p>
            <a:pPr lvl="2">
              <a:lnSpc>
                <a:spcPct val="120000"/>
              </a:lnSpc>
              <a:buFont typeface="Courier New" panose="02070309020205020404" pitchFamily="49" charset="0"/>
              <a:buChar char="o"/>
            </a:pPr>
            <a:r>
              <a:rPr lang="fr-FR" sz="3800" b="1" dirty="0"/>
              <a:t>3 jours </a:t>
            </a:r>
            <a:r>
              <a:rPr lang="fr-FR" sz="3800" dirty="0"/>
              <a:t>pour récépissé de dépôt de plainte.</a:t>
            </a:r>
          </a:p>
        </p:txBody>
      </p:sp>
    </p:spTree>
    <p:extLst>
      <p:ext uri="{BB962C8B-B14F-4D97-AF65-F5344CB8AC3E}">
        <p14:creationId xmlns:p14="http://schemas.microsoft.com/office/powerpoint/2010/main" val="582484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pPr algn="ctr"/>
            <a:r>
              <a:rPr lang="en-US" sz="3200" dirty="0">
                <a:solidFill>
                  <a:schemeClr val="tx1"/>
                </a:solidFill>
              </a:rPr>
              <a:t>8. </a:t>
            </a:r>
            <a:r>
              <a:rPr lang="en-US" sz="3200" dirty="0" err="1">
                <a:solidFill>
                  <a:schemeClr val="tx1"/>
                </a:solidFill>
              </a:rPr>
              <a:t>Plaintes</a:t>
            </a:r>
            <a:r>
              <a:rPr lang="en-US" sz="3200" dirty="0">
                <a:solidFill>
                  <a:schemeClr val="tx1"/>
                </a:solidFill>
              </a:rPr>
              <a:t> et </a:t>
            </a:r>
            <a:r>
              <a:rPr lang="en-US" sz="3200" dirty="0" err="1">
                <a:solidFill>
                  <a:schemeClr val="tx1"/>
                </a:solidFill>
              </a:rPr>
              <a:t>débriefings</a:t>
            </a:r>
            <a:endParaRPr lang="en-US" sz="3200" dirty="0">
              <a:solidFill>
                <a:schemeClr val="tx1"/>
              </a:solidFill>
            </a:endParaRPr>
          </a:p>
        </p:txBody>
      </p:sp>
      <p:sp>
        <p:nvSpPr>
          <p:cNvPr id="3" name="Content Placeholder 2"/>
          <p:cNvSpPr>
            <a:spLocks noGrp="1"/>
          </p:cNvSpPr>
          <p:nvPr>
            <p:ph idx="1"/>
          </p:nvPr>
        </p:nvSpPr>
        <p:spPr>
          <a:xfrm>
            <a:off x="385591" y="1487278"/>
            <a:ext cx="10532126" cy="1101686"/>
          </a:xfrm>
        </p:spPr>
        <p:txBody>
          <a:bodyPr>
            <a:noAutofit/>
          </a:bodyPr>
          <a:lstStyle/>
          <a:p>
            <a:r>
              <a:rPr lang="fr-FR" dirty="0"/>
              <a:t>Débriefings et plaintes sont différents;</a:t>
            </a:r>
          </a:p>
          <a:p>
            <a:r>
              <a:rPr lang="fr-FR" u="sng" dirty="0"/>
              <a:t>3 jours</a:t>
            </a:r>
            <a:r>
              <a:rPr lang="fr-FR" dirty="0"/>
              <a:t> pour une demande de débriefing; </a:t>
            </a:r>
          </a:p>
          <a:p>
            <a:r>
              <a:rPr lang="fr-FR" u="sng" dirty="0"/>
              <a:t>5 jours </a:t>
            </a:r>
            <a:r>
              <a:rPr lang="fr-FR" dirty="0"/>
              <a:t>pour répondre à un débriefing. </a:t>
            </a:r>
          </a:p>
        </p:txBody>
      </p:sp>
      <p:sp>
        <p:nvSpPr>
          <p:cNvPr id="4" name="Rectangle 3"/>
          <p:cNvSpPr/>
          <p:nvPr/>
        </p:nvSpPr>
        <p:spPr>
          <a:xfrm>
            <a:off x="2728579" y="3983003"/>
            <a:ext cx="417443" cy="357809"/>
          </a:xfrm>
          <a:prstGeom prst="rect">
            <a:avLst/>
          </a:prstGeom>
          <a:solidFill>
            <a:schemeClr val="accent2">
              <a:lumMod val="75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950" dirty="0">
                <a:solidFill>
                  <a:prstClr val="white"/>
                </a:solidFill>
                <a:latin typeface="Arial" panose="020B0604020202020204" pitchFamily="34" charset="0"/>
                <a:cs typeface="Arial" panose="020B0604020202020204" pitchFamily="34" charset="0"/>
              </a:rPr>
              <a:t>1</a:t>
            </a:r>
          </a:p>
        </p:txBody>
      </p:sp>
      <p:sp>
        <p:nvSpPr>
          <p:cNvPr id="5" name="Rectangle 4"/>
          <p:cNvSpPr/>
          <p:nvPr/>
        </p:nvSpPr>
        <p:spPr>
          <a:xfrm>
            <a:off x="6825370" y="3983003"/>
            <a:ext cx="417443" cy="357809"/>
          </a:xfrm>
          <a:prstGeom prst="rect">
            <a:avLst/>
          </a:prstGeom>
          <a:solidFill>
            <a:schemeClr val="accent2">
              <a:lumMod val="75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00" dirty="0">
                <a:solidFill>
                  <a:prstClr val="white"/>
                </a:solidFill>
                <a:latin typeface="Arial" panose="020B0604020202020204" pitchFamily="34" charset="0"/>
                <a:cs typeface="Arial" panose="020B0604020202020204" pitchFamily="34" charset="0"/>
              </a:rPr>
              <a:t>10</a:t>
            </a:r>
          </a:p>
        </p:txBody>
      </p:sp>
      <p:sp>
        <p:nvSpPr>
          <p:cNvPr id="6" name="Rectangle 5"/>
          <p:cNvSpPr/>
          <p:nvPr/>
        </p:nvSpPr>
        <p:spPr>
          <a:xfrm>
            <a:off x="3183778" y="3983003"/>
            <a:ext cx="417443" cy="357809"/>
          </a:xfrm>
          <a:prstGeom prst="rect">
            <a:avLst/>
          </a:prstGeom>
          <a:solidFill>
            <a:schemeClr val="accent2">
              <a:lumMod val="75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950" dirty="0">
                <a:solidFill>
                  <a:prstClr val="white"/>
                </a:solidFill>
                <a:latin typeface="Arial" panose="020B0604020202020204" pitchFamily="34" charset="0"/>
                <a:cs typeface="Arial" panose="020B0604020202020204" pitchFamily="34" charset="0"/>
              </a:rPr>
              <a:t>2</a:t>
            </a:r>
          </a:p>
        </p:txBody>
      </p:sp>
      <p:sp>
        <p:nvSpPr>
          <p:cNvPr id="7" name="Rectangle 6"/>
          <p:cNvSpPr/>
          <p:nvPr/>
        </p:nvSpPr>
        <p:spPr>
          <a:xfrm>
            <a:off x="3638977" y="3983003"/>
            <a:ext cx="417443" cy="357809"/>
          </a:xfrm>
          <a:prstGeom prst="rect">
            <a:avLst/>
          </a:prstGeom>
          <a:solidFill>
            <a:schemeClr val="accent2">
              <a:lumMod val="75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950" dirty="0">
                <a:solidFill>
                  <a:prstClr val="white"/>
                </a:solidFill>
                <a:latin typeface="Arial" panose="020B0604020202020204" pitchFamily="34" charset="0"/>
                <a:cs typeface="Arial" panose="020B0604020202020204" pitchFamily="34" charset="0"/>
              </a:rPr>
              <a:t>3</a:t>
            </a:r>
          </a:p>
        </p:txBody>
      </p:sp>
      <p:sp>
        <p:nvSpPr>
          <p:cNvPr id="8" name="Rectangle 7"/>
          <p:cNvSpPr/>
          <p:nvPr/>
        </p:nvSpPr>
        <p:spPr>
          <a:xfrm>
            <a:off x="4094176" y="3983003"/>
            <a:ext cx="417443" cy="357809"/>
          </a:xfrm>
          <a:prstGeom prst="rect">
            <a:avLst/>
          </a:prstGeom>
          <a:solidFill>
            <a:schemeClr val="accent2">
              <a:lumMod val="75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950" dirty="0">
                <a:solidFill>
                  <a:prstClr val="white"/>
                </a:solidFill>
                <a:latin typeface="Arial" panose="020B0604020202020204" pitchFamily="34" charset="0"/>
                <a:cs typeface="Arial" panose="020B0604020202020204" pitchFamily="34" charset="0"/>
              </a:rPr>
              <a:t>4</a:t>
            </a:r>
          </a:p>
        </p:txBody>
      </p:sp>
      <p:sp>
        <p:nvSpPr>
          <p:cNvPr id="9" name="Rectangle 8"/>
          <p:cNvSpPr/>
          <p:nvPr/>
        </p:nvSpPr>
        <p:spPr>
          <a:xfrm>
            <a:off x="4549375" y="3983003"/>
            <a:ext cx="417443" cy="357809"/>
          </a:xfrm>
          <a:prstGeom prst="rect">
            <a:avLst/>
          </a:prstGeom>
          <a:solidFill>
            <a:schemeClr val="accent2">
              <a:lumMod val="75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950" dirty="0">
                <a:solidFill>
                  <a:prstClr val="white"/>
                </a:solidFill>
                <a:latin typeface="Arial" panose="020B0604020202020204" pitchFamily="34" charset="0"/>
                <a:cs typeface="Arial" panose="020B0604020202020204" pitchFamily="34" charset="0"/>
              </a:rPr>
              <a:t>5</a:t>
            </a:r>
          </a:p>
        </p:txBody>
      </p:sp>
      <p:sp>
        <p:nvSpPr>
          <p:cNvPr id="10" name="Rectangle 9"/>
          <p:cNvSpPr/>
          <p:nvPr/>
        </p:nvSpPr>
        <p:spPr>
          <a:xfrm>
            <a:off x="5004574" y="3983003"/>
            <a:ext cx="417443" cy="357809"/>
          </a:xfrm>
          <a:prstGeom prst="rect">
            <a:avLst/>
          </a:prstGeom>
          <a:solidFill>
            <a:schemeClr val="accent2">
              <a:lumMod val="75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950" dirty="0">
                <a:solidFill>
                  <a:prstClr val="white"/>
                </a:solidFill>
                <a:latin typeface="Arial" panose="020B0604020202020204" pitchFamily="34" charset="0"/>
                <a:cs typeface="Arial" panose="020B0604020202020204" pitchFamily="34" charset="0"/>
              </a:rPr>
              <a:t>6</a:t>
            </a:r>
          </a:p>
        </p:txBody>
      </p:sp>
      <p:sp>
        <p:nvSpPr>
          <p:cNvPr id="11" name="Rectangle 10"/>
          <p:cNvSpPr/>
          <p:nvPr/>
        </p:nvSpPr>
        <p:spPr>
          <a:xfrm>
            <a:off x="5459773" y="3983003"/>
            <a:ext cx="417443" cy="357809"/>
          </a:xfrm>
          <a:prstGeom prst="rect">
            <a:avLst/>
          </a:prstGeom>
          <a:solidFill>
            <a:schemeClr val="accent2">
              <a:lumMod val="75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950" dirty="0">
                <a:solidFill>
                  <a:prstClr val="white"/>
                </a:solidFill>
                <a:latin typeface="Arial" panose="020B0604020202020204" pitchFamily="34" charset="0"/>
                <a:cs typeface="Arial" panose="020B0604020202020204" pitchFamily="34" charset="0"/>
              </a:rPr>
              <a:t>7</a:t>
            </a:r>
          </a:p>
        </p:txBody>
      </p:sp>
      <p:sp>
        <p:nvSpPr>
          <p:cNvPr id="12" name="Rectangle 11"/>
          <p:cNvSpPr/>
          <p:nvPr/>
        </p:nvSpPr>
        <p:spPr>
          <a:xfrm>
            <a:off x="5914972" y="3983003"/>
            <a:ext cx="417443" cy="357809"/>
          </a:xfrm>
          <a:prstGeom prst="rect">
            <a:avLst/>
          </a:prstGeom>
          <a:solidFill>
            <a:schemeClr val="accent2">
              <a:lumMod val="75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950" dirty="0">
                <a:solidFill>
                  <a:prstClr val="white"/>
                </a:solidFill>
                <a:latin typeface="Arial" panose="020B0604020202020204" pitchFamily="34" charset="0"/>
                <a:cs typeface="Arial" panose="020B0604020202020204" pitchFamily="34" charset="0"/>
              </a:rPr>
              <a:t>8</a:t>
            </a:r>
          </a:p>
        </p:txBody>
      </p:sp>
      <p:sp>
        <p:nvSpPr>
          <p:cNvPr id="13" name="Rectangle 12"/>
          <p:cNvSpPr/>
          <p:nvPr/>
        </p:nvSpPr>
        <p:spPr>
          <a:xfrm>
            <a:off x="6370171" y="3983003"/>
            <a:ext cx="417443" cy="357809"/>
          </a:xfrm>
          <a:prstGeom prst="rect">
            <a:avLst/>
          </a:prstGeom>
          <a:solidFill>
            <a:schemeClr val="accent2">
              <a:lumMod val="75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950" dirty="0">
                <a:solidFill>
                  <a:prstClr val="white"/>
                </a:solidFill>
                <a:latin typeface="Arial" panose="020B0604020202020204" pitchFamily="34" charset="0"/>
                <a:cs typeface="Arial" panose="020B0604020202020204" pitchFamily="34" charset="0"/>
              </a:rPr>
              <a:t>9</a:t>
            </a:r>
          </a:p>
        </p:txBody>
      </p:sp>
      <p:sp>
        <p:nvSpPr>
          <p:cNvPr id="14" name="Rectangle 13"/>
          <p:cNvSpPr/>
          <p:nvPr/>
        </p:nvSpPr>
        <p:spPr>
          <a:xfrm>
            <a:off x="2755136" y="3575027"/>
            <a:ext cx="4462302" cy="35780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350" dirty="0" err="1">
                <a:solidFill>
                  <a:schemeClr val="bg1"/>
                </a:solidFill>
                <a:sym typeface="Wingdings 3" panose="05040102010807070707" pitchFamily="18" charset="2"/>
              </a:rPr>
              <a:t>DELAI</a:t>
            </a:r>
            <a:r>
              <a:rPr lang="en-US" sz="1350" dirty="0">
                <a:solidFill>
                  <a:schemeClr val="bg1"/>
                </a:solidFill>
                <a:sym typeface="Wingdings 3" panose="05040102010807070707" pitchFamily="18" charset="2"/>
              </a:rPr>
              <a:t> </a:t>
            </a:r>
            <a:r>
              <a:rPr lang="en-US" sz="1350" dirty="0" err="1">
                <a:solidFill>
                  <a:schemeClr val="bg1"/>
                </a:solidFill>
                <a:sym typeface="Wingdings 3" panose="05040102010807070707" pitchFamily="18" charset="2"/>
              </a:rPr>
              <a:t>D’ATTENTE</a:t>
            </a:r>
            <a:r>
              <a:rPr lang="en-US" sz="1350" dirty="0">
                <a:solidFill>
                  <a:schemeClr val="bg1"/>
                </a:solidFill>
                <a:sym typeface="Wingdings 3" panose="05040102010807070707" pitchFamily="18" charset="2"/>
              </a:rPr>
              <a:t> </a:t>
            </a:r>
            <a:r>
              <a:rPr lang="en-US" sz="1350" dirty="0">
                <a:solidFill>
                  <a:schemeClr val="bg1"/>
                </a:solidFill>
              </a:rPr>
              <a:t>(minimum 10 </a:t>
            </a:r>
            <a:r>
              <a:rPr lang="en-US" sz="1350" dirty="0" err="1">
                <a:solidFill>
                  <a:schemeClr val="bg1"/>
                </a:solidFill>
              </a:rPr>
              <a:t>Jours</a:t>
            </a:r>
            <a:r>
              <a:rPr lang="en-US" sz="1350" dirty="0">
                <a:solidFill>
                  <a:schemeClr val="bg1"/>
                </a:solidFill>
              </a:rPr>
              <a:t> </a:t>
            </a:r>
            <a:r>
              <a:rPr lang="en-US" sz="1350" dirty="0" err="1">
                <a:solidFill>
                  <a:schemeClr val="bg1"/>
                </a:solidFill>
              </a:rPr>
              <a:t>Ouvrables</a:t>
            </a:r>
            <a:r>
              <a:rPr lang="en-US" sz="1350" dirty="0">
                <a:solidFill>
                  <a:schemeClr val="bg1"/>
                </a:solidFill>
              </a:rPr>
              <a:t>)</a:t>
            </a:r>
          </a:p>
        </p:txBody>
      </p:sp>
      <p:sp>
        <p:nvSpPr>
          <p:cNvPr id="15" name="TextBox 14"/>
          <p:cNvSpPr txBox="1"/>
          <p:nvPr/>
        </p:nvSpPr>
        <p:spPr>
          <a:xfrm>
            <a:off x="2767148" y="4567319"/>
            <a:ext cx="1274487" cy="577081"/>
          </a:xfrm>
          <a:prstGeom prst="rect">
            <a:avLst/>
          </a:prstGeom>
          <a:noFill/>
          <a:ln w="25400">
            <a:solidFill>
              <a:srgbClr val="5B9BD5"/>
            </a:solidFill>
          </a:ln>
        </p:spPr>
        <p:txBody>
          <a:bodyPr wrap="square" rtlCol="0">
            <a:spAutoFit/>
          </a:bodyPr>
          <a:lstStyle/>
          <a:p>
            <a:pPr algn="ctr" defTabSz="685800"/>
            <a:r>
              <a:rPr lang="en-US" sz="1050" dirty="0" err="1"/>
              <a:t>Période</a:t>
            </a:r>
            <a:r>
              <a:rPr lang="en-US" sz="1050" dirty="0"/>
              <a:t> pour demander un </a:t>
            </a:r>
            <a:r>
              <a:rPr lang="en-US" sz="1050" dirty="0" err="1"/>
              <a:t>débriefing</a:t>
            </a:r>
            <a:endParaRPr lang="en-US" sz="1050" dirty="0"/>
          </a:p>
        </p:txBody>
      </p:sp>
      <p:sp>
        <p:nvSpPr>
          <p:cNvPr id="16" name="TextBox 15"/>
          <p:cNvSpPr txBox="1"/>
          <p:nvPr/>
        </p:nvSpPr>
        <p:spPr>
          <a:xfrm>
            <a:off x="3186144" y="5255279"/>
            <a:ext cx="3163855" cy="253916"/>
          </a:xfrm>
          <a:prstGeom prst="rect">
            <a:avLst/>
          </a:prstGeom>
          <a:noFill/>
          <a:ln w="25400">
            <a:solidFill>
              <a:srgbClr val="5B9BD5"/>
            </a:solidFill>
          </a:ln>
        </p:spPr>
        <p:txBody>
          <a:bodyPr wrap="square" rtlCol="0">
            <a:spAutoFit/>
          </a:bodyPr>
          <a:lstStyle>
            <a:defPPr>
              <a:defRPr lang="en-US"/>
            </a:defPPr>
            <a:lvl1pPr algn="ctr">
              <a:defRPr sz="1400">
                <a:solidFill>
                  <a:schemeClr val="accent1">
                    <a:lumMod val="50000"/>
                  </a:schemeClr>
                </a:solidFill>
              </a:defRPr>
            </a:lvl1pPr>
          </a:lstStyle>
          <a:p>
            <a:pPr defTabSz="685800"/>
            <a:r>
              <a:rPr lang="en-US" sz="1050" dirty="0" err="1">
                <a:solidFill>
                  <a:schemeClr val="tx1"/>
                </a:solidFill>
              </a:rPr>
              <a:t>Période</a:t>
            </a:r>
            <a:r>
              <a:rPr lang="en-US" sz="1050" dirty="0">
                <a:solidFill>
                  <a:schemeClr val="tx1"/>
                </a:solidFill>
              </a:rPr>
              <a:t> de </a:t>
            </a:r>
            <a:r>
              <a:rPr lang="en-US" sz="1050" dirty="0" err="1">
                <a:solidFill>
                  <a:schemeClr val="tx1"/>
                </a:solidFill>
              </a:rPr>
              <a:t>réponse</a:t>
            </a:r>
            <a:r>
              <a:rPr lang="en-US" sz="1050" dirty="0">
                <a:solidFill>
                  <a:schemeClr val="tx1"/>
                </a:solidFill>
              </a:rPr>
              <a:t> de </a:t>
            </a:r>
            <a:r>
              <a:rPr lang="en-US" sz="1050" dirty="0" err="1">
                <a:solidFill>
                  <a:schemeClr val="tx1"/>
                </a:solidFill>
              </a:rPr>
              <a:t>l’Emprunteur</a:t>
            </a:r>
            <a:endParaRPr lang="en-US" sz="1050" dirty="0">
              <a:solidFill>
                <a:schemeClr val="tx1"/>
              </a:solidFill>
            </a:endParaRPr>
          </a:p>
        </p:txBody>
      </p:sp>
      <p:sp>
        <p:nvSpPr>
          <p:cNvPr id="17" name="Rectangle 16"/>
          <p:cNvSpPr/>
          <p:nvPr/>
        </p:nvSpPr>
        <p:spPr>
          <a:xfrm>
            <a:off x="7280569" y="3983003"/>
            <a:ext cx="417443" cy="357809"/>
          </a:xfrm>
          <a:prstGeom prst="rect">
            <a:avLst/>
          </a:prstGeom>
          <a:solidFill>
            <a:srgbClr val="A54C0F"/>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00" dirty="0">
                <a:solidFill>
                  <a:prstClr val="white"/>
                </a:solidFill>
                <a:latin typeface="Arial" panose="020B0604020202020204" pitchFamily="34" charset="0"/>
                <a:cs typeface="Arial" panose="020B0604020202020204" pitchFamily="34" charset="0"/>
              </a:rPr>
              <a:t>11</a:t>
            </a:r>
          </a:p>
        </p:txBody>
      </p:sp>
      <p:sp>
        <p:nvSpPr>
          <p:cNvPr id="18" name="Rectangle 17"/>
          <p:cNvSpPr/>
          <p:nvPr/>
        </p:nvSpPr>
        <p:spPr>
          <a:xfrm>
            <a:off x="8190967" y="3983003"/>
            <a:ext cx="417443" cy="357809"/>
          </a:xfrm>
          <a:prstGeom prst="rect">
            <a:avLst/>
          </a:prstGeom>
          <a:solidFill>
            <a:srgbClr val="A54C0F"/>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00" dirty="0">
                <a:solidFill>
                  <a:prstClr val="white"/>
                </a:solidFill>
                <a:latin typeface="Arial" panose="020B0604020202020204" pitchFamily="34" charset="0"/>
                <a:cs typeface="Arial" panose="020B0604020202020204" pitchFamily="34" charset="0"/>
              </a:rPr>
              <a:t>13</a:t>
            </a:r>
          </a:p>
        </p:txBody>
      </p:sp>
      <p:sp>
        <p:nvSpPr>
          <p:cNvPr id="19" name="Rectangle 18"/>
          <p:cNvSpPr/>
          <p:nvPr/>
        </p:nvSpPr>
        <p:spPr>
          <a:xfrm>
            <a:off x="8646166" y="3983003"/>
            <a:ext cx="417443" cy="357809"/>
          </a:xfrm>
          <a:prstGeom prst="rect">
            <a:avLst/>
          </a:prstGeom>
          <a:solidFill>
            <a:srgbClr val="A54C0F"/>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00" dirty="0">
                <a:solidFill>
                  <a:prstClr val="white"/>
                </a:solidFill>
                <a:latin typeface="Arial" panose="020B0604020202020204" pitchFamily="34" charset="0"/>
                <a:cs typeface="Arial" panose="020B0604020202020204" pitchFamily="34" charset="0"/>
              </a:rPr>
              <a:t>14</a:t>
            </a:r>
          </a:p>
        </p:txBody>
      </p:sp>
      <p:sp>
        <p:nvSpPr>
          <p:cNvPr id="20" name="Rectangle 19"/>
          <p:cNvSpPr/>
          <p:nvPr/>
        </p:nvSpPr>
        <p:spPr>
          <a:xfrm>
            <a:off x="9101369" y="3983003"/>
            <a:ext cx="417443" cy="357809"/>
          </a:xfrm>
          <a:prstGeom prst="rect">
            <a:avLst/>
          </a:prstGeom>
          <a:solidFill>
            <a:srgbClr val="A54C0F"/>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00" dirty="0">
                <a:solidFill>
                  <a:prstClr val="white"/>
                </a:solidFill>
                <a:latin typeface="Arial" panose="020B0604020202020204" pitchFamily="34" charset="0"/>
                <a:cs typeface="Arial" panose="020B0604020202020204" pitchFamily="34" charset="0"/>
              </a:rPr>
              <a:t>15</a:t>
            </a:r>
          </a:p>
        </p:txBody>
      </p:sp>
      <p:cxnSp>
        <p:nvCxnSpPr>
          <p:cNvPr id="21" name="Straight Connector 20"/>
          <p:cNvCxnSpPr/>
          <p:nvPr/>
        </p:nvCxnSpPr>
        <p:spPr>
          <a:xfrm flipH="1" flipV="1">
            <a:off x="3597733" y="4328535"/>
            <a:ext cx="3485" cy="243719"/>
          </a:xfrm>
          <a:prstGeom prst="line">
            <a:avLst/>
          </a:prstGeom>
          <a:ln w="41275">
            <a:solidFill>
              <a:srgbClr val="5B9BD5"/>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4022677" y="4328534"/>
            <a:ext cx="4814" cy="256370"/>
          </a:xfrm>
          <a:prstGeom prst="line">
            <a:avLst/>
          </a:prstGeom>
          <a:ln w="41275">
            <a:solidFill>
              <a:srgbClr val="5B9BD5"/>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972281" y="4307532"/>
            <a:ext cx="382435" cy="300082"/>
          </a:xfrm>
          <a:prstGeom prst="rect">
            <a:avLst/>
          </a:prstGeom>
          <a:noFill/>
        </p:spPr>
        <p:txBody>
          <a:bodyPr wrap="square" rtlCol="0">
            <a:spAutoFit/>
          </a:bodyPr>
          <a:lstStyle/>
          <a:p>
            <a:pPr defTabSz="685800"/>
            <a:r>
              <a:rPr lang="en-US" sz="1350" b="1" dirty="0" err="1">
                <a:solidFill>
                  <a:srgbClr val="FF0000"/>
                </a:solidFill>
              </a:rPr>
              <a:t>ou</a:t>
            </a:r>
            <a:endParaRPr lang="en-US" sz="1350" b="1" dirty="0">
              <a:solidFill>
                <a:srgbClr val="FF0000"/>
              </a:solidFill>
            </a:endParaRPr>
          </a:p>
        </p:txBody>
      </p:sp>
      <p:sp>
        <p:nvSpPr>
          <p:cNvPr id="24" name="TextBox 23"/>
          <p:cNvSpPr txBox="1"/>
          <p:nvPr/>
        </p:nvSpPr>
        <p:spPr>
          <a:xfrm>
            <a:off x="6395389" y="5565770"/>
            <a:ext cx="1756663" cy="253916"/>
          </a:xfrm>
          <a:prstGeom prst="rect">
            <a:avLst/>
          </a:prstGeom>
          <a:solidFill>
            <a:srgbClr val="5B9BD5"/>
          </a:solidFill>
          <a:ln w="25400">
            <a:noFill/>
          </a:ln>
        </p:spPr>
        <p:txBody>
          <a:bodyPr wrap="square" rtlCol="0">
            <a:spAutoFit/>
          </a:bodyPr>
          <a:lstStyle>
            <a:defPPr>
              <a:defRPr lang="en-US"/>
            </a:defPPr>
            <a:lvl1pPr algn="ctr">
              <a:defRPr sz="1400">
                <a:solidFill>
                  <a:schemeClr val="accent1">
                    <a:lumMod val="50000"/>
                  </a:schemeClr>
                </a:solidFill>
              </a:defRPr>
            </a:lvl1pPr>
          </a:lstStyle>
          <a:p>
            <a:pPr defTabSz="685800"/>
            <a:r>
              <a:rPr lang="en-US" sz="1000" dirty="0" err="1">
                <a:solidFill>
                  <a:schemeClr val="tx1"/>
                </a:solidFill>
              </a:rPr>
              <a:t>Débriefing</a:t>
            </a:r>
            <a:r>
              <a:rPr lang="en-US" sz="1000" dirty="0">
                <a:solidFill>
                  <a:schemeClr val="tx1"/>
                </a:solidFill>
              </a:rPr>
              <a:t> </a:t>
            </a:r>
            <a:r>
              <a:rPr lang="en-US" sz="1000" dirty="0" err="1">
                <a:solidFill>
                  <a:schemeClr val="tx1"/>
                </a:solidFill>
              </a:rPr>
              <a:t>tardif</a:t>
            </a:r>
            <a:r>
              <a:rPr lang="en-US" sz="1000" dirty="0">
                <a:solidFill>
                  <a:schemeClr val="tx1"/>
                </a:solidFill>
              </a:rPr>
              <a:t> (4 </a:t>
            </a:r>
            <a:r>
              <a:rPr lang="en-US" sz="1000" dirty="0" err="1">
                <a:solidFill>
                  <a:schemeClr val="tx1"/>
                </a:solidFill>
              </a:rPr>
              <a:t>jours</a:t>
            </a:r>
            <a:r>
              <a:rPr lang="en-US" sz="1000" dirty="0">
                <a:solidFill>
                  <a:schemeClr val="tx1"/>
                </a:solidFill>
              </a:rPr>
              <a:t>)</a:t>
            </a:r>
          </a:p>
        </p:txBody>
      </p:sp>
      <p:cxnSp>
        <p:nvCxnSpPr>
          <p:cNvPr id="25" name="Straight Connector 24"/>
          <p:cNvCxnSpPr/>
          <p:nvPr/>
        </p:nvCxnSpPr>
        <p:spPr>
          <a:xfrm flipV="1">
            <a:off x="8152052" y="4309429"/>
            <a:ext cx="893" cy="1371758"/>
          </a:xfrm>
          <a:prstGeom prst="line">
            <a:avLst/>
          </a:prstGeom>
          <a:ln w="41275">
            <a:solidFill>
              <a:srgbClr val="5B9BD5"/>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666435" y="5597151"/>
            <a:ext cx="1764163" cy="253916"/>
          </a:xfrm>
          <a:prstGeom prst="rect">
            <a:avLst/>
          </a:prstGeom>
          <a:solidFill>
            <a:srgbClr val="5B9BD5"/>
          </a:solidFill>
          <a:ln w="25400">
            <a:noFill/>
          </a:ln>
        </p:spPr>
        <p:txBody>
          <a:bodyPr wrap="square" rtlCol="0">
            <a:spAutoFit/>
          </a:bodyPr>
          <a:lstStyle>
            <a:defPPr>
              <a:defRPr lang="en-US"/>
            </a:defPPr>
            <a:lvl1pPr algn="ctr">
              <a:defRPr sz="1400">
                <a:solidFill>
                  <a:schemeClr val="accent1">
                    <a:lumMod val="50000"/>
                  </a:schemeClr>
                </a:solidFill>
              </a:defRPr>
            </a:lvl1pPr>
          </a:lstStyle>
          <a:p>
            <a:pPr defTabSz="685800"/>
            <a:r>
              <a:rPr lang="en-US" sz="1000" dirty="0" err="1">
                <a:solidFill>
                  <a:schemeClr val="tx1"/>
                </a:solidFill>
              </a:rPr>
              <a:t>Délai</a:t>
            </a:r>
            <a:r>
              <a:rPr lang="en-US" sz="1000" dirty="0">
                <a:solidFill>
                  <a:schemeClr val="tx1"/>
                </a:solidFill>
              </a:rPr>
              <a:t> </a:t>
            </a:r>
            <a:r>
              <a:rPr lang="en-US" sz="1000" dirty="0" err="1">
                <a:solidFill>
                  <a:schemeClr val="tx1"/>
                </a:solidFill>
              </a:rPr>
              <a:t>d’attente</a:t>
            </a:r>
            <a:r>
              <a:rPr lang="en-US" sz="1000" dirty="0">
                <a:solidFill>
                  <a:schemeClr val="tx1"/>
                </a:solidFill>
              </a:rPr>
              <a:t> </a:t>
            </a:r>
            <a:r>
              <a:rPr lang="en-US" sz="1000" dirty="0" err="1">
                <a:solidFill>
                  <a:schemeClr val="tx1"/>
                </a:solidFill>
              </a:rPr>
              <a:t>étendue</a:t>
            </a:r>
            <a:r>
              <a:rPr lang="en-US" sz="1000" dirty="0">
                <a:solidFill>
                  <a:schemeClr val="tx1"/>
                </a:solidFill>
              </a:rPr>
              <a:t> </a:t>
            </a:r>
          </a:p>
        </p:txBody>
      </p:sp>
      <p:sp>
        <p:nvSpPr>
          <p:cNvPr id="27" name="Rectangle 26"/>
          <p:cNvSpPr/>
          <p:nvPr/>
        </p:nvSpPr>
        <p:spPr>
          <a:xfrm>
            <a:off x="10013155" y="3983003"/>
            <a:ext cx="417443" cy="357809"/>
          </a:xfrm>
          <a:prstGeom prst="rect">
            <a:avLst/>
          </a:prstGeom>
          <a:solidFill>
            <a:srgbClr val="A54C0F"/>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00" dirty="0">
                <a:solidFill>
                  <a:prstClr val="white"/>
                </a:solidFill>
                <a:latin typeface="Arial" panose="020B0604020202020204" pitchFamily="34" charset="0"/>
                <a:cs typeface="Arial" panose="020B0604020202020204" pitchFamily="34" charset="0"/>
              </a:rPr>
              <a:t>17</a:t>
            </a:r>
          </a:p>
        </p:txBody>
      </p:sp>
      <p:sp>
        <p:nvSpPr>
          <p:cNvPr id="28" name="Rectangle 27"/>
          <p:cNvSpPr/>
          <p:nvPr/>
        </p:nvSpPr>
        <p:spPr>
          <a:xfrm>
            <a:off x="9557956" y="3983003"/>
            <a:ext cx="417443" cy="357809"/>
          </a:xfrm>
          <a:prstGeom prst="rect">
            <a:avLst/>
          </a:prstGeom>
          <a:solidFill>
            <a:srgbClr val="A54C0F"/>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00" dirty="0">
                <a:solidFill>
                  <a:prstClr val="white"/>
                </a:solidFill>
                <a:latin typeface="Arial" panose="020B0604020202020204" pitchFamily="34" charset="0"/>
                <a:cs typeface="Arial" panose="020B0604020202020204" pitchFamily="34" charset="0"/>
              </a:rPr>
              <a:t>16</a:t>
            </a:r>
          </a:p>
        </p:txBody>
      </p:sp>
      <p:cxnSp>
        <p:nvCxnSpPr>
          <p:cNvPr id="29" name="Straight Connector 28"/>
          <p:cNvCxnSpPr/>
          <p:nvPr/>
        </p:nvCxnSpPr>
        <p:spPr>
          <a:xfrm flipV="1">
            <a:off x="10418897" y="4340812"/>
            <a:ext cx="893" cy="1371758"/>
          </a:xfrm>
          <a:prstGeom prst="line">
            <a:avLst/>
          </a:prstGeom>
          <a:ln w="41275">
            <a:solidFill>
              <a:srgbClr val="5B9BD5"/>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7217438" y="3575026"/>
            <a:ext cx="3213160" cy="357809"/>
          </a:xfrm>
          <a:prstGeom prst="rect">
            <a:avLst/>
          </a:prstGeom>
          <a:solidFill>
            <a:schemeClr val="tx1">
              <a:lumMod val="65000"/>
              <a:lumOff val="3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350" dirty="0">
                <a:solidFill>
                  <a:srgbClr val="000000"/>
                </a:solidFill>
                <a:sym typeface="Wingdings 3" panose="05040102010807070707" pitchFamily="18" charset="2"/>
              </a:rPr>
              <a:t> </a:t>
            </a:r>
            <a:r>
              <a:rPr lang="en-US" sz="1350" b="1" dirty="0" err="1">
                <a:solidFill>
                  <a:srgbClr val="000000"/>
                </a:solidFill>
                <a:sym typeface="Wingdings 3" panose="05040102010807070707" pitchFamily="18" charset="2"/>
              </a:rPr>
              <a:t>DELAI</a:t>
            </a:r>
            <a:r>
              <a:rPr lang="en-US" sz="1350" b="1" dirty="0">
                <a:solidFill>
                  <a:srgbClr val="000000"/>
                </a:solidFill>
                <a:sym typeface="Wingdings 3" panose="05040102010807070707" pitchFamily="18" charset="2"/>
              </a:rPr>
              <a:t> </a:t>
            </a:r>
            <a:r>
              <a:rPr lang="en-US" sz="1350" b="1" dirty="0" err="1">
                <a:solidFill>
                  <a:srgbClr val="000000"/>
                </a:solidFill>
                <a:sym typeface="Wingdings 3" panose="05040102010807070707" pitchFamily="18" charset="2"/>
              </a:rPr>
              <a:t>D’ATTENTE</a:t>
            </a:r>
            <a:r>
              <a:rPr lang="en-US" sz="1350" b="1" dirty="0">
                <a:solidFill>
                  <a:srgbClr val="000000"/>
                </a:solidFill>
                <a:sym typeface="Wingdings 3" panose="05040102010807070707" pitchFamily="18" charset="2"/>
              </a:rPr>
              <a:t> </a:t>
            </a:r>
            <a:r>
              <a:rPr lang="en-US" sz="1350" b="1" dirty="0" err="1">
                <a:solidFill>
                  <a:srgbClr val="000000"/>
                </a:solidFill>
                <a:sym typeface="Wingdings 3" panose="05040102010807070707" pitchFamily="18" charset="2"/>
              </a:rPr>
              <a:t>ETENDUE</a:t>
            </a:r>
            <a:endParaRPr lang="en-US" sz="1350" b="1" dirty="0">
              <a:solidFill>
                <a:srgbClr val="000000"/>
              </a:solidFill>
            </a:endParaRPr>
          </a:p>
        </p:txBody>
      </p:sp>
      <p:sp>
        <p:nvSpPr>
          <p:cNvPr id="90" name="Rectangle 89"/>
          <p:cNvSpPr/>
          <p:nvPr/>
        </p:nvSpPr>
        <p:spPr>
          <a:xfrm>
            <a:off x="7735768" y="3983003"/>
            <a:ext cx="417443" cy="357809"/>
          </a:xfrm>
          <a:prstGeom prst="rect">
            <a:avLst/>
          </a:prstGeom>
          <a:solidFill>
            <a:srgbClr val="A54C0F"/>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00" dirty="0">
                <a:solidFill>
                  <a:prstClr val="white"/>
                </a:solidFill>
                <a:latin typeface="Arial" panose="020B0604020202020204" pitchFamily="34" charset="0"/>
                <a:cs typeface="Arial" panose="020B0604020202020204" pitchFamily="34" charset="0"/>
              </a:rPr>
              <a:t>12</a:t>
            </a:r>
          </a:p>
        </p:txBody>
      </p:sp>
      <p:cxnSp>
        <p:nvCxnSpPr>
          <p:cNvPr id="91" name="Straight Connector 90"/>
          <p:cNvCxnSpPr/>
          <p:nvPr/>
        </p:nvCxnSpPr>
        <p:spPr>
          <a:xfrm flipV="1">
            <a:off x="5908635" y="4307533"/>
            <a:ext cx="1194" cy="914092"/>
          </a:xfrm>
          <a:prstGeom prst="line">
            <a:avLst/>
          </a:prstGeom>
          <a:ln w="41275">
            <a:solidFill>
              <a:srgbClr val="5B9BD5"/>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flipH="1" flipV="1">
            <a:off x="6348379" y="4307532"/>
            <a:ext cx="6337" cy="913718"/>
          </a:xfrm>
          <a:prstGeom prst="line">
            <a:avLst/>
          </a:prstGeom>
          <a:ln w="41275">
            <a:solidFill>
              <a:srgbClr val="5B9BD5"/>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29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pPr algn="ctr"/>
            <a:r>
              <a:rPr lang="en-US" sz="3200" dirty="0">
                <a:solidFill>
                  <a:schemeClr val="tx1"/>
                </a:solidFill>
              </a:rPr>
              <a:t>9. Non-respect des </a:t>
            </a:r>
            <a:r>
              <a:rPr lang="en-US" sz="3200" dirty="0" err="1">
                <a:solidFill>
                  <a:schemeClr val="tx1"/>
                </a:solidFill>
              </a:rPr>
              <a:t>procédures</a:t>
            </a:r>
            <a:endParaRPr lang="en-US" sz="3200" dirty="0">
              <a:solidFill>
                <a:schemeClr val="tx1"/>
              </a:solidFill>
            </a:endParaRPr>
          </a:p>
        </p:txBody>
      </p:sp>
      <p:sp>
        <p:nvSpPr>
          <p:cNvPr id="3" name="Content Placeholder 2"/>
          <p:cNvSpPr>
            <a:spLocks noGrp="1"/>
          </p:cNvSpPr>
          <p:nvPr>
            <p:ph idx="1"/>
          </p:nvPr>
        </p:nvSpPr>
        <p:spPr>
          <a:xfrm>
            <a:off x="385591" y="1487278"/>
            <a:ext cx="10532126" cy="5122842"/>
          </a:xfrm>
        </p:spPr>
        <p:txBody>
          <a:bodyPr>
            <a:normAutofit fontScale="55000" lnSpcReduction="20000"/>
          </a:bodyPr>
          <a:lstStyle/>
          <a:p>
            <a:pPr marL="0" indent="0">
              <a:lnSpc>
                <a:spcPct val="120000"/>
              </a:lnSpc>
              <a:buNone/>
            </a:pPr>
            <a:r>
              <a:rPr lang="fr-FR" sz="4200" dirty="0"/>
              <a:t>La Banque peut prendre plusieurs actions en réponse à une action de non-respect de la réglementation par les Emprunteurs: </a:t>
            </a:r>
          </a:p>
          <a:p>
            <a:pPr marL="1200150" lvl="1" indent="-742950">
              <a:lnSpc>
                <a:spcPct val="120000"/>
              </a:lnSpc>
              <a:buFont typeface="+mj-lt"/>
              <a:buAutoNum type="arabicPeriod"/>
            </a:pPr>
            <a:r>
              <a:rPr lang="fr-FR" sz="3800" dirty="0"/>
              <a:t>Déclaration de procédure viciée avec annulation des fonds n’est </a:t>
            </a:r>
            <a:r>
              <a:rPr lang="fr-FR" sz="3800" u="sng" dirty="0"/>
              <a:t>plus</a:t>
            </a:r>
            <a:r>
              <a:rPr lang="fr-FR" sz="3800" dirty="0"/>
              <a:t> désormais </a:t>
            </a:r>
            <a:r>
              <a:rPr lang="fr-FR" sz="3800" u="sng" dirty="0"/>
              <a:t>la seule option</a:t>
            </a:r>
            <a:r>
              <a:rPr lang="fr-FR" sz="3800" dirty="0"/>
              <a:t> (cas les plus graves);</a:t>
            </a:r>
          </a:p>
          <a:p>
            <a:pPr marL="1200150" lvl="1" indent="-742950">
              <a:lnSpc>
                <a:spcPct val="170000"/>
              </a:lnSpc>
              <a:buFont typeface="+mj-lt"/>
              <a:buAutoNum type="arabicPeriod"/>
            </a:pPr>
            <a:r>
              <a:rPr lang="fr-FR" sz="3800" dirty="0"/>
              <a:t>Autres actions possibles:</a:t>
            </a:r>
          </a:p>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Lettre de réprimandes;</a:t>
            </a:r>
          </a:p>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Accord pour la mise en place d’actions correctives;</a:t>
            </a:r>
          </a:p>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Revue à la hausse de la fréquence et des seuils de revue préalable;</a:t>
            </a:r>
          </a:p>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Aggravation du risque associé au projet;</a:t>
            </a:r>
          </a:p>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Révision des méthodes de passation telles qu’approuvées dans le PPM;</a:t>
            </a:r>
          </a:p>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Déclaration de procédure viciée sans annulation des fonds.</a:t>
            </a:r>
          </a:p>
          <a:p>
            <a:pPr marL="1173163" lvl="3" indent="-457200" eaLnBrk="0" fontAlgn="base" hangingPunct="0">
              <a:lnSpc>
                <a:spcPct val="100000"/>
              </a:lnSpc>
              <a:spcBef>
                <a:spcPct val="20000"/>
              </a:spcBef>
              <a:spcAft>
                <a:spcPct val="0"/>
              </a:spcAft>
            </a:pPr>
            <a:endParaRPr lang="en-US" sz="4500" b="1" dirty="0">
              <a:solidFill>
                <a:srgbClr val="002345">
                  <a:lumMod val="90000"/>
                  <a:lumOff val="10000"/>
                </a:srgbClr>
              </a:solidFill>
              <a:latin typeface="Garamond" panose="02020404030301010803" pitchFamily="18" charset="0"/>
            </a:endParaRPr>
          </a:p>
          <a:p>
            <a:pPr marL="715963" lvl="3" indent="0" eaLnBrk="0" fontAlgn="base" hangingPunct="0">
              <a:lnSpc>
                <a:spcPct val="100000"/>
              </a:lnSpc>
              <a:spcBef>
                <a:spcPct val="20000"/>
              </a:spcBef>
              <a:spcAft>
                <a:spcPct val="0"/>
              </a:spcAft>
              <a:buNone/>
            </a:pPr>
            <a:endParaRPr lang="en-US" sz="4500" dirty="0"/>
          </a:p>
        </p:txBody>
      </p:sp>
    </p:spTree>
    <p:extLst>
      <p:ext uri="{BB962C8B-B14F-4D97-AF65-F5344CB8AC3E}">
        <p14:creationId xmlns:p14="http://schemas.microsoft.com/office/powerpoint/2010/main" val="2736853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8701" y="262891"/>
            <a:ext cx="7173190" cy="1004888"/>
          </a:xfrm>
        </p:spPr>
        <p:txBody>
          <a:bodyPr>
            <a:noAutofit/>
          </a:bodyPr>
          <a:lstStyle/>
          <a:p>
            <a:pPr algn="r"/>
            <a:r>
              <a:rPr lang="en-US" sz="3600" dirty="0">
                <a:solidFill>
                  <a:schemeClr val="tx1"/>
                </a:solidFill>
              </a:rPr>
              <a:t> Aspects divers</a:t>
            </a:r>
          </a:p>
        </p:txBody>
      </p:sp>
      <p:sp>
        <p:nvSpPr>
          <p:cNvPr id="3" name="Content Placeholder 2"/>
          <p:cNvSpPr>
            <a:spLocks noGrp="1"/>
          </p:cNvSpPr>
          <p:nvPr>
            <p:ph idx="1"/>
          </p:nvPr>
        </p:nvSpPr>
        <p:spPr>
          <a:xfrm>
            <a:off x="385590" y="1267779"/>
            <a:ext cx="10987259" cy="5342341"/>
          </a:xfrm>
        </p:spPr>
        <p:txBody>
          <a:bodyPr>
            <a:normAutofit fontScale="55000" lnSpcReduction="20000"/>
          </a:bodyPr>
          <a:lstStyle/>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Possibilité de rejeter les Offres Anormalement Basses (sous strictes conditions);</a:t>
            </a:r>
          </a:p>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Plus de flexibilité dans la sélection de fonctionnaires, d’agents publics et d’établissements publics;</a:t>
            </a:r>
          </a:p>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Prise en compte de propositions spontanées pour les </a:t>
            </a:r>
            <a:r>
              <a:rPr lang="fr-FR" sz="4500" b="1" dirty="0" err="1">
                <a:solidFill>
                  <a:srgbClr val="000000"/>
                </a:solidFill>
                <a:latin typeface="Garamond" panose="02020404030301010803" pitchFamily="18" charset="0"/>
              </a:rPr>
              <a:t>PPPs</a:t>
            </a:r>
            <a:r>
              <a:rPr lang="fr-FR" sz="4500" b="1" dirty="0">
                <a:solidFill>
                  <a:srgbClr val="000000"/>
                </a:solidFill>
                <a:latin typeface="Garamond" panose="02020404030301010803" pitchFamily="18" charset="0"/>
              </a:rPr>
              <a:t>;</a:t>
            </a:r>
          </a:p>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Reconnaissance des sanctions nationales pour fraude et corruption sous conditions:</a:t>
            </a:r>
          </a:p>
          <a:p>
            <a:pPr marL="1858963" lvl="4" indent="-685800" eaLnBrk="0" fontAlgn="base" hangingPunct="0">
              <a:lnSpc>
                <a:spcPct val="100000"/>
              </a:lnSpc>
              <a:spcBef>
                <a:spcPct val="20000"/>
              </a:spcBef>
              <a:spcAft>
                <a:spcPct val="0"/>
              </a:spcAft>
              <a:buFont typeface="Wingdings" panose="05000000000000000000" pitchFamily="2" charset="2"/>
              <a:buChar char="ü"/>
            </a:pPr>
            <a:r>
              <a:rPr lang="fr-FR" sz="4500" b="1" dirty="0">
                <a:solidFill>
                  <a:srgbClr val="000000"/>
                </a:solidFill>
                <a:latin typeface="Garamond" panose="02020404030301010803" pitchFamily="18" charset="0"/>
              </a:rPr>
              <a:t>Causes similaires à celles de la Banque;</a:t>
            </a:r>
          </a:p>
          <a:p>
            <a:pPr marL="1858963" lvl="4" indent="-685800" eaLnBrk="0" fontAlgn="base" hangingPunct="0">
              <a:lnSpc>
                <a:spcPct val="100000"/>
              </a:lnSpc>
              <a:spcBef>
                <a:spcPct val="20000"/>
              </a:spcBef>
              <a:spcAft>
                <a:spcPct val="0"/>
              </a:spcAft>
              <a:buFont typeface="Wingdings" panose="05000000000000000000" pitchFamily="2" charset="2"/>
              <a:buChar char="ü"/>
            </a:pPr>
            <a:r>
              <a:rPr lang="fr-FR" sz="4500" b="1" dirty="0">
                <a:solidFill>
                  <a:srgbClr val="000000"/>
                </a:solidFill>
                <a:latin typeface="Garamond" panose="02020404030301010803" pitchFamily="18" charset="0"/>
              </a:rPr>
              <a:t>Décisions définitives prises par une entité administrative ou judiciaire;</a:t>
            </a:r>
          </a:p>
          <a:p>
            <a:pPr marL="1858963" lvl="4" indent="-685800" eaLnBrk="0" fontAlgn="base" hangingPunct="0">
              <a:lnSpc>
                <a:spcPct val="100000"/>
              </a:lnSpc>
              <a:spcBef>
                <a:spcPct val="20000"/>
              </a:spcBef>
              <a:spcAft>
                <a:spcPct val="0"/>
              </a:spcAft>
              <a:buFont typeface="Wingdings" panose="05000000000000000000" pitchFamily="2" charset="2"/>
              <a:buChar char="ü"/>
            </a:pPr>
            <a:r>
              <a:rPr lang="fr-FR" sz="4500" b="1" dirty="0">
                <a:solidFill>
                  <a:srgbClr val="000000"/>
                </a:solidFill>
                <a:latin typeface="Garamond" panose="02020404030301010803" pitchFamily="18" charset="0"/>
              </a:rPr>
              <a:t>Applicables aux appels d’offres internationaux;</a:t>
            </a:r>
          </a:p>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Nouvelles procédures de passation avec négociation (Dialogue Compétitif, Meilleure Offre Définitive);</a:t>
            </a:r>
          </a:p>
          <a:p>
            <a:pPr marL="1173163" lvl="3" indent="-457200" eaLnBrk="0" fontAlgn="base" hangingPunct="0">
              <a:lnSpc>
                <a:spcPct val="100000"/>
              </a:lnSpc>
              <a:spcBef>
                <a:spcPct val="20000"/>
              </a:spcBef>
              <a:spcAft>
                <a:spcPct val="0"/>
              </a:spcAft>
            </a:pPr>
            <a:r>
              <a:rPr lang="fr-FR" sz="4500" b="1" dirty="0">
                <a:solidFill>
                  <a:srgbClr val="000000"/>
                </a:solidFill>
                <a:latin typeface="Garamond" panose="02020404030301010803" pitchFamily="18" charset="0"/>
              </a:rPr>
              <a:t>Conditions Restrictives moins contraignantes aux Appels d’Offres Nationaux</a:t>
            </a:r>
          </a:p>
        </p:txBody>
      </p:sp>
    </p:spTree>
    <p:extLst>
      <p:ext uri="{BB962C8B-B14F-4D97-AF65-F5344CB8AC3E}">
        <p14:creationId xmlns:p14="http://schemas.microsoft.com/office/powerpoint/2010/main" val="2996785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gradFill rotWithShape="1">
          <a:gsLst>
            <a:gs pos="0">
              <a:schemeClr val="bg2">
                <a:tint val="90000"/>
                <a:satMod val="92000"/>
                <a:lumMod val="120000"/>
              </a:schemeClr>
            </a:gs>
            <a:gs pos="100000">
              <a:schemeClr val="bg1">
                <a:lumMod val="97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87705" y="2127358"/>
            <a:ext cx="10532126" cy="2010302"/>
          </a:xfrm>
        </p:spPr>
        <p:txBody>
          <a:bodyPr>
            <a:normAutofit fontScale="77500" lnSpcReduction="20000"/>
          </a:bodyPr>
          <a:lstStyle/>
          <a:p>
            <a:pPr marL="0" indent="0" algn="ctr">
              <a:lnSpc>
                <a:spcPct val="170000"/>
              </a:lnSpc>
              <a:buNone/>
            </a:pPr>
            <a:r>
              <a:rPr lang="en-US" sz="4800" dirty="0">
                <a:solidFill>
                  <a:srgbClr val="000000"/>
                </a:solidFill>
                <a:hlinkClick r:id="rId2"/>
              </a:rPr>
              <a:t>operationshelpdesk@worldbank.org</a:t>
            </a:r>
            <a:endParaRPr lang="en-US" sz="4800" dirty="0">
              <a:solidFill>
                <a:srgbClr val="000000"/>
              </a:solidFill>
            </a:endParaRPr>
          </a:p>
          <a:p>
            <a:pPr marL="0" indent="0" algn="ctr">
              <a:lnSpc>
                <a:spcPct val="170000"/>
              </a:lnSpc>
              <a:buNone/>
            </a:pPr>
            <a:r>
              <a:rPr lang="en-US" sz="4800" dirty="0">
                <a:solidFill>
                  <a:srgbClr val="000000"/>
                </a:solidFill>
                <a:hlinkClick r:id="rId3"/>
              </a:rPr>
              <a:t>www.worldbank.org/procurement</a:t>
            </a:r>
            <a:endParaRPr lang="en-US" sz="4500" b="1" dirty="0">
              <a:solidFill>
                <a:srgbClr val="000000"/>
              </a:solidFill>
              <a:latin typeface="Garamond" panose="02020404030301010803" pitchFamily="18" charset="0"/>
            </a:endParaRPr>
          </a:p>
        </p:txBody>
      </p:sp>
      <p:sp>
        <p:nvSpPr>
          <p:cNvPr id="4" name="TextBox 3"/>
          <p:cNvSpPr txBox="1"/>
          <p:nvPr/>
        </p:nvSpPr>
        <p:spPr>
          <a:xfrm>
            <a:off x="6206733" y="5263498"/>
            <a:ext cx="5321147" cy="923330"/>
          </a:xfrm>
          <a:prstGeom prst="rect">
            <a:avLst/>
          </a:prstGeom>
          <a:noFill/>
        </p:spPr>
        <p:txBody>
          <a:bodyPr wrap="square" rtlCol="0">
            <a:spAutoFit/>
          </a:bodyPr>
          <a:lstStyle/>
          <a:p>
            <a:pPr algn="ctr"/>
            <a:r>
              <a:rPr lang="en-US" sz="5400" i="1" dirty="0"/>
              <a:t>Merci !</a:t>
            </a:r>
          </a:p>
        </p:txBody>
      </p:sp>
      <p:pic>
        <p:nvPicPr>
          <p:cNvPr id="7" name="Picture 7" descr="C:\Users\COMPAQ\Desktop\BASS ENTREPRISES\01. BASS CONSULTING\00. DOCUMENTS\LOGO BASS Consulting.png"/>
          <p:cNvPicPr>
            <a:picLocks noChangeAspect="1" noChangeArrowheads="1"/>
          </p:cNvPicPr>
          <p:nvPr/>
        </p:nvPicPr>
        <p:blipFill>
          <a:blip r:embed="rId4"/>
          <a:srcRect/>
          <a:stretch>
            <a:fillRect/>
          </a:stretch>
        </p:blipFill>
        <p:spPr bwMode="auto">
          <a:xfrm>
            <a:off x="10476644" y="4632668"/>
            <a:ext cx="1363663" cy="1830388"/>
          </a:xfrm>
          <a:prstGeom prst="rect">
            <a:avLst/>
          </a:prstGeom>
          <a:noFill/>
          <a:ln w="9525">
            <a:noFill/>
            <a:miter lim="800000"/>
            <a:headEnd/>
            <a:tailEnd/>
          </a:ln>
        </p:spPr>
      </p:pic>
    </p:spTree>
    <p:extLst>
      <p:ext uri="{BB962C8B-B14F-4D97-AF65-F5344CB8AC3E}">
        <p14:creationId xmlns:p14="http://schemas.microsoft.com/office/powerpoint/2010/main" val="2079598842"/>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2118</TotalTime>
  <Words>2248</Words>
  <Application>Microsoft Office PowerPoint</Application>
  <PresentationFormat>Grand écran</PresentationFormat>
  <Paragraphs>230</Paragraphs>
  <Slides>26</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26</vt:i4>
      </vt:variant>
    </vt:vector>
  </HeadingPairs>
  <TitlesOfParts>
    <vt:vector size="35" baseType="lpstr">
      <vt:lpstr>Arial</vt:lpstr>
      <vt:lpstr>Calibri</vt:lpstr>
      <vt:lpstr>Century Gothic</vt:lpstr>
      <vt:lpstr>Courier New</vt:lpstr>
      <vt:lpstr>Garamond</vt:lpstr>
      <vt:lpstr>Trebuchet MS</vt:lpstr>
      <vt:lpstr>Wingdings</vt:lpstr>
      <vt:lpstr>Wingdings 3</vt:lpstr>
      <vt:lpstr>Brin</vt:lpstr>
      <vt:lpstr>QU’EST CE QUI A CHANGE AVEC LA BANQUE MONDIALE AU NIVEAU DE LA PASSATION DES MARCHÉS  </vt:lpstr>
      <vt:lpstr>INTRODUCTION</vt:lpstr>
      <vt:lpstr>CARACTÉRISTIQUES PRINCIPALES</vt:lpstr>
      <vt:lpstr>1. NOUVEAU CADRE DE PASSATION: POURQUOI ?</vt:lpstr>
      <vt:lpstr>2. ADOPTION DU NOUVEAU CADRE DE PASSATION</vt:lpstr>
      <vt:lpstr>3. ENTRÉE EN VIGUEUR  </vt:lpstr>
      <vt:lpstr>4. CHAMP D’APPLICATION </vt:lpstr>
      <vt:lpstr>5. STRUCTURE DU CADRE</vt:lpstr>
      <vt:lpstr>6. RÔLE DES EMPRUNTEURS</vt:lpstr>
      <vt:lpstr>7. RÔLE DE LA BANQUE</vt:lpstr>
      <vt:lpstr>1. Vision et concept</vt:lpstr>
      <vt:lpstr>1. Vision et concept</vt:lpstr>
      <vt:lpstr>2. Principes applicables</vt:lpstr>
      <vt:lpstr>3. Stratégie de passation des marchés du projet (PPSD)</vt:lpstr>
      <vt:lpstr>4. Suivi systématique des transactions de marchés publics (STEP)</vt:lpstr>
      <vt:lpstr>5. Arrangements Alternatifs de passation des marchés (APAs)</vt:lpstr>
      <vt:lpstr>5. Arrangements Alternatifs de passation des marchés (APAs) - Conditions -</vt:lpstr>
      <vt:lpstr>5. Arrangements Alternatifs de passation des marchés (APAs) - Conditions (suite) -</vt:lpstr>
      <vt:lpstr>6. Critères d’évaluation et d’attribution des offres</vt:lpstr>
      <vt:lpstr>7. Assistance Directe à la mise en oeuvre (HEIS)</vt:lpstr>
      <vt:lpstr>8. Plaintes et débriefings</vt:lpstr>
      <vt:lpstr>8. Délais de dépôt et de réponse aux plaintes</vt:lpstr>
      <vt:lpstr>8. Plaintes et débriefings</vt:lpstr>
      <vt:lpstr>9. Non-respect des procédures</vt:lpstr>
      <vt:lpstr> Aspects divers</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nouveau cadre de la Banque Mondiale pour la passation des marchés</dc:title>
  <dc:creator>Akibou BASSABI MOUSSE ALASSAN</dc:creator>
  <cp:lastModifiedBy>BASS ENTREPRISES</cp:lastModifiedBy>
  <cp:revision>109</cp:revision>
  <dcterms:created xsi:type="dcterms:W3CDTF">2016-09-29T11:03:32Z</dcterms:created>
  <dcterms:modified xsi:type="dcterms:W3CDTF">2026-02-28T10:35:49Z</dcterms:modified>
  <cp:contentStatus/>
</cp:coreProperties>
</file>